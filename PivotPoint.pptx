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8288000" cy="10287000"/>
  <p:notesSz cx="6858000" cy="9144000"/>
  <p:embeddedFontLst>
    <p:embeddedFont>
      <p:font typeface="Arial Bold" panose="020B0704020202020204" pitchFamily="34" charset="0"/>
      <p:regular r:id="rId19"/>
      <p:bold r:id="rId20"/>
    </p:embeddedFont>
    <p:embeddedFont>
      <p:font typeface="Calibri (MS)" panose="020B0604020202020204" charset="0"/>
      <p:regular r:id="rId21"/>
    </p:embeddedFont>
    <p:embeddedFont>
      <p:font typeface="Calibri (MS) Bold" panose="020B0604020202020204" charset="0"/>
      <p:regular r:id="rId22"/>
    </p:embeddedFont>
    <p:embeddedFont>
      <p:font typeface="Calibri (MS) Italics" panose="020B0604020202020204" charset="0"/>
      <p:regular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Trebuchet MS Bold" panose="020B0703020202020204" pitchFamily="3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0768481/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pmc.ncbi.nlm.nih.gov/articles/PMC8858885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hyperlink" Target="https://www.raypcb.com/esp32-programming-circuit/" TargetMode="External"/><Relationship Id="rId5" Type="http://schemas.openxmlformats.org/officeDocument/2006/relationships/image" Target="../media/image43.png"/><Relationship Id="rId10" Type="http://schemas.openxmlformats.org/officeDocument/2006/relationships/hyperlink" Target="https://www.researchgate.net/publication/385367697_Design_and_Development_of_a_Real-time_Monitoring_System_for_ACL_Injury_Prevention" TargetMode="External"/><Relationship Id="rId4" Type="http://schemas.openxmlformats.org/officeDocument/2006/relationships/image" Target="../media/image42.png"/><Relationship Id="rId9" Type="http://schemas.openxmlformats.org/officeDocument/2006/relationships/hyperlink" Target="https://www.medrxiv.org/content/10.1101/2025.10.20.25338317v1.ful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427739" cy="10312403"/>
            <a:chOff x="0" y="0"/>
            <a:chExt cx="570319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536448" cy="13715999"/>
            </a:xfrm>
            <a:custGeom>
              <a:avLst/>
              <a:gdLst/>
              <a:ahLst/>
              <a:cxnLst/>
              <a:rect l="l" t="t" r="r" b="b"/>
              <a:pathLst>
                <a:path w="536448" h="13715999">
                  <a:moveTo>
                    <a:pt x="0" y="0"/>
                  </a:moveTo>
                  <a:lnTo>
                    <a:pt x="536448" y="0"/>
                  </a:lnTo>
                  <a:lnTo>
                    <a:pt x="53644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0230" cy="13749782"/>
            </a:xfrm>
            <a:custGeom>
              <a:avLst/>
              <a:gdLst/>
              <a:ahLst/>
              <a:cxnLst/>
              <a:rect l="l" t="t" r="r" b="b"/>
              <a:pathLst>
                <a:path w="570230" h="13749782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3732890"/>
                  </a:lnTo>
                  <a:cubicBezTo>
                    <a:pt x="570230" y="13742290"/>
                    <a:pt x="562610" y="13749782"/>
                    <a:pt x="55333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553339" y="13716000"/>
                  </a:lnTo>
                  <a:lnTo>
                    <a:pt x="553339" y="13732890"/>
                  </a:lnTo>
                  <a:lnTo>
                    <a:pt x="536448" y="13732890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229600" y="1463040"/>
            <a:ext cx="9509760" cy="5486400"/>
            <a:chOff x="0" y="0"/>
            <a:chExt cx="12679680" cy="731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0" cy="7315200"/>
            </a:xfrm>
            <a:custGeom>
              <a:avLst/>
              <a:gdLst/>
              <a:ahLst/>
              <a:cxnLst/>
              <a:rect l="l" t="t" r="r" b="b"/>
              <a:pathLst>
                <a:path w="12679680" h="7315200">
                  <a:moveTo>
                    <a:pt x="0" y="0"/>
                  </a:moveTo>
                  <a:lnTo>
                    <a:pt x="12679680" y="0"/>
                  </a:lnTo>
                  <a:lnTo>
                    <a:pt x="126796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r="-2402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2679680" cy="7400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800"/>
                </a:lnSpc>
              </a:pPr>
              <a:r>
                <a:rPr lang="en-US" sz="24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1645920"/>
            <a:ext cx="12801600" cy="3840480"/>
            <a:chOff x="0" y="0"/>
            <a:chExt cx="17068800" cy="5120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0" cy="5120640"/>
            </a:xfrm>
            <a:custGeom>
              <a:avLst/>
              <a:gdLst/>
              <a:ahLst/>
              <a:cxnLst/>
              <a:rect l="l" t="t" r="r" b="b"/>
              <a:pathLst>
                <a:path w="17068800" h="5120640">
                  <a:moveTo>
                    <a:pt x="0" y="0"/>
                  </a:moveTo>
                  <a:lnTo>
                    <a:pt x="17068800" y="0"/>
                  </a:lnTo>
                  <a:lnTo>
                    <a:pt x="1706880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068800" cy="5130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Pivot point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5840" y="4233672"/>
            <a:ext cx="13716000" cy="1005840"/>
            <a:chOff x="0" y="0"/>
            <a:chExt cx="18288000" cy="1341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88000" cy="1341120"/>
            </a:xfrm>
            <a:custGeom>
              <a:avLst/>
              <a:gdLst/>
              <a:ahLst/>
              <a:cxnLst/>
              <a:rect l="l" t="t" r="r" b="b"/>
              <a:pathLst>
                <a:path w="18288000" h="1341120">
                  <a:moveTo>
                    <a:pt x="0" y="0"/>
                  </a:moveTo>
                  <a:lnTo>
                    <a:pt x="18288000" y="0"/>
                  </a:lnTo>
                  <a:lnTo>
                    <a:pt x="18288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828800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Real-Time Rotational Torque Detection &amp; Haptic Warning 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8319" y="5039363"/>
            <a:ext cx="2219963" cy="116843"/>
            <a:chOff x="0" y="0"/>
            <a:chExt cx="2959951" cy="15579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2926080" cy="121920"/>
            </a:xfrm>
            <a:custGeom>
              <a:avLst/>
              <a:gdLst/>
              <a:ahLst/>
              <a:cxnLst/>
              <a:rect l="l" t="t" r="r" b="b"/>
              <a:pathLst>
                <a:path w="2926080" h="121920">
                  <a:moveTo>
                    <a:pt x="0" y="0"/>
                  </a:moveTo>
                  <a:lnTo>
                    <a:pt x="2926080" y="0"/>
                  </a:lnTo>
                  <a:lnTo>
                    <a:pt x="292608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959862" cy="155704"/>
            </a:xfrm>
            <a:custGeom>
              <a:avLst/>
              <a:gdLst/>
              <a:ahLst/>
              <a:cxnLst/>
              <a:rect l="l" t="t" r="r" b="b"/>
              <a:pathLst>
                <a:path w="2959862" h="155704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38811"/>
                  </a:lnTo>
                  <a:cubicBezTo>
                    <a:pt x="2959862" y="148209"/>
                    <a:pt x="2952242" y="155702"/>
                    <a:pt x="294297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942971" y="121920"/>
                  </a:lnTo>
                  <a:lnTo>
                    <a:pt x="2942971" y="138811"/>
                  </a:lnTo>
                  <a:lnTo>
                    <a:pt x="2926080" y="1388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84583" y="5473703"/>
            <a:ext cx="3225803" cy="2912288"/>
            <a:chOff x="0" y="0"/>
            <a:chExt cx="4301071" cy="3883050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4267200" cy="3849243"/>
            </a:xfrm>
            <a:custGeom>
              <a:avLst/>
              <a:gdLst/>
              <a:ahLst/>
              <a:cxnLst/>
              <a:rect l="l" t="t" r="r" b="b"/>
              <a:pathLst>
                <a:path w="4267200" h="3849243">
                  <a:moveTo>
                    <a:pt x="0" y="0"/>
                  </a:moveTo>
                  <a:lnTo>
                    <a:pt x="4267200" y="0"/>
                  </a:lnTo>
                  <a:lnTo>
                    <a:pt x="4267200" y="3849243"/>
                  </a:lnTo>
                  <a:lnTo>
                    <a:pt x="0" y="3849243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4300982" cy="3883025"/>
            </a:xfrm>
            <a:custGeom>
              <a:avLst/>
              <a:gdLst/>
              <a:ahLst/>
              <a:cxnLst/>
              <a:rect l="l" t="t" r="r" b="b"/>
              <a:pathLst>
                <a:path w="4300982" h="3883025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3866134"/>
                  </a:lnTo>
                  <a:cubicBezTo>
                    <a:pt x="4300982" y="3875532"/>
                    <a:pt x="4293362" y="3883025"/>
                    <a:pt x="4284091" y="3883025"/>
                  </a:cubicBezTo>
                  <a:lnTo>
                    <a:pt x="16891" y="3883025"/>
                  </a:lnTo>
                  <a:cubicBezTo>
                    <a:pt x="7493" y="3883025"/>
                    <a:pt x="0" y="3875405"/>
                    <a:pt x="0" y="386613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6134"/>
                  </a:lnTo>
                  <a:lnTo>
                    <a:pt x="16891" y="3866134"/>
                  </a:lnTo>
                  <a:lnTo>
                    <a:pt x="16891" y="3849243"/>
                  </a:lnTo>
                  <a:lnTo>
                    <a:pt x="4284091" y="3849243"/>
                  </a:lnTo>
                  <a:lnTo>
                    <a:pt x="4284091" y="3866134"/>
                  </a:lnTo>
                  <a:lnTo>
                    <a:pt x="4267200" y="3866134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71016" y="5458968"/>
            <a:ext cx="5486400" cy="512064"/>
            <a:chOff x="0" y="0"/>
            <a:chExt cx="731520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15200" cy="682752"/>
            </a:xfrm>
            <a:custGeom>
              <a:avLst/>
              <a:gdLst/>
              <a:ahLst/>
              <a:cxnLst/>
              <a:rect l="l" t="t" r="r" b="b"/>
              <a:pathLst>
                <a:path w="7315200" h="682752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7280" y="5558247"/>
            <a:ext cx="9326880" cy="2815047"/>
            <a:chOff x="0" y="0"/>
            <a:chExt cx="12435840" cy="37533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35840" cy="3753395"/>
            </a:xfrm>
            <a:custGeom>
              <a:avLst/>
              <a:gdLst/>
              <a:ahLst/>
              <a:cxnLst/>
              <a:rect l="l" t="t" r="r" b="b"/>
              <a:pathLst>
                <a:path w="12435840" h="3753395">
                  <a:moveTo>
                    <a:pt x="0" y="0"/>
                  </a:moveTo>
                  <a:lnTo>
                    <a:pt x="12435840" y="0"/>
                  </a:lnTo>
                  <a:lnTo>
                    <a:pt x="12435840" y="3753395"/>
                  </a:lnTo>
                  <a:lnTo>
                    <a:pt x="0" y="37533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558" b="-1455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435840" cy="37914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Harshil Mishra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Shreesh Tripathi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Bhargavi Deo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Nandan Krishna S 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Kamalnath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9546336"/>
            <a:ext cx="16459200" cy="548640"/>
            <a:chOff x="0" y="0"/>
            <a:chExt cx="2194560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Intra Prodex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996160" y="5486400"/>
            <a:ext cx="2194560" cy="2194560"/>
            <a:chOff x="0" y="0"/>
            <a:chExt cx="2926080" cy="292608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0"/>
                  </a:lnTo>
                  <a:lnTo>
                    <a:pt x="0" y="29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PROBLEM STATEMENT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640080"/>
            <a:chOff x="0" y="0"/>
            <a:chExt cx="22433280" cy="853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are athletes still getting injured despite wearing braces?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8477" y="1964941"/>
            <a:ext cx="8524237" cy="3495037"/>
            <a:chOff x="0" y="0"/>
            <a:chExt cx="11365649" cy="4660049"/>
          </a:xfrm>
        </p:grpSpPr>
        <p:sp>
          <p:nvSpPr>
            <p:cNvPr id="14" name="Freeform 14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5943" y="1962407"/>
            <a:ext cx="171707" cy="3500123"/>
            <a:chOff x="0" y="0"/>
            <a:chExt cx="228943" cy="4666831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95072" cy="4632960"/>
            </a:xfrm>
            <a:custGeom>
              <a:avLst/>
              <a:gdLst/>
              <a:ahLst/>
              <a:cxnLst/>
              <a:rect l="l" t="t" r="r" b="b"/>
              <a:pathLst>
                <a:path w="195072" h="4632960">
                  <a:moveTo>
                    <a:pt x="0" y="0"/>
                  </a:moveTo>
                  <a:lnTo>
                    <a:pt x="195072" y="0"/>
                  </a:lnTo>
                  <a:lnTo>
                    <a:pt x="19507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228854" cy="4666742"/>
            </a:xfrm>
            <a:custGeom>
              <a:avLst/>
              <a:gdLst/>
              <a:ahLst/>
              <a:cxnLst/>
              <a:rect l="l" t="t" r="r" b="b"/>
              <a:pathLst>
                <a:path w="228854" h="466674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4649851"/>
                  </a:lnTo>
                  <a:cubicBezTo>
                    <a:pt x="228854" y="4659249"/>
                    <a:pt x="221234" y="4666742"/>
                    <a:pt x="21196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211963" y="4632960"/>
                  </a:lnTo>
                  <a:lnTo>
                    <a:pt x="211963" y="4649851"/>
                  </a:lnTo>
                  <a:lnTo>
                    <a:pt x="195072" y="464985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95528" y="2427075"/>
            <a:ext cx="640080" cy="640080"/>
            <a:chOff x="0" y="0"/>
            <a:chExt cx="853440" cy="85344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517904" y="2432304"/>
            <a:ext cx="7132320" cy="694944"/>
            <a:chOff x="0" y="0"/>
            <a:chExt cx="950976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09760" cy="926592"/>
            </a:xfrm>
            <a:custGeom>
              <a:avLst/>
              <a:gdLst/>
              <a:ahLst/>
              <a:cxnLst/>
              <a:rect l="l" t="t" r="r" b="b"/>
              <a:pathLst>
                <a:path w="9509760" h="926592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978" b="-14997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509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How ACL Injuries Happen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7824" y="2926080"/>
            <a:ext cx="7863840" cy="2377440"/>
            <a:chOff x="0" y="0"/>
            <a:chExt cx="10485120" cy="31699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85120" cy="3169920"/>
            </a:xfrm>
            <a:custGeom>
              <a:avLst/>
              <a:gdLst/>
              <a:ahLst/>
              <a:cxnLst/>
              <a:rect l="l" t="t" r="r" b="b"/>
              <a:pathLst>
                <a:path w="10485120" h="31699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485120" cy="3208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Knee twists too fast during landing or pivoting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Tibial internal rotation exceeds safe threshold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Ligament absorbs full torque - then snaps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Non-contact injuries are most common (70%+)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99597" y="1964941"/>
            <a:ext cx="8524237" cy="3495037"/>
            <a:chOff x="0" y="0"/>
            <a:chExt cx="11365649" cy="4660049"/>
          </a:xfrm>
        </p:grpSpPr>
        <p:sp>
          <p:nvSpPr>
            <p:cNvPr id="28" name="Freeform 28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497063" y="1962407"/>
            <a:ext cx="171707" cy="3500123"/>
            <a:chOff x="0" y="0"/>
            <a:chExt cx="228943" cy="4666831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195072" cy="4632960"/>
            </a:xfrm>
            <a:custGeom>
              <a:avLst/>
              <a:gdLst/>
              <a:ahLst/>
              <a:cxnLst/>
              <a:rect l="l" t="t" r="r" b="b"/>
              <a:pathLst>
                <a:path w="195072" h="4632960">
                  <a:moveTo>
                    <a:pt x="0" y="0"/>
                  </a:moveTo>
                  <a:lnTo>
                    <a:pt x="195072" y="0"/>
                  </a:lnTo>
                  <a:lnTo>
                    <a:pt x="19507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228854" cy="4666742"/>
            </a:xfrm>
            <a:custGeom>
              <a:avLst/>
              <a:gdLst/>
              <a:ahLst/>
              <a:cxnLst/>
              <a:rect l="l" t="t" r="r" b="b"/>
              <a:pathLst>
                <a:path w="228854" h="466674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4649851"/>
                  </a:lnTo>
                  <a:cubicBezTo>
                    <a:pt x="228854" y="4659249"/>
                    <a:pt x="221234" y="4666742"/>
                    <a:pt x="21196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211963" y="4632960"/>
                  </a:lnTo>
                  <a:lnTo>
                    <a:pt x="211963" y="4649851"/>
                  </a:lnTo>
                  <a:lnTo>
                    <a:pt x="195072" y="464985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838944" y="2432304"/>
            <a:ext cx="640080" cy="640080"/>
            <a:chOff x="0" y="0"/>
            <a:chExt cx="853440" cy="853440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0607040" y="2377440"/>
            <a:ext cx="7132320" cy="694944"/>
            <a:chOff x="0" y="0"/>
            <a:chExt cx="950976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509760" cy="926592"/>
            </a:xfrm>
            <a:custGeom>
              <a:avLst/>
              <a:gdLst/>
              <a:ahLst/>
              <a:cxnLst/>
              <a:rect l="l" t="t" r="r" b="b"/>
              <a:pathLst>
                <a:path w="9509760" h="926592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978" b="-14997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9509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Critical Gap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838944" y="2926080"/>
            <a:ext cx="7863840" cy="2377440"/>
            <a:chOff x="0" y="0"/>
            <a:chExt cx="10485120" cy="31699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485120" cy="3169920"/>
            </a:xfrm>
            <a:custGeom>
              <a:avLst/>
              <a:gdLst/>
              <a:ahLst/>
              <a:cxnLst/>
              <a:rect l="l" t="t" r="r" b="b"/>
              <a:pathLst>
                <a:path w="10485120" h="31699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485120" cy="3208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real-time warning before ligament snaps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Twist angle is invisible to the naked eye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braces are purely passive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field-ready monitoring solution exists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8477" y="5695693"/>
            <a:ext cx="8524237" cy="3495037"/>
            <a:chOff x="0" y="0"/>
            <a:chExt cx="11365649" cy="4660049"/>
          </a:xfrm>
        </p:grpSpPr>
        <p:sp>
          <p:nvSpPr>
            <p:cNvPr id="42" name="Freeform 42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535943" y="5693159"/>
            <a:ext cx="171707" cy="3500123"/>
            <a:chOff x="0" y="0"/>
            <a:chExt cx="228943" cy="466683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95072" cy="4632960"/>
            </a:xfrm>
            <a:custGeom>
              <a:avLst/>
              <a:gdLst/>
              <a:ahLst/>
              <a:cxnLst/>
              <a:rect l="l" t="t" r="r" b="b"/>
              <a:pathLst>
                <a:path w="195072" h="4632960">
                  <a:moveTo>
                    <a:pt x="0" y="0"/>
                  </a:moveTo>
                  <a:lnTo>
                    <a:pt x="195072" y="0"/>
                  </a:lnTo>
                  <a:lnTo>
                    <a:pt x="19507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228854" cy="4666742"/>
            </a:xfrm>
            <a:custGeom>
              <a:avLst/>
              <a:gdLst/>
              <a:ahLst/>
              <a:cxnLst/>
              <a:rect l="l" t="t" r="r" b="b"/>
              <a:pathLst>
                <a:path w="228854" h="466674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4649851"/>
                  </a:lnTo>
                  <a:cubicBezTo>
                    <a:pt x="228854" y="4659249"/>
                    <a:pt x="221234" y="4666742"/>
                    <a:pt x="21196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211963" y="4632960"/>
                  </a:lnTo>
                  <a:lnTo>
                    <a:pt x="211963" y="4649851"/>
                  </a:lnTo>
                  <a:lnTo>
                    <a:pt x="195072" y="464985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795528" y="6099048"/>
            <a:ext cx="640080" cy="640080"/>
            <a:chOff x="0" y="0"/>
            <a:chExt cx="853440" cy="853440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645920" y="6071616"/>
            <a:ext cx="7132320" cy="694944"/>
            <a:chOff x="0" y="0"/>
            <a:chExt cx="9509760" cy="9265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509760" cy="926592"/>
            </a:xfrm>
            <a:custGeom>
              <a:avLst/>
              <a:gdLst/>
              <a:ahLst/>
              <a:cxnLst/>
              <a:rect l="l" t="t" r="r" b="b"/>
              <a:pathLst>
                <a:path w="9509760" h="926592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978" b="-14997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9509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Data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77824" y="6656832"/>
            <a:ext cx="7863840" cy="2377440"/>
            <a:chOff x="0" y="0"/>
            <a:chExt cx="10485120" cy="31699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485120" cy="3169920"/>
            </a:xfrm>
            <a:custGeom>
              <a:avLst/>
              <a:gdLst/>
              <a:ahLst/>
              <a:cxnLst/>
              <a:rect l="l" t="t" r="r" b="b"/>
              <a:pathLst>
                <a:path w="10485120" h="31699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0485120" cy="3208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₹3–8 Lakh surgery + 9–12 months recovery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recurrence: 15–25% re-injury rate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Athletes in football, basketball, badminton most at risk</a:t>
              </a:r>
            </a:p>
            <a:p>
              <a:pPr marL="482600" lvl="1" indent="-241300">
                <a:lnSpc>
                  <a:spcPts val="2400"/>
                </a:lnSpc>
                <a:buFont typeface="Arial"/>
                <a:buChar char="•"/>
              </a:pPr>
              <a:r>
                <a:rPr lang="en-US" dirty="0">
                  <a:solidFill>
                    <a:schemeClr val="tx2"/>
                  </a:solidFill>
                </a:rPr>
                <a:t>68.6 ACL tears per 100,000 population in India</a:t>
              </a:r>
              <a:endParaRPr lang="en-US" sz="2000" dirty="0">
                <a:solidFill>
                  <a:schemeClr val="tx2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499597" y="5695693"/>
            <a:ext cx="8524237" cy="3495037"/>
            <a:chOff x="0" y="0"/>
            <a:chExt cx="11365649" cy="4660049"/>
          </a:xfrm>
        </p:grpSpPr>
        <p:sp>
          <p:nvSpPr>
            <p:cNvPr id="56" name="Freeform 56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9497063" y="5693159"/>
            <a:ext cx="171707" cy="3500123"/>
            <a:chOff x="0" y="0"/>
            <a:chExt cx="228943" cy="4666831"/>
          </a:xfrm>
        </p:grpSpPr>
        <p:sp>
          <p:nvSpPr>
            <p:cNvPr id="59" name="Freeform 59"/>
            <p:cNvSpPr/>
            <p:nvPr/>
          </p:nvSpPr>
          <p:spPr>
            <a:xfrm>
              <a:off x="16891" y="16891"/>
              <a:ext cx="195072" cy="4632960"/>
            </a:xfrm>
            <a:custGeom>
              <a:avLst/>
              <a:gdLst/>
              <a:ahLst/>
              <a:cxnLst/>
              <a:rect l="l" t="t" r="r" b="b"/>
              <a:pathLst>
                <a:path w="195072" h="4632960">
                  <a:moveTo>
                    <a:pt x="0" y="0"/>
                  </a:moveTo>
                  <a:lnTo>
                    <a:pt x="195072" y="0"/>
                  </a:lnTo>
                  <a:lnTo>
                    <a:pt x="19507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0" y="0"/>
              <a:ext cx="228854" cy="4666742"/>
            </a:xfrm>
            <a:custGeom>
              <a:avLst/>
              <a:gdLst/>
              <a:ahLst/>
              <a:cxnLst/>
              <a:rect l="l" t="t" r="r" b="b"/>
              <a:pathLst>
                <a:path w="228854" h="466674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4649851"/>
                  </a:lnTo>
                  <a:cubicBezTo>
                    <a:pt x="228854" y="4659249"/>
                    <a:pt x="221234" y="4666742"/>
                    <a:pt x="211963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211963" y="4632960"/>
                  </a:lnTo>
                  <a:lnTo>
                    <a:pt x="211963" y="4649851"/>
                  </a:lnTo>
                  <a:lnTo>
                    <a:pt x="195072" y="464985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838944" y="6028506"/>
            <a:ext cx="640080" cy="640080"/>
            <a:chOff x="0" y="0"/>
            <a:chExt cx="853440" cy="853440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10607040" y="6028506"/>
            <a:ext cx="7132320" cy="694944"/>
            <a:chOff x="0" y="0"/>
            <a:chExt cx="9509760" cy="92659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509760" cy="926592"/>
            </a:xfrm>
            <a:custGeom>
              <a:avLst/>
              <a:gdLst/>
              <a:ahLst/>
              <a:cxnLst/>
              <a:rect l="l" t="t" r="r" b="b"/>
              <a:pathLst>
                <a:path w="9509760" h="926592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978" b="-14997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9509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Current Braces Are Blind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838944" y="6656832"/>
            <a:ext cx="7863840" cy="2377440"/>
            <a:chOff x="0" y="0"/>
            <a:chExt cx="10485120" cy="31699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485120" cy="3169920"/>
            </a:xfrm>
            <a:custGeom>
              <a:avLst/>
              <a:gdLst/>
              <a:ahLst/>
              <a:cxnLst/>
              <a:rect l="l" t="t" r="r" b="b"/>
              <a:pathLst>
                <a:path w="10485120" h="31699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0485120" cy="3208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Resist forward movement, not hidden rotation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sensors to detect rotational torque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Cannot trigger any warning in real-time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RESEARCH &amp; LITERATURE REVIEW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scientific foundation of our solution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8477" y="1928365"/>
            <a:ext cx="8524237" cy="3495037"/>
            <a:chOff x="0" y="0"/>
            <a:chExt cx="11365649" cy="4660049"/>
          </a:xfrm>
        </p:grpSpPr>
        <p:sp>
          <p:nvSpPr>
            <p:cNvPr id="14" name="Freeform 14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5943" y="1925831"/>
            <a:ext cx="1031243" cy="3500123"/>
            <a:chOff x="0" y="0"/>
            <a:chExt cx="1374991" cy="4666831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341120" cy="4632960"/>
            </a:xfrm>
            <a:custGeom>
              <a:avLst/>
              <a:gdLst/>
              <a:ahLst/>
              <a:cxnLst/>
              <a:rect l="l" t="t" r="r" b="b"/>
              <a:pathLst>
                <a:path w="1341120" h="4632960">
                  <a:moveTo>
                    <a:pt x="0" y="0"/>
                  </a:moveTo>
                  <a:lnTo>
                    <a:pt x="1341120" y="0"/>
                  </a:lnTo>
                  <a:lnTo>
                    <a:pt x="1341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374902" cy="4666742"/>
            </a:xfrm>
            <a:custGeom>
              <a:avLst/>
              <a:gdLst/>
              <a:ahLst/>
              <a:cxnLst/>
              <a:rect l="l" t="t" r="r" b="b"/>
              <a:pathLst>
                <a:path w="1374902" h="466674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649851"/>
                  </a:lnTo>
                  <a:cubicBezTo>
                    <a:pt x="1374902" y="4659249"/>
                    <a:pt x="1367282" y="4666742"/>
                    <a:pt x="1358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358011" y="4632960"/>
                  </a:lnTo>
                  <a:lnTo>
                    <a:pt x="1358011" y="4649851"/>
                  </a:lnTo>
                  <a:lnTo>
                    <a:pt x="1341120" y="464985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66928" y="3255264"/>
            <a:ext cx="969264" cy="841248"/>
            <a:chOff x="0" y="0"/>
            <a:chExt cx="1292352" cy="11216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2352" cy="1121664"/>
            </a:xfrm>
            <a:custGeom>
              <a:avLst/>
              <a:gdLst/>
              <a:ahLst/>
              <a:cxnLst/>
              <a:rect l="l" t="t" r="r" b="b"/>
              <a:pathLst>
                <a:path w="1292352" h="1121664">
                  <a:moveTo>
                    <a:pt x="0" y="0"/>
                  </a:moveTo>
                  <a:lnTo>
                    <a:pt x="1292352" y="0"/>
                  </a:lnTo>
                  <a:lnTo>
                    <a:pt x="1292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57" r="-6135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292352" cy="1150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37360" y="2010918"/>
            <a:ext cx="713232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1B2A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Mechanism of Non-Contact ACL Injuries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37360" y="2779776"/>
            <a:ext cx="7132320" cy="402336"/>
            <a:chOff x="0" y="0"/>
            <a:chExt cx="9509760" cy="5364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09760" cy="536448"/>
            </a:xfrm>
            <a:custGeom>
              <a:avLst/>
              <a:gdLst/>
              <a:ahLst/>
              <a:cxnLst/>
              <a:rect l="l" t="t" r="r" b="b"/>
              <a:pathLst>
                <a:path w="9509760" h="536448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416" b="-29541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 dirty="0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PMC · 2022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37360" y="3145536"/>
            <a:ext cx="7132320" cy="1316736"/>
            <a:chOff x="0" y="0"/>
            <a:chExt cx="9509760" cy="17556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509760" cy="1755648"/>
            </a:xfrm>
            <a:custGeom>
              <a:avLst/>
              <a:gdLst/>
              <a:ahLst/>
              <a:cxnLst/>
              <a:rect l="l" t="t" r="r" b="b"/>
              <a:pathLst>
                <a:path w="9509760" h="1755648">
                  <a:moveTo>
                    <a:pt x="0" y="0"/>
                  </a:moveTo>
                  <a:lnTo>
                    <a:pt x="9509760" y="0"/>
                  </a:lnTo>
                  <a:lnTo>
                    <a:pt x="9509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50976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ACL ruptures predominantly occur through tibial internal rotation combined with knee valgus - NOT direct contact. Landing/pivoting biomechanics are the primary culprit.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24663" y="4522727"/>
            <a:ext cx="7157723" cy="80267"/>
            <a:chOff x="0" y="0"/>
            <a:chExt cx="9543631" cy="10702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9509760" cy="73152"/>
            </a:xfrm>
            <a:custGeom>
              <a:avLst/>
              <a:gdLst/>
              <a:ahLst/>
              <a:cxnLst/>
              <a:rect l="l" t="t" r="r" b="b"/>
              <a:pathLst>
                <a:path w="9509760" h="73152">
                  <a:moveTo>
                    <a:pt x="0" y="0"/>
                  </a:moveTo>
                  <a:lnTo>
                    <a:pt x="9509760" y="0"/>
                  </a:lnTo>
                  <a:lnTo>
                    <a:pt x="95097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9543542" cy="106936"/>
            </a:xfrm>
            <a:custGeom>
              <a:avLst/>
              <a:gdLst/>
              <a:ahLst/>
              <a:cxnLst/>
              <a:rect l="l" t="t" r="r" b="b"/>
              <a:pathLst>
                <a:path w="9543542" h="106936">
                  <a:moveTo>
                    <a:pt x="16891" y="0"/>
                  </a:moveTo>
                  <a:lnTo>
                    <a:pt x="9526651" y="0"/>
                  </a:lnTo>
                  <a:cubicBezTo>
                    <a:pt x="9536049" y="0"/>
                    <a:pt x="9543542" y="7620"/>
                    <a:pt x="9543542" y="16891"/>
                  </a:cubicBezTo>
                  <a:lnTo>
                    <a:pt x="9543542" y="90043"/>
                  </a:lnTo>
                  <a:cubicBezTo>
                    <a:pt x="9543542" y="99441"/>
                    <a:pt x="9535922" y="106934"/>
                    <a:pt x="952665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9526651" y="73152"/>
                  </a:lnTo>
                  <a:lnTo>
                    <a:pt x="9526651" y="90043"/>
                  </a:lnTo>
                  <a:lnTo>
                    <a:pt x="9509760" y="90043"/>
                  </a:lnTo>
                  <a:lnTo>
                    <a:pt x="9509760" y="16891"/>
                  </a:lnTo>
                  <a:lnTo>
                    <a:pt x="9526651" y="16891"/>
                  </a:lnTo>
                  <a:lnTo>
                    <a:pt x="952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37360" y="4634865"/>
            <a:ext cx="7132320" cy="686943"/>
            <a:chOff x="0" y="-38100"/>
            <a:chExt cx="9509760" cy="9159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509760" cy="877824"/>
            </a:xfrm>
            <a:custGeom>
              <a:avLst/>
              <a:gdLst/>
              <a:ahLst/>
              <a:cxnLst/>
              <a:rect l="l" t="t" r="r" b="b"/>
              <a:pathLst>
                <a:path w="9509760" h="877824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Rotation is the root cause.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99597" y="1928365"/>
            <a:ext cx="8524237" cy="3495037"/>
            <a:chOff x="0" y="0"/>
            <a:chExt cx="11365649" cy="4660049"/>
          </a:xfrm>
        </p:grpSpPr>
        <p:sp>
          <p:nvSpPr>
            <p:cNvPr id="36" name="Freeform 36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497063" y="1925831"/>
            <a:ext cx="1031243" cy="3500123"/>
            <a:chOff x="0" y="0"/>
            <a:chExt cx="1374991" cy="466683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341120" cy="4632960"/>
            </a:xfrm>
            <a:custGeom>
              <a:avLst/>
              <a:gdLst/>
              <a:ahLst/>
              <a:cxnLst/>
              <a:rect l="l" t="t" r="r" b="b"/>
              <a:pathLst>
                <a:path w="1341120" h="4632960">
                  <a:moveTo>
                    <a:pt x="0" y="0"/>
                  </a:moveTo>
                  <a:lnTo>
                    <a:pt x="1341120" y="0"/>
                  </a:lnTo>
                  <a:lnTo>
                    <a:pt x="1341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374902" cy="4666742"/>
            </a:xfrm>
            <a:custGeom>
              <a:avLst/>
              <a:gdLst/>
              <a:ahLst/>
              <a:cxnLst/>
              <a:rect l="l" t="t" r="r" b="b"/>
              <a:pathLst>
                <a:path w="1374902" h="466674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649851"/>
                  </a:lnTo>
                  <a:cubicBezTo>
                    <a:pt x="1374902" y="4659249"/>
                    <a:pt x="1367282" y="4666742"/>
                    <a:pt x="1358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358011" y="4632960"/>
                  </a:lnTo>
                  <a:lnTo>
                    <a:pt x="1358011" y="4649851"/>
                  </a:lnTo>
                  <a:lnTo>
                    <a:pt x="1341120" y="464985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528048" y="3255264"/>
            <a:ext cx="969264" cy="841248"/>
            <a:chOff x="0" y="0"/>
            <a:chExt cx="1292352" cy="11216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92352" cy="1121664"/>
            </a:xfrm>
            <a:custGeom>
              <a:avLst/>
              <a:gdLst/>
              <a:ahLst/>
              <a:cxnLst/>
              <a:rect l="l" t="t" r="r" b="b"/>
              <a:pathLst>
                <a:path w="1292352" h="1121664">
                  <a:moveTo>
                    <a:pt x="0" y="0"/>
                  </a:moveTo>
                  <a:lnTo>
                    <a:pt x="1292352" y="0"/>
                  </a:lnTo>
                  <a:lnTo>
                    <a:pt x="1292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57" r="-6135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1292352" cy="1150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698480" y="2010918"/>
            <a:ext cx="713232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1B2A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Tibial Internal Rotation &amp; ACL Strain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698480" y="2779776"/>
            <a:ext cx="7132320" cy="402336"/>
            <a:chOff x="0" y="0"/>
            <a:chExt cx="9509760" cy="53644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509760" cy="536448"/>
            </a:xfrm>
            <a:custGeom>
              <a:avLst/>
              <a:gdLst/>
              <a:ahLst/>
              <a:cxnLst/>
              <a:rect l="l" t="t" r="r" b="b"/>
              <a:pathLst>
                <a:path w="9509760" h="536448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416" b="-29541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PMC · 2024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98480" y="3145536"/>
            <a:ext cx="7132320" cy="1316736"/>
            <a:chOff x="0" y="0"/>
            <a:chExt cx="9509760" cy="17556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509760" cy="1755648"/>
            </a:xfrm>
            <a:custGeom>
              <a:avLst/>
              <a:gdLst/>
              <a:ahLst/>
              <a:cxnLst/>
              <a:rect l="l" t="t" r="r" b="b"/>
              <a:pathLst>
                <a:path w="9509760" h="1755648">
                  <a:moveTo>
                    <a:pt x="0" y="0"/>
                  </a:moveTo>
                  <a:lnTo>
                    <a:pt x="9509760" y="0"/>
                  </a:lnTo>
                  <a:lnTo>
                    <a:pt x="9509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50976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Excessive tibial internal rotation beyond 15°-20° significantly increases ACL loading. This threshold is measurable via differential IMU readings across the joint.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685783" y="4522727"/>
            <a:ext cx="7157723" cy="80267"/>
            <a:chOff x="0" y="0"/>
            <a:chExt cx="9543631" cy="107023"/>
          </a:xfrm>
        </p:grpSpPr>
        <p:sp>
          <p:nvSpPr>
            <p:cNvPr id="52" name="Freeform 52"/>
            <p:cNvSpPr/>
            <p:nvPr/>
          </p:nvSpPr>
          <p:spPr>
            <a:xfrm>
              <a:off x="16891" y="16891"/>
              <a:ext cx="9509760" cy="73152"/>
            </a:xfrm>
            <a:custGeom>
              <a:avLst/>
              <a:gdLst/>
              <a:ahLst/>
              <a:cxnLst/>
              <a:rect l="l" t="t" r="r" b="b"/>
              <a:pathLst>
                <a:path w="9509760" h="73152">
                  <a:moveTo>
                    <a:pt x="0" y="0"/>
                  </a:moveTo>
                  <a:lnTo>
                    <a:pt x="9509760" y="0"/>
                  </a:lnTo>
                  <a:lnTo>
                    <a:pt x="95097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9543542" cy="106936"/>
            </a:xfrm>
            <a:custGeom>
              <a:avLst/>
              <a:gdLst/>
              <a:ahLst/>
              <a:cxnLst/>
              <a:rect l="l" t="t" r="r" b="b"/>
              <a:pathLst>
                <a:path w="9543542" h="106936">
                  <a:moveTo>
                    <a:pt x="16891" y="0"/>
                  </a:moveTo>
                  <a:lnTo>
                    <a:pt x="9526651" y="0"/>
                  </a:lnTo>
                  <a:cubicBezTo>
                    <a:pt x="9536049" y="0"/>
                    <a:pt x="9543542" y="7620"/>
                    <a:pt x="9543542" y="16891"/>
                  </a:cubicBezTo>
                  <a:lnTo>
                    <a:pt x="9543542" y="90043"/>
                  </a:lnTo>
                  <a:cubicBezTo>
                    <a:pt x="9543542" y="99441"/>
                    <a:pt x="9535922" y="106934"/>
                    <a:pt x="952665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9526651" y="73152"/>
                  </a:lnTo>
                  <a:lnTo>
                    <a:pt x="9526651" y="90043"/>
                  </a:lnTo>
                  <a:lnTo>
                    <a:pt x="9509760" y="90043"/>
                  </a:lnTo>
                  <a:lnTo>
                    <a:pt x="9509760" y="16891"/>
                  </a:lnTo>
                  <a:lnTo>
                    <a:pt x="9526651" y="16891"/>
                  </a:lnTo>
                  <a:lnTo>
                    <a:pt x="952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698480" y="4663440"/>
            <a:ext cx="7132320" cy="658368"/>
            <a:chOff x="0" y="0"/>
            <a:chExt cx="9509760" cy="87782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509760" cy="877824"/>
            </a:xfrm>
            <a:custGeom>
              <a:avLst/>
              <a:gdLst/>
              <a:ahLst/>
              <a:cxnLst/>
              <a:rect l="l" t="t" r="r" b="b"/>
              <a:pathLst>
                <a:path w="9509760" h="877824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Gives us our exact Red Zone threshold (15°–20°) for haptic alerts.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8477" y="5805421"/>
            <a:ext cx="8524237" cy="3495037"/>
            <a:chOff x="0" y="0"/>
            <a:chExt cx="11365649" cy="4660049"/>
          </a:xfrm>
        </p:grpSpPr>
        <p:sp>
          <p:nvSpPr>
            <p:cNvPr id="58" name="Freeform 58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535943" y="5802887"/>
            <a:ext cx="1031243" cy="3500123"/>
            <a:chOff x="0" y="0"/>
            <a:chExt cx="1374991" cy="4666831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1341120" cy="4632960"/>
            </a:xfrm>
            <a:custGeom>
              <a:avLst/>
              <a:gdLst/>
              <a:ahLst/>
              <a:cxnLst/>
              <a:rect l="l" t="t" r="r" b="b"/>
              <a:pathLst>
                <a:path w="1341120" h="4632960">
                  <a:moveTo>
                    <a:pt x="0" y="0"/>
                  </a:moveTo>
                  <a:lnTo>
                    <a:pt x="1341120" y="0"/>
                  </a:lnTo>
                  <a:lnTo>
                    <a:pt x="1341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1374902" cy="4666742"/>
            </a:xfrm>
            <a:custGeom>
              <a:avLst/>
              <a:gdLst/>
              <a:ahLst/>
              <a:cxnLst/>
              <a:rect l="l" t="t" r="r" b="b"/>
              <a:pathLst>
                <a:path w="1374902" h="466674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649851"/>
                  </a:lnTo>
                  <a:cubicBezTo>
                    <a:pt x="1374902" y="4659249"/>
                    <a:pt x="1367282" y="4666742"/>
                    <a:pt x="1358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358011" y="4632960"/>
                  </a:lnTo>
                  <a:lnTo>
                    <a:pt x="1358011" y="4649851"/>
                  </a:lnTo>
                  <a:lnTo>
                    <a:pt x="1341120" y="464985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566928" y="7132320"/>
            <a:ext cx="969264" cy="841248"/>
            <a:chOff x="0" y="0"/>
            <a:chExt cx="1292352" cy="11216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92352" cy="1121664"/>
            </a:xfrm>
            <a:custGeom>
              <a:avLst/>
              <a:gdLst/>
              <a:ahLst/>
              <a:cxnLst/>
              <a:rect l="l" t="t" r="r" b="b"/>
              <a:pathLst>
                <a:path w="1292352" h="1121664">
                  <a:moveTo>
                    <a:pt x="0" y="0"/>
                  </a:moveTo>
                  <a:lnTo>
                    <a:pt x="1292352" y="0"/>
                  </a:lnTo>
                  <a:lnTo>
                    <a:pt x="1292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57" r="-61357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1292352" cy="1150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737360" y="5887974"/>
            <a:ext cx="713232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1B2A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Knee Flexion Angles &amp; ACL Injury Risk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737360" y="6656832"/>
            <a:ext cx="7132320" cy="402336"/>
            <a:chOff x="0" y="0"/>
            <a:chExt cx="9509760" cy="53644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509760" cy="536448"/>
            </a:xfrm>
            <a:custGeom>
              <a:avLst/>
              <a:gdLst/>
              <a:ahLst/>
              <a:cxnLst/>
              <a:rect l="l" t="t" r="r" b="b"/>
              <a:pathLst>
                <a:path w="9509760" h="536448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416" b="-29541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 dirty="0" err="1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medRxiv</a:t>
              </a:r>
              <a:r>
                <a:rPr lang="en-US" sz="1800" i="1" dirty="0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· 2025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737360" y="7022592"/>
            <a:ext cx="7132320" cy="1316736"/>
            <a:chOff x="0" y="0"/>
            <a:chExt cx="9509760" cy="175564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509760" cy="1755648"/>
            </a:xfrm>
            <a:custGeom>
              <a:avLst/>
              <a:gdLst/>
              <a:ahLst/>
              <a:cxnLst/>
              <a:rect l="l" t="t" r="r" b="b"/>
              <a:pathLst>
                <a:path w="9509760" h="1755648">
                  <a:moveTo>
                    <a:pt x="0" y="0"/>
                  </a:moveTo>
                  <a:lnTo>
                    <a:pt x="9509760" y="0"/>
                  </a:lnTo>
                  <a:lnTo>
                    <a:pt x="9509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950976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ACL injuries peak at low knee flexion angles (&lt; 30°). Athletes land stiff-legged during fatigue, increasing rotational risk. Real-time feedback can correct this.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724663" y="8399783"/>
            <a:ext cx="7157723" cy="80267"/>
            <a:chOff x="0" y="0"/>
            <a:chExt cx="9543631" cy="107023"/>
          </a:xfrm>
        </p:grpSpPr>
        <p:sp>
          <p:nvSpPr>
            <p:cNvPr id="74" name="Freeform 74"/>
            <p:cNvSpPr/>
            <p:nvPr/>
          </p:nvSpPr>
          <p:spPr>
            <a:xfrm>
              <a:off x="16891" y="16891"/>
              <a:ext cx="9509760" cy="73152"/>
            </a:xfrm>
            <a:custGeom>
              <a:avLst/>
              <a:gdLst/>
              <a:ahLst/>
              <a:cxnLst/>
              <a:rect l="l" t="t" r="r" b="b"/>
              <a:pathLst>
                <a:path w="9509760" h="73152">
                  <a:moveTo>
                    <a:pt x="0" y="0"/>
                  </a:moveTo>
                  <a:lnTo>
                    <a:pt x="9509760" y="0"/>
                  </a:lnTo>
                  <a:lnTo>
                    <a:pt x="95097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9543542" cy="106936"/>
            </a:xfrm>
            <a:custGeom>
              <a:avLst/>
              <a:gdLst/>
              <a:ahLst/>
              <a:cxnLst/>
              <a:rect l="l" t="t" r="r" b="b"/>
              <a:pathLst>
                <a:path w="9543542" h="106936">
                  <a:moveTo>
                    <a:pt x="16891" y="0"/>
                  </a:moveTo>
                  <a:lnTo>
                    <a:pt x="9526651" y="0"/>
                  </a:lnTo>
                  <a:cubicBezTo>
                    <a:pt x="9536049" y="0"/>
                    <a:pt x="9543542" y="7620"/>
                    <a:pt x="9543542" y="16891"/>
                  </a:cubicBezTo>
                  <a:lnTo>
                    <a:pt x="9543542" y="90043"/>
                  </a:lnTo>
                  <a:cubicBezTo>
                    <a:pt x="9543542" y="99441"/>
                    <a:pt x="9535922" y="106934"/>
                    <a:pt x="952665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9526651" y="73152"/>
                  </a:lnTo>
                  <a:lnTo>
                    <a:pt x="9526651" y="90043"/>
                  </a:lnTo>
                  <a:lnTo>
                    <a:pt x="9509760" y="90043"/>
                  </a:lnTo>
                  <a:lnTo>
                    <a:pt x="9509760" y="16891"/>
                  </a:lnTo>
                  <a:lnTo>
                    <a:pt x="9526651" y="16891"/>
                  </a:lnTo>
                  <a:lnTo>
                    <a:pt x="952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737360" y="8540496"/>
            <a:ext cx="7132320" cy="658368"/>
            <a:chOff x="0" y="0"/>
            <a:chExt cx="9509760" cy="87782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509760" cy="877824"/>
            </a:xfrm>
            <a:custGeom>
              <a:avLst/>
              <a:gdLst/>
              <a:ahLst/>
              <a:cxnLst/>
              <a:rect l="l" t="t" r="r" b="b"/>
              <a:pathLst>
                <a:path w="9509760" h="877824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Validates need for in-field, real-time monitoring rather than lab analysis.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499597" y="5805421"/>
            <a:ext cx="8524237" cy="3495037"/>
            <a:chOff x="0" y="0"/>
            <a:chExt cx="11365649" cy="4660049"/>
          </a:xfrm>
        </p:grpSpPr>
        <p:sp>
          <p:nvSpPr>
            <p:cNvPr id="80" name="Freeform 80"/>
            <p:cNvSpPr/>
            <p:nvPr/>
          </p:nvSpPr>
          <p:spPr>
            <a:xfrm>
              <a:off x="13589" y="13589"/>
              <a:ext cx="11338560" cy="4632960"/>
            </a:xfrm>
            <a:custGeom>
              <a:avLst/>
              <a:gdLst/>
              <a:ahLst/>
              <a:cxnLst/>
              <a:rect l="l" t="t" r="r" b="b"/>
              <a:pathLst>
                <a:path w="11338560" h="4632960">
                  <a:moveTo>
                    <a:pt x="0" y="0"/>
                  </a:moveTo>
                  <a:lnTo>
                    <a:pt x="11338560" y="0"/>
                  </a:lnTo>
                  <a:lnTo>
                    <a:pt x="113385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11365738" cy="4660138"/>
            </a:xfrm>
            <a:custGeom>
              <a:avLst/>
              <a:gdLst/>
              <a:ahLst/>
              <a:cxnLst/>
              <a:rect l="l" t="t" r="r" b="b"/>
              <a:pathLst>
                <a:path w="11365738" h="4660138">
                  <a:moveTo>
                    <a:pt x="13589" y="0"/>
                  </a:moveTo>
                  <a:lnTo>
                    <a:pt x="11352149" y="0"/>
                  </a:lnTo>
                  <a:cubicBezTo>
                    <a:pt x="11359642" y="0"/>
                    <a:pt x="11365738" y="6096"/>
                    <a:pt x="11365738" y="13589"/>
                  </a:cubicBezTo>
                  <a:lnTo>
                    <a:pt x="11365738" y="4646549"/>
                  </a:lnTo>
                  <a:cubicBezTo>
                    <a:pt x="11365738" y="4654042"/>
                    <a:pt x="11359642" y="4660138"/>
                    <a:pt x="11352149" y="4660138"/>
                  </a:cubicBezTo>
                  <a:lnTo>
                    <a:pt x="13589" y="4660138"/>
                  </a:lnTo>
                  <a:cubicBezTo>
                    <a:pt x="6096" y="4660138"/>
                    <a:pt x="0" y="4654042"/>
                    <a:pt x="0" y="46465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646549"/>
                  </a:lnTo>
                  <a:lnTo>
                    <a:pt x="13589" y="4646549"/>
                  </a:lnTo>
                  <a:lnTo>
                    <a:pt x="13589" y="4632960"/>
                  </a:lnTo>
                  <a:lnTo>
                    <a:pt x="11352149" y="4632960"/>
                  </a:lnTo>
                  <a:lnTo>
                    <a:pt x="11352149" y="4646549"/>
                  </a:lnTo>
                  <a:lnTo>
                    <a:pt x="11338560" y="4646549"/>
                  </a:lnTo>
                  <a:lnTo>
                    <a:pt x="11338560" y="13589"/>
                  </a:lnTo>
                  <a:lnTo>
                    <a:pt x="11352149" y="13589"/>
                  </a:lnTo>
                  <a:lnTo>
                    <a:pt x="113521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9497063" y="5802887"/>
            <a:ext cx="1031243" cy="3500123"/>
            <a:chOff x="0" y="0"/>
            <a:chExt cx="1374991" cy="4666831"/>
          </a:xfrm>
        </p:grpSpPr>
        <p:sp>
          <p:nvSpPr>
            <p:cNvPr id="83" name="Freeform 83"/>
            <p:cNvSpPr/>
            <p:nvPr/>
          </p:nvSpPr>
          <p:spPr>
            <a:xfrm>
              <a:off x="16891" y="16891"/>
              <a:ext cx="1341120" cy="4632960"/>
            </a:xfrm>
            <a:custGeom>
              <a:avLst/>
              <a:gdLst/>
              <a:ahLst/>
              <a:cxnLst/>
              <a:rect l="l" t="t" r="r" b="b"/>
              <a:pathLst>
                <a:path w="1341120" h="4632960">
                  <a:moveTo>
                    <a:pt x="0" y="0"/>
                  </a:moveTo>
                  <a:lnTo>
                    <a:pt x="1341120" y="0"/>
                  </a:lnTo>
                  <a:lnTo>
                    <a:pt x="1341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0" y="0"/>
              <a:ext cx="1374902" cy="4666742"/>
            </a:xfrm>
            <a:custGeom>
              <a:avLst/>
              <a:gdLst/>
              <a:ahLst/>
              <a:cxnLst/>
              <a:rect l="l" t="t" r="r" b="b"/>
              <a:pathLst>
                <a:path w="1374902" h="466674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649851"/>
                  </a:lnTo>
                  <a:cubicBezTo>
                    <a:pt x="1374902" y="4659249"/>
                    <a:pt x="1367282" y="4666742"/>
                    <a:pt x="1358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358011" y="4632960"/>
                  </a:lnTo>
                  <a:lnTo>
                    <a:pt x="1358011" y="4649851"/>
                  </a:lnTo>
                  <a:lnTo>
                    <a:pt x="1341120" y="464985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9528048" y="7132320"/>
            <a:ext cx="969264" cy="841248"/>
            <a:chOff x="0" y="0"/>
            <a:chExt cx="1292352" cy="112166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292352" cy="1121664"/>
            </a:xfrm>
            <a:custGeom>
              <a:avLst/>
              <a:gdLst/>
              <a:ahLst/>
              <a:cxnLst/>
              <a:rect l="l" t="t" r="r" b="b"/>
              <a:pathLst>
                <a:path w="1292352" h="1121664">
                  <a:moveTo>
                    <a:pt x="0" y="0"/>
                  </a:moveTo>
                  <a:lnTo>
                    <a:pt x="1292352" y="0"/>
                  </a:lnTo>
                  <a:lnTo>
                    <a:pt x="1292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57" r="-61357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28575"/>
              <a:ext cx="1292352" cy="1150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0698480" y="5887974"/>
            <a:ext cx="713232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1B2A4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Design of Real-Time ACL Monitoring System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10698480" y="6656832"/>
            <a:ext cx="7132320" cy="402336"/>
            <a:chOff x="0" y="0"/>
            <a:chExt cx="9509760" cy="53644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9509760" cy="536448"/>
            </a:xfrm>
            <a:custGeom>
              <a:avLst/>
              <a:gdLst/>
              <a:ahLst/>
              <a:cxnLst/>
              <a:rect l="l" t="t" r="r" b="b"/>
              <a:pathLst>
                <a:path w="9509760" h="536448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416" b="-295416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 dirty="0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ResearchGate · 2024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698480" y="7022592"/>
            <a:ext cx="7132320" cy="1316736"/>
            <a:chOff x="0" y="0"/>
            <a:chExt cx="9509760" cy="175564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9509760" cy="1755648"/>
            </a:xfrm>
            <a:custGeom>
              <a:avLst/>
              <a:gdLst/>
              <a:ahLst/>
              <a:cxnLst/>
              <a:rect l="l" t="t" r="r" b="b"/>
              <a:pathLst>
                <a:path w="9509760" h="1755648">
                  <a:moveTo>
                    <a:pt x="0" y="0"/>
                  </a:moveTo>
                  <a:lnTo>
                    <a:pt x="9509760" y="0"/>
                  </a:lnTo>
                  <a:lnTo>
                    <a:pt x="9509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950976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IMU-based systems using ESP32 can achieve sub-100ms response latency for joint angle calculations. Differential processing between two sensors is validated as accurate.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685783" y="8399783"/>
            <a:ext cx="7157723" cy="80267"/>
            <a:chOff x="0" y="0"/>
            <a:chExt cx="9543631" cy="107023"/>
          </a:xfrm>
        </p:grpSpPr>
        <p:sp>
          <p:nvSpPr>
            <p:cNvPr id="96" name="Freeform 96"/>
            <p:cNvSpPr/>
            <p:nvPr/>
          </p:nvSpPr>
          <p:spPr>
            <a:xfrm>
              <a:off x="16891" y="16891"/>
              <a:ext cx="9509760" cy="73152"/>
            </a:xfrm>
            <a:custGeom>
              <a:avLst/>
              <a:gdLst/>
              <a:ahLst/>
              <a:cxnLst/>
              <a:rect l="l" t="t" r="r" b="b"/>
              <a:pathLst>
                <a:path w="9509760" h="73152">
                  <a:moveTo>
                    <a:pt x="0" y="0"/>
                  </a:moveTo>
                  <a:lnTo>
                    <a:pt x="9509760" y="0"/>
                  </a:lnTo>
                  <a:lnTo>
                    <a:pt x="95097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97" name="Freeform 97"/>
            <p:cNvSpPr/>
            <p:nvPr/>
          </p:nvSpPr>
          <p:spPr>
            <a:xfrm>
              <a:off x="0" y="0"/>
              <a:ext cx="9543542" cy="106936"/>
            </a:xfrm>
            <a:custGeom>
              <a:avLst/>
              <a:gdLst/>
              <a:ahLst/>
              <a:cxnLst/>
              <a:rect l="l" t="t" r="r" b="b"/>
              <a:pathLst>
                <a:path w="9543542" h="106936">
                  <a:moveTo>
                    <a:pt x="16891" y="0"/>
                  </a:moveTo>
                  <a:lnTo>
                    <a:pt x="9526651" y="0"/>
                  </a:lnTo>
                  <a:cubicBezTo>
                    <a:pt x="9536049" y="0"/>
                    <a:pt x="9543542" y="7620"/>
                    <a:pt x="9543542" y="16891"/>
                  </a:cubicBezTo>
                  <a:lnTo>
                    <a:pt x="9543542" y="90043"/>
                  </a:lnTo>
                  <a:cubicBezTo>
                    <a:pt x="9543542" y="99441"/>
                    <a:pt x="9535922" y="106934"/>
                    <a:pt x="952665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9526651" y="73152"/>
                  </a:lnTo>
                  <a:lnTo>
                    <a:pt x="9526651" y="90043"/>
                  </a:lnTo>
                  <a:lnTo>
                    <a:pt x="9509760" y="90043"/>
                  </a:lnTo>
                  <a:lnTo>
                    <a:pt x="9509760" y="16891"/>
                  </a:lnTo>
                  <a:lnTo>
                    <a:pt x="9526651" y="16891"/>
                  </a:lnTo>
                  <a:lnTo>
                    <a:pt x="952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0698480" y="8540496"/>
            <a:ext cx="7132320" cy="658368"/>
            <a:chOff x="0" y="0"/>
            <a:chExt cx="9509760" cy="877824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9509760" cy="877824"/>
            </a:xfrm>
            <a:custGeom>
              <a:avLst/>
              <a:gdLst/>
              <a:ahLst/>
              <a:cxnLst/>
              <a:rect l="l" t="t" r="r" b="b"/>
              <a:pathLst>
                <a:path w="9509760" h="877824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Confirms our ESP32 + dual MPU-6050 architecture is technically feasible.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EXISTING SOLUTIONS &amp; THEIR GAPS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05281"/>
            <a:ext cx="16824960" cy="613791"/>
            <a:chOff x="0" y="-38100"/>
            <a:chExt cx="22433280" cy="8183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current solution fails athletes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7383" y="1907543"/>
            <a:ext cx="4597403" cy="793499"/>
            <a:chOff x="0" y="0"/>
            <a:chExt cx="6129871" cy="1057999"/>
          </a:xfrm>
        </p:grpSpPr>
        <p:sp>
          <p:nvSpPr>
            <p:cNvPr id="14" name="Freeform 14"/>
            <p:cNvSpPr/>
            <p:nvPr/>
          </p:nvSpPr>
          <p:spPr>
            <a:xfrm>
              <a:off x="16891" y="16891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129782" cy="1057912"/>
            </a:xfrm>
            <a:custGeom>
              <a:avLst/>
              <a:gdLst/>
              <a:ahLst/>
              <a:cxnLst/>
              <a:rect l="l" t="t" r="r" b="b"/>
              <a:pathLst>
                <a:path w="6129782" h="105791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041019"/>
                  </a:lnTo>
                  <a:cubicBezTo>
                    <a:pt x="6129782" y="1050417"/>
                    <a:pt x="6122162" y="1057910"/>
                    <a:pt x="61128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6112891" y="1024128"/>
                  </a:lnTo>
                  <a:lnTo>
                    <a:pt x="6112891" y="1041019"/>
                  </a:lnTo>
                  <a:lnTo>
                    <a:pt x="6096000" y="1041019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" y="1920240"/>
            <a:ext cx="4572000" cy="768096"/>
            <a:chOff x="0" y="0"/>
            <a:chExt cx="6096000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82" b="-6598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0960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Solution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99383" y="1907543"/>
            <a:ext cx="4231643" cy="793499"/>
            <a:chOff x="0" y="0"/>
            <a:chExt cx="5642191" cy="1057999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5608320" cy="1024128"/>
            </a:xfrm>
            <a:custGeom>
              <a:avLst/>
              <a:gdLst/>
              <a:ahLst/>
              <a:cxnLst/>
              <a:rect l="l" t="t" r="r" b="b"/>
              <a:pathLst>
                <a:path w="5608320" h="1024128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5642102" cy="1057912"/>
            </a:xfrm>
            <a:custGeom>
              <a:avLst/>
              <a:gdLst/>
              <a:ahLst/>
              <a:cxnLst/>
              <a:rect l="l" t="t" r="r" b="b"/>
              <a:pathLst>
                <a:path w="5642102" h="105791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41019"/>
                  </a:lnTo>
                  <a:cubicBezTo>
                    <a:pt x="5642102" y="1050417"/>
                    <a:pt x="5634482" y="1057910"/>
                    <a:pt x="56252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625211" y="1024128"/>
                  </a:lnTo>
                  <a:lnTo>
                    <a:pt x="5625211" y="1041019"/>
                  </a:lnTo>
                  <a:lnTo>
                    <a:pt x="5608320" y="104101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212080" y="1920240"/>
            <a:ext cx="4206240" cy="768096"/>
            <a:chOff x="0" y="0"/>
            <a:chExt cx="5608320" cy="10241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08320" cy="1024128"/>
            </a:xfrm>
            <a:custGeom>
              <a:avLst/>
              <a:gdLst/>
              <a:ahLst/>
              <a:cxnLst/>
              <a:rect l="l" t="t" r="r" b="b"/>
              <a:pathLst>
                <a:path w="5608320" h="1024128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3" b="-5670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60832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What It Does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05623" y="1907543"/>
            <a:ext cx="4231643" cy="793499"/>
            <a:chOff x="0" y="0"/>
            <a:chExt cx="5642191" cy="1057999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5608320" cy="1024128"/>
            </a:xfrm>
            <a:custGeom>
              <a:avLst/>
              <a:gdLst/>
              <a:ahLst/>
              <a:cxnLst/>
              <a:rect l="l" t="t" r="r" b="b"/>
              <a:pathLst>
                <a:path w="5608320" h="1024128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5642102" cy="1057912"/>
            </a:xfrm>
            <a:custGeom>
              <a:avLst/>
              <a:gdLst/>
              <a:ahLst/>
              <a:cxnLst/>
              <a:rect l="l" t="t" r="r" b="b"/>
              <a:pathLst>
                <a:path w="5642102" h="105791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41019"/>
                  </a:lnTo>
                  <a:cubicBezTo>
                    <a:pt x="5642102" y="1050417"/>
                    <a:pt x="5634482" y="1057910"/>
                    <a:pt x="56252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625211" y="1024128"/>
                  </a:lnTo>
                  <a:lnTo>
                    <a:pt x="5625211" y="1041019"/>
                  </a:lnTo>
                  <a:lnTo>
                    <a:pt x="5608320" y="104101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418320" y="1920240"/>
            <a:ext cx="4206240" cy="768096"/>
            <a:chOff x="0" y="0"/>
            <a:chExt cx="5608320" cy="10241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08320" cy="1024128"/>
            </a:xfrm>
            <a:custGeom>
              <a:avLst/>
              <a:gdLst/>
              <a:ahLst/>
              <a:cxnLst/>
              <a:rect l="l" t="t" r="r" b="b"/>
              <a:pathLst>
                <a:path w="5608320" h="1024128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3" b="-5670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60832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Critical Limitation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611863" y="1907543"/>
            <a:ext cx="4231643" cy="793499"/>
            <a:chOff x="0" y="0"/>
            <a:chExt cx="5642191" cy="1057999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5608320" cy="1024128"/>
            </a:xfrm>
            <a:custGeom>
              <a:avLst/>
              <a:gdLst/>
              <a:ahLst/>
              <a:cxnLst/>
              <a:rect l="l" t="t" r="r" b="b"/>
              <a:pathLst>
                <a:path w="5608320" h="1024128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5642102" cy="1057912"/>
            </a:xfrm>
            <a:custGeom>
              <a:avLst/>
              <a:gdLst/>
              <a:ahLst/>
              <a:cxnLst/>
              <a:rect l="l" t="t" r="r" b="b"/>
              <a:pathLst>
                <a:path w="5642102" h="105791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041019"/>
                  </a:lnTo>
                  <a:cubicBezTo>
                    <a:pt x="5642102" y="1050417"/>
                    <a:pt x="5634482" y="1057910"/>
                    <a:pt x="56252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625211" y="1024128"/>
                  </a:lnTo>
                  <a:lnTo>
                    <a:pt x="5625211" y="1041019"/>
                  </a:lnTo>
                  <a:lnTo>
                    <a:pt x="5608320" y="104101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3624560" y="1920240"/>
            <a:ext cx="4206240" cy="768096"/>
            <a:chOff x="0" y="0"/>
            <a:chExt cx="560832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608320" cy="1024128"/>
            </a:xfrm>
            <a:custGeom>
              <a:avLst/>
              <a:gdLst/>
              <a:ahLst/>
              <a:cxnLst/>
              <a:rect l="l" t="t" r="r" b="b"/>
              <a:pathLst>
                <a:path w="5608320" h="1024128">
                  <a:moveTo>
                    <a:pt x="0" y="0"/>
                  </a:moveTo>
                  <a:lnTo>
                    <a:pt x="5608320" y="0"/>
                  </a:lnTo>
                  <a:lnTo>
                    <a:pt x="5608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3" b="-567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60832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Conclusion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3727" y="2681983"/>
            <a:ext cx="4584697" cy="1512313"/>
            <a:chOff x="0" y="0"/>
            <a:chExt cx="6112929" cy="2016417"/>
          </a:xfrm>
        </p:grpSpPr>
        <p:sp>
          <p:nvSpPr>
            <p:cNvPr id="38" name="Freeform 38"/>
            <p:cNvSpPr/>
            <p:nvPr/>
          </p:nvSpPr>
          <p:spPr>
            <a:xfrm>
              <a:off x="8509" y="8509"/>
              <a:ext cx="6096000" cy="1999488"/>
            </a:xfrm>
            <a:custGeom>
              <a:avLst/>
              <a:gdLst/>
              <a:ahLst/>
              <a:cxnLst/>
              <a:rect l="l" t="t" r="r" b="b"/>
              <a:pathLst>
                <a:path w="6096000" h="1999488">
                  <a:moveTo>
                    <a:pt x="0" y="0"/>
                  </a:moveTo>
                  <a:lnTo>
                    <a:pt x="6096000" y="0"/>
                  </a:lnTo>
                  <a:lnTo>
                    <a:pt x="60960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6113018" cy="2016506"/>
            </a:xfrm>
            <a:custGeom>
              <a:avLst/>
              <a:gdLst/>
              <a:ahLst/>
              <a:cxnLst/>
              <a:rect l="l" t="t" r="r" b="b"/>
              <a:pathLst>
                <a:path w="6113018" h="2016506">
                  <a:moveTo>
                    <a:pt x="8509" y="0"/>
                  </a:moveTo>
                  <a:lnTo>
                    <a:pt x="6104509" y="0"/>
                  </a:lnTo>
                  <a:cubicBezTo>
                    <a:pt x="6109208" y="0"/>
                    <a:pt x="6113018" y="3810"/>
                    <a:pt x="6113018" y="8509"/>
                  </a:cubicBezTo>
                  <a:lnTo>
                    <a:pt x="6113018" y="2007997"/>
                  </a:lnTo>
                  <a:cubicBezTo>
                    <a:pt x="6113018" y="2012696"/>
                    <a:pt x="6109208" y="2016506"/>
                    <a:pt x="610450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104509" y="1999488"/>
                  </a:lnTo>
                  <a:lnTo>
                    <a:pt x="6104509" y="2007997"/>
                  </a:lnTo>
                  <a:lnTo>
                    <a:pt x="6096000" y="2007997"/>
                  </a:lnTo>
                  <a:lnTo>
                    <a:pt x="6096000" y="8509"/>
                  </a:lnTo>
                  <a:lnTo>
                    <a:pt x="6104509" y="8509"/>
                  </a:lnTo>
                  <a:lnTo>
                    <a:pt x="6104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86384" y="2761488"/>
            <a:ext cx="4279392" cy="1353312"/>
            <a:chOff x="0" y="0"/>
            <a:chExt cx="5705856" cy="18044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705856" cy="1804416"/>
            </a:xfrm>
            <a:custGeom>
              <a:avLst/>
              <a:gdLst/>
              <a:ahLst/>
              <a:cxnLst/>
              <a:rect l="l" t="t" r="r" b="b"/>
              <a:pathLst>
                <a:path w="5705856" h="1804416">
                  <a:moveTo>
                    <a:pt x="0" y="0"/>
                  </a:moveTo>
                  <a:lnTo>
                    <a:pt x="5705856" y="0"/>
                  </a:lnTo>
                  <a:lnTo>
                    <a:pt x="570585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14" b="-1161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5705856" cy="185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DonJoy / Breg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Braces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05727" y="2681983"/>
            <a:ext cx="4218937" cy="1512313"/>
            <a:chOff x="0" y="0"/>
            <a:chExt cx="5625249" cy="2016417"/>
          </a:xfrm>
        </p:grpSpPr>
        <p:sp>
          <p:nvSpPr>
            <p:cNvPr id="44" name="Freeform 44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5358384" y="2761488"/>
            <a:ext cx="3913632" cy="1353312"/>
            <a:chOff x="0" y="0"/>
            <a:chExt cx="5218176" cy="180441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Rigid mechanical frame; limits extreme flexion &amp; extension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411967" y="2681983"/>
            <a:ext cx="4218937" cy="1512313"/>
            <a:chOff x="0" y="0"/>
            <a:chExt cx="5625249" cy="2016417"/>
          </a:xfrm>
        </p:grpSpPr>
        <p:sp>
          <p:nvSpPr>
            <p:cNvPr id="50" name="Freeform 50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564624" y="2761488"/>
            <a:ext cx="3913632" cy="1353312"/>
            <a:chOff x="0" y="0"/>
            <a:chExt cx="5218176" cy="180441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passive - zero sensor data, cannot detect or warn about hidden rotational torque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618207" y="2681983"/>
            <a:ext cx="4218937" cy="1512313"/>
            <a:chOff x="0" y="0"/>
            <a:chExt cx="5625249" cy="2016417"/>
          </a:xfrm>
        </p:grpSpPr>
        <p:sp>
          <p:nvSpPr>
            <p:cNvPr id="56" name="Freeform 56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3770864" y="2761488"/>
            <a:ext cx="3913632" cy="1353312"/>
            <a:chOff x="0" y="0"/>
            <a:chExt cx="5218176" cy="18044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Blind to rotation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33727" y="4181599"/>
            <a:ext cx="4584697" cy="1512313"/>
            <a:chOff x="0" y="0"/>
            <a:chExt cx="6112929" cy="2016417"/>
          </a:xfrm>
        </p:grpSpPr>
        <p:sp>
          <p:nvSpPr>
            <p:cNvPr id="62" name="Freeform 62"/>
            <p:cNvSpPr/>
            <p:nvPr/>
          </p:nvSpPr>
          <p:spPr>
            <a:xfrm>
              <a:off x="8509" y="8509"/>
              <a:ext cx="6096000" cy="1999488"/>
            </a:xfrm>
            <a:custGeom>
              <a:avLst/>
              <a:gdLst/>
              <a:ahLst/>
              <a:cxnLst/>
              <a:rect l="l" t="t" r="r" b="b"/>
              <a:pathLst>
                <a:path w="6096000" h="1999488">
                  <a:moveTo>
                    <a:pt x="0" y="0"/>
                  </a:moveTo>
                  <a:lnTo>
                    <a:pt x="6096000" y="0"/>
                  </a:lnTo>
                  <a:lnTo>
                    <a:pt x="60960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6113018" cy="2016506"/>
            </a:xfrm>
            <a:custGeom>
              <a:avLst/>
              <a:gdLst/>
              <a:ahLst/>
              <a:cxnLst/>
              <a:rect l="l" t="t" r="r" b="b"/>
              <a:pathLst>
                <a:path w="6113018" h="2016506">
                  <a:moveTo>
                    <a:pt x="8509" y="0"/>
                  </a:moveTo>
                  <a:lnTo>
                    <a:pt x="6104509" y="0"/>
                  </a:lnTo>
                  <a:cubicBezTo>
                    <a:pt x="6109208" y="0"/>
                    <a:pt x="6113018" y="3810"/>
                    <a:pt x="6113018" y="8509"/>
                  </a:cubicBezTo>
                  <a:lnTo>
                    <a:pt x="6113018" y="2007997"/>
                  </a:lnTo>
                  <a:cubicBezTo>
                    <a:pt x="6113018" y="2012696"/>
                    <a:pt x="6109208" y="2016506"/>
                    <a:pt x="610450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104509" y="1999488"/>
                  </a:lnTo>
                  <a:lnTo>
                    <a:pt x="6104509" y="2007997"/>
                  </a:lnTo>
                  <a:lnTo>
                    <a:pt x="6096000" y="2007997"/>
                  </a:lnTo>
                  <a:lnTo>
                    <a:pt x="6096000" y="8509"/>
                  </a:lnTo>
                  <a:lnTo>
                    <a:pt x="6104509" y="8509"/>
                  </a:lnTo>
                  <a:lnTo>
                    <a:pt x="6104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786384" y="4261104"/>
            <a:ext cx="4279392" cy="1353312"/>
            <a:chOff x="0" y="0"/>
            <a:chExt cx="5705856" cy="180441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705856" cy="1804416"/>
            </a:xfrm>
            <a:custGeom>
              <a:avLst/>
              <a:gdLst/>
              <a:ahLst/>
              <a:cxnLst/>
              <a:rect l="l" t="t" r="r" b="b"/>
              <a:pathLst>
                <a:path w="5705856" h="1804416">
                  <a:moveTo>
                    <a:pt x="0" y="0"/>
                  </a:moveTo>
                  <a:lnTo>
                    <a:pt x="5705856" y="0"/>
                  </a:lnTo>
                  <a:lnTo>
                    <a:pt x="570585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14" b="-1161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5705856" cy="185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Vicon Optical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Motion Capture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05727" y="4181599"/>
            <a:ext cx="4218937" cy="1512313"/>
            <a:chOff x="0" y="0"/>
            <a:chExt cx="5625249" cy="2016417"/>
          </a:xfrm>
        </p:grpSpPr>
        <p:sp>
          <p:nvSpPr>
            <p:cNvPr id="68" name="Freeform 68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5358384" y="4261104"/>
            <a:ext cx="3913632" cy="1353312"/>
            <a:chOff x="0" y="0"/>
            <a:chExt cx="5218176" cy="18044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Sub-millimeter 3D tracking of all joint kinematics via camera arrays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411967" y="4181599"/>
            <a:ext cx="4218937" cy="1512313"/>
            <a:chOff x="0" y="0"/>
            <a:chExt cx="5625249" cy="2016417"/>
          </a:xfrm>
        </p:grpSpPr>
        <p:sp>
          <p:nvSpPr>
            <p:cNvPr id="74" name="Freeform 74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9564624" y="4261104"/>
            <a:ext cx="3913632" cy="1353312"/>
            <a:chOff x="0" y="0"/>
            <a:chExt cx="5218176" cy="180441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Requires lab setup with multiple cameras. Completely unusable on sports fields or clinics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618207" y="4181599"/>
            <a:ext cx="4218937" cy="1512313"/>
            <a:chOff x="0" y="0"/>
            <a:chExt cx="5625249" cy="2016417"/>
          </a:xfrm>
        </p:grpSpPr>
        <p:sp>
          <p:nvSpPr>
            <p:cNvPr id="80" name="Freeform 80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13770864" y="4261104"/>
            <a:ext cx="3913632" cy="1353312"/>
            <a:chOff x="0" y="0"/>
            <a:chExt cx="5218176" cy="180441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Lab-only, costs lakhs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33727" y="5681215"/>
            <a:ext cx="4584697" cy="1512313"/>
            <a:chOff x="0" y="0"/>
            <a:chExt cx="6112929" cy="2016417"/>
          </a:xfrm>
        </p:grpSpPr>
        <p:sp>
          <p:nvSpPr>
            <p:cNvPr id="86" name="Freeform 86"/>
            <p:cNvSpPr/>
            <p:nvPr/>
          </p:nvSpPr>
          <p:spPr>
            <a:xfrm>
              <a:off x="8509" y="8509"/>
              <a:ext cx="6096000" cy="1999488"/>
            </a:xfrm>
            <a:custGeom>
              <a:avLst/>
              <a:gdLst/>
              <a:ahLst/>
              <a:cxnLst/>
              <a:rect l="l" t="t" r="r" b="b"/>
              <a:pathLst>
                <a:path w="6096000" h="1999488">
                  <a:moveTo>
                    <a:pt x="0" y="0"/>
                  </a:moveTo>
                  <a:lnTo>
                    <a:pt x="6096000" y="0"/>
                  </a:lnTo>
                  <a:lnTo>
                    <a:pt x="60960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6113018" cy="2016506"/>
            </a:xfrm>
            <a:custGeom>
              <a:avLst/>
              <a:gdLst/>
              <a:ahLst/>
              <a:cxnLst/>
              <a:rect l="l" t="t" r="r" b="b"/>
              <a:pathLst>
                <a:path w="6113018" h="2016506">
                  <a:moveTo>
                    <a:pt x="8509" y="0"/>
                  </a:moveTo>
                  <a:lnTo>
                    <a:pt x="6104509" y="0"/>
                  </a:lnTo>
                  <a:cubicBezTo>
                    <a:pt x="6109208" y="0"/>
                    <a:pt x="6113018" y="3810"/>
                    <a:pt x="6113018" y="8509"/>
                  </a:cubicBezTo>
                  <a:lnTo>
                    <a:pt x="6113018" y="2007997"/>
                  </a:lnTo>
                  <a:cubicBezTo>
                    <a:pt x="6113018" y="2012696"/>
                    <a:pt x="6109208" y="2016506"/>
                    <a:pt x="610450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104509" y="1999488"/>
                  </a:lnTo>
                  <a:lnTo>
                    <a:pt x="6104509" y="2007997"/>
                  </a:lnTo>
                  <a:lnTo>
                    <a:pt x="6096000" y="2007997"/>
                  </a:lnTo>
                  <a:lnTo>
                    <a:pt x="6096000" y="8509"/>
                  </a:lnTo>
                  <a:lnTo>
                    <a:pt x="6104509" y="8509"/>
                  </a:lnTo>
                  <a:lnTo>
                    <a:pt x="6104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786384" y="5760720"/>
            <a:ext cx="4279392" cy="1353312"/>
            <a:chOff x="0" y="0"/>
            <a:chExt cx="5705856" cy="180441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705856" cy="1804416"/>
            </a:xfrm>
            <a:custGeom>
              <a:avLst/>
              <a:gdLst/>
              <a:ahLst/>
              <a:cxnLst/>
              <a:rect l="l" t="t" r="r" b="b"/>
              <a:pathLst>
                <a:path w="5705856" h="1804416">
                  <a:moveTo>
                    <a:pt x="0" y="0"/>
                  </a:moveTo>
                  <a:lnTo>
                    <a:pt x="5705856" y="0"/>
                  </a:lnTo>
                  <a:lnTo>
                    <a:pt x="570585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14" b="-11614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47625"/>
              <a:ext cx="5705856" cy="185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Compression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Sleeves (e.g. Athos)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205727" y="5681215"/>
            <a:ext cx="4218937" cy="1512313"/>
            <a:chOff x="0" y="0"/>
            <a:chExt cx="5625249" cy="2016417"/>
          </a:xfrm>
        </p:grpSpPr>
        <p:sp>
          <p:nvSpPr>
            <p:cNvPr id="92" name="Freeform 92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5358384" y="5760720"/>
            <a:ext cx="3913632" cy="1353312"/>
            <a:chOff x="0" y="0"/>
            <a:chExt cx="5218176" cy="180441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general metrics (steps, jump height) via embedded single sensors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411967" y="5681215"/>
            <a:ext cx="4218937" cy="1512313"/>
            <a:chOff x="0" y="0"/>
            <a:chExt cx="5625249" cy="2016417"/>
          </a:xfrm>
        </p:grpSpPr>
        <p:sp>
          <p:nvSpPr>
            <p:cNvPr id="98" name="Freeform 98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9" name="Freeform 99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9564624" y="5760720"/>
            <a:ext cx="3913632" cy="1353312"/>
            <a:chOff x="0" y="0"/>
            <a:chExt cx="5218176" cy="180441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rigid support frame - cannot absorb torque. No differential angle processing or haptic alert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3618207" y="5681215"/>
            <a:ext cx="4218937" cy="1512313"/>
            <a:chOff x="0" y="0"/>
            <a:chExt cx="5625249" cy="2016417"/>
          </a:xfrm>
        </p:grpSpPr>
        <p:sp>
          <p:nvSpPr>
            <p:cNvPr id="104" name="Freeform 104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13770864" y="5760720"/>
            <a:ext cx="3913632" cy="1353312"/>
            <a:chOff x="0" y="0"/>
            <a:chExt cx="5218176" cy="180441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No rigid support, no haptics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633727" y="7180831"/>
            <a:ext cx="4584697" cy="1512313"/>
            <a:chOff x="0" y="0"/>
            <a:chExt cx="6112929" cy="2016417"/>
          </a:xfrm>
        </p:grpSpPr>
        <p:sp>
          <p:nvSpPr>
            <p:cNvPr id="110" name="Freeform 110"/>
            <p:cNvSpPr/>
            <p:nvPr/>
          </p:nvSpPr>
          <p:spPr>
            <a:xfrm>
              <a:off x="8509" y="8509"/>
              <a:ext cx="6096000" cy="1999488"/>
            </a:xfrm>
            <a:custGeom>
              <a:avLst/>
              <a:gdLst/>
              <a:ahLst/>
              <a:cxnLst/>
              <a:rect l="l" t="t" r="r" b="b"/>
              <a:pathLst>
                <a:path w="6096000" h="1999488">
                  <a:moveTo>
                    <a:pt x="0" y="0"/>
                  </a:moveTo>
                  <a:lnTo>
                    <a:pt x="6096000" y="0"/>
                  </a:lnTo>
                  <a:lnTo>
                    <a:pt x="60960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id="111" name="Freeform 111"/>
            <p:cNvSpPr/>
            <p:nvPr/>
          </p:nvSpPr>
          <p:spPr>
            <a:xfrm>
              <a:off x="0" y="0"/>
              <a:ext cx="6113018" cy="2016506"/>
            </a:xfrm>
            <a:custGeom>
              <a:avLst/>
              <a:gdLst/>
              <a:ahLst/>
              <a:cxnLst/>
              <a:rect l="l" t="t" r="r" b="b"/>
              <a:pathLst>
                <a:path w="6113018" h="2016506">
                  <a:moveTo>
                    <a:pt x="8509" y="0"/>
                  </a:moveTo>
                  <a:lnTo>
                    <a:pt x="6104509" y="0"/>
                  </a:lnTo>
                  <a:cubicBezTo>
                    <a:pt x="6109208" y="0"/>
                    <a:pt x="6113018" y="3810"/>
                    <a:pt x="6113018" y="8509"/>
                  </a:cubicBezTo>
                  <a:lnTo>
                    <a:pt x="6113018" y="2007997"/>
                  </a:lnTo>
                  <a:cubicBezTo>
                    <a:pt x="6113018" y="2012696"/>
                    <a:pt x="6109208" y="2016506"/>
                    <a:pt x="610450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104509" y="1999488"/>
                  </a:lnTo>
                  <a:lnTo>
                    <a:pt x="6104509" y="2007997"/>
                  </a:lnTo>
                  <a:lnTo>
                    <a:pt x="6096000" y="2007997"/>
                  </a:lnTo>
                  <a:lnTo>
                    <a:pt x="6096000" y="8509"/>
                  </a:lnTo>
                  <a:lnTo>
                    <a:pt x="6104509" y="8509"/>
                  </a:lnTo>
                  <a:lnTo>
                    <a:pt x="6104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2" name="Group 112"/>
          <p:cNvGrpSpPr/>
          <p:nvPr/>
        </p:nvGrpSpPr>
        <p:grpSpPr>
          <a:xfrm>
            <a:off x="786384" y="7260336"/>
            <a:ext cx="4279392" cy="1353312"/>
            <a:chOff x="0" y="0"/>
            <a:chExt cx="5705856" cy="180441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705856" cy="1804416"/>
            </a:xfrm>
            <a:custGeom>
              <a:avLst/>
              <a:gdLst/>
              <a:ahLst/>
              <a:cxnLst/>
              <a:rect l="l" t="t" r="r" b="b"/>
              <a:pathLst>
                <a:path w="5705856" h="1804416">
                  <a:moveTo>
                    <a:pt x="0" y="0"/>
                  </a:moveTo>
                  <a:lnTo>
                    <a:pt x="5705856" y="0"/>
                  </a:lnTo>
                  <a:lnTo>
                    <a:pt x="570585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14" b="-11614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47625"/>
              <a:ext cx="5705856" cy="1852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A78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Dynamic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A78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Knee Ankle Support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5205727" y="7180831"/>
            <a:ext cx="4218937" cy="1512313"/>
            <a:chOff x="0" y="0"/>
            <a:chExt cx="5625249" cy="2016417"/>
          </a:xfrm>
        </p:grpSpPr>
        <p:sp>
          <p:nvSpPr>
            <p:cNvPr id="116" name="Freeform 116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5358384" y="7260336"/>
            <a:ext cx="3913632" cy="1353312"/>
            <a:chOff x="0" y="0"/>
            <a:chExt cx="5218176" cy="1804416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A78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 IMU + rigid frame + real-time differential processing + haptic biofeedback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411967" y="7180831"/>
            <a:ext cx="4218937" cy="1512313"/>
            <a:chOff x="0" y="0"/>
            <a:chExt cx="5625249" cy="2016417"/>
          </a:xfrm>
        </p:grpSpPr>
        <p:sp>
          <p:nvSpPr>
            <p:cNvPr id="122" name="Freeform 122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9564624" y="7260336"/>
            <a:ext cx="3913632" cy="1353312"/>
            <a:chOff x="0" y="0"/>
            <a:chExt cx="5218176" cy="180441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0A78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Currently requires per-athlete calibration.  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3618207" y="7180831"/>
            <a:ext cx="4218937" cy="1512313"/>
            <a:chOff x="0" y="0"/>
            <a:chExt cx="5625249" cy="2016417"/>
          </a:xfrm>
        </p:grpSpPr>
        <p:sp>
          <p:nvSpPr>
            <p:cNvPr id="128" name="Freeform 128"/>
            <p:cNvSpPr/>
            <p:nvPr/>
          </p:nvSpPr>
          <p:spPr>
            <a:xfrm>
              <a:off x="8509" y="8509"/>
              <a:ext cx="5608320" cy="1999488"/>
            </a:xfrm>
            <a:custGeom>
              <a:avLst/>
              <a:gdLst/>
              <a:ahLst/>
              <a:cxnLst/>
              <a:rect l="l" t="t" r="r" b="b"/>
              <a:pathLst>
                <a:path w="5608320" h="1999488">
                  <a:moveTo>
                    <a:pt x="0" y="0"/>
                  </a:moveTo>
                  <a:lnTo>
                    <a:pt x="5608320" y="0"/>
                  </a:lnTo>
                  <a:lnTo>
                    <a:pt x="560832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5625338" cy="2016506"/>
            </a:xfrm>
            <a:custGeom>
              <a:avLst/>
              <a:gdLst/>
              <a:ahLst/>
              <a:cxnLst/>
              <a:rect l="l" t="t" r="r" b="b"/>
              <a:pathLst>
                <a:path w="5625338" h="2016506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2007997"/>
                  </a:lnTo>
                  <a:cubicBezTo>
                    <a:pt x="5625338" y="2012696"/>
                    <a:pt x="5621528" y="2016506"/>
                    <a:pt x="561682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5616829" y="1999488"/>
                  </a:lnTo>
                  <a:lnTo>
                    <a:pt x="5616829" y="2007997"/>
                  </a:lnTo>
                  <a:lnTo>
                    <a:pt x="5608320" y="200799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13770864" y="7260336"/>
            <a:ext cx="3913632" cy="1353312"/>
            <a:chOff x="0" y="0"/>
            <a:chExt cx="5218176" cy="1804416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5218176" cy="1804416"/>
            </a:xfrm>
            <a:custGeom>
              <a:avLst/>
              <a:gdLst/>
              <a:ahLst/>
              <a:cxnLst/>
              <a:rect l="l" t="t" r="r" b="b"/>
              <a:pathLst>
                <a:path w="5218176" h="1804416">
                  <a:moveTo>
                    <a:pt x="0" y="0"/>
                  </a:moveTo>
                  <a:lnTo>
                    <a:pt x="5218176" y="0"/>
                  </a:lnTo>
                  <a:lnTo>
                    <a:pt x="52181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48" b="-6348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5218176" cy="18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0A787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Field-ready, real-time, way less cost than our competitors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627383" y="7174487"/>
            <a:ext cx="135131" cy="1525019"/>
            <a:chOff x="0" y="0"/>
            <a:chExt cx="180175" cy="2033359"/>
          </a:xfrm>
        </p:grpSpPr>
        <p:sp>
          <p:nvSpPr>
            <p:cNvPr id="134" name="Freeform 134"/>
            <p:cNvSpPr/>
            <p:nvPr/>
          </p:nvSpPr>
          <p:spPr>
            <a:xfrm>
              <a:off x="16891" y="16891"/>
              <a:ext cx="146304" cy="1999488"/>
            </a:xfrm>
            <a:custGeom>
              <a:avLst/>
              <a:gdLst/>
              <a:ahLst/>
              <a:cxnLst/>
              <a:rect l="l" t="t" r="r" b="b"/>
              <a:pathLst>
                <a:path w="146304" h="1999488">
                  <a:moveTo>
                    <a:pt x="0" y="0"/>
                  </a:moveTo>
                  <a:lnTo>
                    <a:pt x="146304" y="0"/>
                  </a:lnTo>
                  <a:lnTo>
                    <a:pt x="146304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35" name="Freeform 135"/>
            <p:cNvSpPr/>
            <p:nvPr/>
          </p:nvSpPr>
          <p:spPr>
            <a:xfrm>
              <a:off x="0" y="0"/>
              <a:ext cx="180086" cy="2033270"/>
            </a:xfrm>
            <a:custGeom>
              <a:avLst/>
              <a:gdLst/>
              <a:ahLst/>
              <a:cxnLst/>
              <a:rect l="l" t="t" r="r" b="b"/>
              <a:pathLst>
                <a:path w="180086" h="203327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16379"/>
                  </a:lnTo>
                  <a:cubicBezTo>
                    <a:pt x="180086" y="2025777"/>
                    <a:pt x="172466" y="2033270"/>
                    <a:pt x="163195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63195" y="1999488"/>
                  </a:lnTo>
                  <a:lnTo>
                    <a:pt x="163195" y="2016379"/>
                  </a:lnTo>
                  <a:lnTo>
                    <a:pt x="146304" y="201637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640080" y="9107424"/>
            <a:ext cx="17007840" cy="768096"/>
            <a:chOff x="0" y="0"/>
            <a:chExt cx="22677120" cy="1024128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22677120" cy="1062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No existing solution combines mechanical support + real-time sensing + haptic alert in a field-deployable, affordable package.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87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87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OUR SOLUTION - SYSTEM OVERVIEW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two-part system: physical protection with technological integration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9590" y="1901190"/>
            <a:ext cx="8267700" cy="7682484"/>
            <a:chOff x="0" y="0"/>
            <a:chExt cx="11023600" cy="10243312"/>
          </a:xfrm>
        </p:grpSpPr>
        <p:sp>
          <p:nvSpPr>
            <p:cNvPr id="14" name="Freeform 14"/>
            <p:cNvSpPr/>
            <p:nvPr/>
          </p:nvSpPr>
          <p:spPr>
            <a:xfrm>
              <a:off x="25400" y="25400"/>
              <a:ext cx="10972800" cy="10192512"/>
            </a:xfrm>
            <a:custGeom>
              <a:avLst/>
              <a:gdLst/>
              <a:ahLst/>
              <a:cxnLst/>
              <a:rect l="l" t="t" r="r" b="b"/>
              <a:pathLst>
                <a:path w="10972800" h="10192512">
                  <a:moveTo>
                    <a:pt x="0" y="0"/>
                  </a:moveTo>
                  <a:lnTo>
                    <a:pt x="10972800" y="0"/>
                  </a:lnTo>
                  <a:lnTo>
                    <a:pt x="10972800" y="10192512"/>
                  </a:lnTo>
                  <a:lnTo>
                    <a:pt x="0" y="10192512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1023600" cy="10243312"/>
            </a:xfrm>
            <a:custGeom>
              <a:avLst/>
              <a:gdLst/>
              <a:ahLst/>
              <a:cxnLst/>
              <a:rect l="l" t="t" r="r" b="b"/>
              <a:pathLst>
                <a:path w="11023600" h="10243312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10217912"/>
                  </a:lnTo>
                  <a:cubicBezTo>
                    <a:pt x="11023600" y="10231882"/>
                    <a:pt x="11012170" y="10243312"/>
                    <a:pt x="10998200" y="10243312"/>
                  </a:cubicBezTo>
                  <a:lnTo>
                    <a:pt x="25400" y="10243312"/>
                  </a:lnTo>
                  <a:cubicBezTo>
                    <a:pt x="11430" y="10243312"/>
                    <a:pt x="0" y="10231882"/>
                    <a:pt x="0" y="102179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217912"/>
                  </a:lnTo>
                  <a:lnTo>
                    <a:pt x="25400" y="10217912"/>
                  </a:lnTo>
                  <a:lnTo>
                    <a:pt x="25400" y="10192512"/>
                  </a:lnTo>
                  <a:lnTo>
                    <a:pt x="10998200" y="10192512"/>
                  </a:lnTo>
                  <a:lnTo>
                    <a:pt x="10998200" y="10217912"/>
                  </a:lnTo>
                  <a:lnTo>
                    <a:pt x="10972800" y="10217912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5943" y="1907543"/>
            <a:ext cx="8255003" cy="976379"/>
            <a:chOff x="0" y="0"/>
            <a:chExt cx="11006671" cy="1301839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0972800" cy="1267968"/>
            </a:xfrm>
            <a:custGeom>
              <a:avLst/>
              <a:gdLst/>
              <a:ahLst/>
              <a:cxnLst/>
              <a:rect l="l" t="t" r="r" b="b"/>
              <a:pathLst>
                <a:path w="10972800" h="1267968">
                  <a:moveTo>
                    <a:pt x="0" y="0"/>
                  </a:moveTo>
                  <a:lnTo>
                    <a:pt x="10972800" y="0"/>
                  </a:lnTo>
                  <a:lnTo>
                    <a:pt x="109728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1006582" cy="1301750"/>
            </a:xfrm>
            <a:custGeom>
              <a:avLst/>
              <a:gdLst/>
              <a:ahLst/>
              <a:cxnLst/>
              <a:rect l="l" t="t" r="r" b="b"/>
              <a:pathLst>
                <a:path w="11006582" h="130175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84859"/>
                  </a:lnTo>
                  <a:cubicBezTo>
                    <a:pt x="11006582" y="1294257"/>
                    <a:pt x="10998962" y="1301750"/>
                    <a:pt x="109896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989691" y="1267968"/>
                  </a:lnTo>
                  <a:lnTo>
                    <a:pt x="10989691" y="1284859"/>
                  </a:lnTo>
                  <a:lnTo>
                    <a:pt x="10972800" y="128485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68096" y="2011680"/>
            <a:ext cx="640080" cy="640080"/>
            <a:chOff x="0" y="0"/>
            <a:chExt cx="853440" cy="85344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554480" y="2011680"/>
            <a:ext cx="6949440" cy="694944"/>
            <a:chOff x="0" y="0"/>
            <a:chExt cx="926592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65920" cy="926592"/>
            </a:xfrm>
            <a:custGeom>
              <a:avLst/>
              <a:gdLst/>
              <a:ahLst/>
              <a:cxnLst/>
              <a:rect l="l" t="t" r="r" b="b"/>
              <a:pathLst>
                <a:path w="9265920" h="926592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26592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 1 - MECHANICAL FRAME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5399" y="3279143"/>
            <a:ext cx="427739" cy="427739"/>
            <a:chOff x="0" y="0"/>
            <a:chExt cx="570319" cy="570319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68096" y="3291840"/>
            <a:ext cx="402336" cy="402336"/>
            <a:chOff x="0" y="0"/>
            <a:chExt cx="536448" cy="5364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16736" y="3145536"/>
            <a:ext cx="7132320" cy="457200"/>
            <a:chOff x="0" y="0"/>
            <a:chExt cx="9509760" cy="609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Dual Cuff Frame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16736" y="3602736"/>
            <a:ext cx="7132320" cy="548640"/>
            <a:chOff x="0" y="0"/>
            <a:chExt cx="950976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Tapered thigh + calf cuffs for secure fit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5399" y="4541015"/>
            <a:ext cx="427739" cy="427739"/>
            <a:chOff x="0" y="0"/>
            <a:chExt cx="570319" cy="570319"/>
          </a:xfrm>
        </p:grpSpPr>
        <p:sp>
          <p:nvSpPr>
            <p:cNvPr id="37" name="Freeform 37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768096" y="4553712"/>
            <a:ext cx="402336" cy="402336"/>
            <a:chOff x="0" y="0"/>
            <a:chExt cx="536448" cy="5364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6736" y="4407408"/>
            <a:ext cx="7132320" cy="457200"/>
            <a:chOff x="0" y="0"/>
            <a:chExt cx="9509760" cy="609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Aluminum Rods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16736" y="4864608"/>
            <a:ext cx="7132320" cy="548640"/>
            <a:chOff x="0" y="0"/>
            <a:chExt cx="950976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Lateral rigid rods absorb rotational torque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5399" y="5802887"/>
            <a:ext cx="427739" cy="427739"/>
            <a:chOff x="0" y="0"/>
            <a:chExt cx="570319" cy="570319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68096" y="5815584"/>
            <a:ext cx="402336" cy="402336"/>
            <a:chOff x="0" y="0"/>
            <a:chExt cx="536448" cy="5364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16736" y="5669280"/>
            <a:ext cx="7132320" cy="457200"/>
            <a:chOff x="0" y="0"/>
            <a:chExt cx="9509760" cy="6096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Revolute Hinge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16736" y="6126480"/>
            <a:ext cx="7132320" cy="548640"/>
            <a:chOff x="0" y="0"/>
            <a:chExt cx="9509760" cy="7315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Lap-joint pin mirrors knee's natural rotation axis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5399" y="7064759"/>
            <a:ext cx="427739" cy="427739"/>
            <a:chOff x="0" y="0"/>
            <a:chExt cx="570319" cy="570319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768096" y="7077456"/>
            <a:ext cx="402336" cy="402336"/>
            <a:chOff x="0" y="0"/>
            <a:chExt cx="536448" cy="53644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16736" y="6931152"/>
            <a:ext cx="7132320" cy="457200"/>
            <a:chOff x="0" y="0"/>
            <a:chExt cx="9509760" cy="6096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Sliding Slot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16736" y="7388352"/>
            <a:ext cx="7132320" cy="548640"/>
            <a:chOff x="0" y="0"/>
            <a:chExt cx="9509760" cy="7315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Calf rod slot allows free bending, resists twist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55399" y="8326631"/>
            <a:ext cx="427739" cy="427739"/>
            <a:chOff x="0" y="0"/>
            <a:chExt cx="570319" cy="570319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768096" y="8339328"/>
            <a:ext cx="402336" cy="402336"/>
            <a:chOff x="0" y="0"/>
            <a:chExt cx="536448" cy="53644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16736" y="8193024"/>
            <a:ext cx="7132320" cy="457200"/>
            <a:chOff x="0" y="0"/>
            <a:chExt cx="9509760" cy="6096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Strap System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16736" y="8650224"/>
            <a:ext cx="7132320" cy="548640"/>
            <a:chOff x="0" y="0"/>
            <a:chExt cx="9509760" cy="7315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D-Ring Velcro locks frame to bone movement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911847" y="1998983"/>
            <a:ext cx="135131" cy="7523483"/>
            <a:chOff x="0" y="0"/>
            <a:chExt cx="180175" cy="10031311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146304" cy="9997440"/>
            </a:xfrm>
            <a:custGeom>
              <a:avLst/>
              <a:gdLst/>
              <a:ahLst/>
              <a:cxnLst/>
              <a:rect l="l" t="t" r="r" b="b"/>
              <a:pathLst>
                <a:path w="146304" h="9997440">
                  <a:moveTo>
                    <a:pt x="0" y="0"/>
                  </a:moveTo>
                  <a:lnTo>
                    <a:pt x="146304" y="0"/>
                  </a:lnTo>
                  <a:lnTo>
                    <a:pt x="146304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180086" cy="10031222"/>
            </a:xfrm>
            <a:custGeom>
              <a:avLst/>
              <a:gdLst/>
              <a:ahLst/>
              <a:cxnLst/>
              <a:rect l="l" t="t" r="r" b="b"/>
              <a:pathLst>
                <a:path w="180086" h="100312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0014331"/>
                  </a:lnTo>
                  <a:cubicBezTo>
                    <a:pt x="180086" y="10023729"/>
                    <a:pt x="172466" y="10031222"/>
                    <a:pt x="163195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163195" y="9997440"/>
                  </a:lnTo>
                  <a:lnTo>
                    <a:pt x="163195" y="10014331"/>
                  </a:lnTo>
                  <a:lnTo>
                    <a:pt x="146304" y="100143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8631936" y="5120640"/>
            <a:ext cx="694944" cy="694944"/>
            <a:chOff x="0" y="0"/>
            <a:chExt cx="926592" cy="92659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926592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490710" y="1901190"/>
            <a:ext cx="8267700" cy="7682484"/>
            <a:chOff x="0" y="0"/>
            <a:chExt cx="11023600" cy="10243312"/>
          </a:xfrm>
        </p:grpSpPr>
        <p:sp>
          <p:nvSpPr>
            <p:cNvPr id="91" name="Freeform 91"/>
            <p:cNvSpPr/>
            <p:nvPr/>
          </p:nvSpPr>
          <p:spPr>
            <a:xfrm>
              <a:off x="25400" y="25400"/>
              <a:ext cx="10972800" cy="10192512"/>
            </a:xfrm>
            <a:custGeom>
              <a:avLst/>
              <a:gdLst/>
              <a:ahLst/>
              <a:cxnLst/>
              <a:rect l="l" t="t" r="r" b="b"/>
              <a:pathLst>
                <a:path w="10972800" h="10192512">
                  <a:moveTo>
                    <a:pt x="0" y="0"/>
                  </a:moveTo>
                  <a:lnTo>
                    <a:pt x="10972800" y="0"/>
                  </a:lnTo>
                  <a:lnTo>
                    <a:pt x="10972800" y="10192512"/>
                  </a:lnTo>
                  <a:lnTo>
                    <a:pt x="0" y="10192512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id="92" name="Freeform 92"/>
            <p:cNvSpPr/>
            <p:nvPr/>
          </p:nvSpPr>
          <p:spPr>
            <a:xfrm>
              <a:off x="0" y="0"/>
              <a:ext cx="11023600" cy="10243312"/>
            </a:xfrm>
            <a:custGeom>
              <a:avLst/>
              <a:gdLst/>
              <a:ahLst/>
              <a:cxnLst/>
              <a:rect l="l" t="t" r="r" b="b"/>
              <a:pathLst>
                <a:path w="11023600" h="10243312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10217912"/>
                  </a:lnTo>
                  <a:cubicBezTo>
                    <a:pt x="11023600" y="10231882"/>
                    <a:pt x="11012170" y="10243312"/>
                    <a:pt x="10998200" y="10243312"/>
                  </a:cubicBezTo>
                  <a:lnTo>
                    <a:pt x="25400" y="10243312"/>
                  </a:lnTo>
                  <a:cubicBezTo>
                    <a:pt x="11430" y="10243312"/>
                    <a:pt x="0" y="10231882"/>
                    <a:pt x="0" y="102179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217912"/>
                  </a:lnTo>
                  <a:lnTo>
                    <a:pt x="25400" y="10217912"/>
                  </a:lnTo>
                  <a:lnTo>
                    <a:pt x="25400" y="10192512"/>
                  </a:lnTo>
                  <a:lnTo>
                    <a:pt x="10998200" y="10192512"/>
                  </a:lnTo>
                  <a:lnTo>
                    <a:pt x="10998200" y="10217912"/>
                  </a:lnTo>
                  <a:lnTo>
                    <a:pt x="10972800" y="10217912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9497063" y="1907543"/>
            <a:ext cx="8255003" cy="976379"/>
            <a:chOff x="0" y="0"/>
            <a:chExt cx="11006671" cy="1301839"/>
          </a:xfrm>
        </p:grpSpPr>
        <p:sp>
          <p:nvSpPr>
            <p:cNvPr id="94" name="Freeform 94"/>
            <p:cNvSpPr/>
            <p:nvPr/>
          </p:nvSpPr>
          <p:spPr>
            <a:xfrm>
              <a:off x="16891" y="16891"/>
              <a:ext cx="10972800" cy="1267968"/>
            </a:xfrm>
            <a:custGeom>
              <a:avLst/>
              <a:gdLst/>
              <a:ahLst/>
              <a:cxnLst/>
              <a:rect l="l" t="t" r="r" b="b"/>
              <a:pathLst>
                <a:path w="10972800" h="1267968">
                  <a:moveTo>
                    <a:pt x="0" y="0"/>
                  </a:moveTo>
                  <a:lnTo>
                    <a:pt x="10972800" y="0"/>
                  </a:lnTo>
                  <a:lnTo>
                    <a:pt x="109728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11006582" cy="1301750"/>
            </a:xfrm>
            <a:custGeom>
              <a:avLst/>
              <a:gdLst/>
              <a:ahLst/>
              <a:cxnLst/>
              <a:rect l="l" t="t" r="r" b="b"/>
              <a:pathLst>
                <a:path w="11006582" h="130175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84859"/>
                  </a:lnTo>
                  <a:cubicBezTo>
                    <a:pt x="11006582" y="1294257"/>
                    <a:pt x="10998962" y="1301750"/>
                    <a:pt x="109896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989691" y="1267968"/>
                  </a:lnTo>
                  <a:lnTo>
                    <a:pt x="10989691" y="1284859"/>
                  </a:lnTo>
                  <a:lnTo>
                    <a:pt x="10972800" y="128485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9729216" y="2011680"/>
            <a:ext cx="640080" cy="640080"/>
            <a:chOff x="0" y="0"/>
            <a:chExt cx="853440" cy="853440"/>
          </a:xfrm>
        </p:grpSpPr>
        <p:sp>
          <p:nvSpPr>
            <p:cNvPr id="97" name="Freeform 97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0515600" y="2011680"/>
            <a:ext cx="6949440" cy="694944"/>
            <a:chOff x="0" y="0"/>
            <a:chExt cx="9265920" cy="92659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9265920" cy="926592"/>
            </a:xfrm>
            <a:custGeom>
              <a:avLst/>
              <a:gdLst/>
              <a:ahLst/>
              <a:cxnLst/>
              <a:rect l="l" t="t" r="r" b="b"/>
              <a:pathLst>
                <a:path w="9265920" h="926592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926592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 2 - IoT MONITORING BRAIN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679943" y="3279143"/>
            <a:ext cx="427739" cy="427739"/>
            <a:chOff x="0" y="0"/>
            <a:chExt cx="570319" cy="570319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9692640" y="3291840"/>
            <a:ext cx="402336" cy="402336"/>
            <a:chOff x="0" y="0"/>
            <a:chExt cx="536448" cy="53644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241280" y="3145536"/>
            <a:ext cx="7132320" cy="457200"/>
            <a:chOff x="0" y="0"/>
            <a:chExt cx="9509760" cy="6096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Dual MPU-6050 IMU Array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241280" y="3602736"/>
            <a:ext cx="7132320" cy="548640"/>
            <a:chOff x="0" y="0"/>
            <a:chExt cx="9509760" cy="73152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sensor on thigh, one on calf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679943" y="4541015"/>
            <a:ext cx="427739" cy="427739"/>
            <a:chOff x="0" y="0"/>
            <a:chExt cx="570319" cy="570319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9692640" y="4553712"/>
            <a:ext cx="402336" cy="402336"/>
            <a:chOff x="0" y="0"/>
            <a:chExt cx="536448" cy="53644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1280" y="4407408"/>
            <a:ext cx="7132320" cy="457200"/>
            <a:chOff x="0" y="0"/>
            <a:chExt cx="9509760" cy="6096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ESP32 Controller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0241280" y="4864608"/>
            <a:ext cx="7132320" cy="548640"/>
            <a:chOff x="0" y="0"/>
            <a:chExt cx="9509760" cy="73152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Pulls data from both IMUs, calculates parameters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679943" y="5802887"/>
            <a:ext cx="427739" cy="427739"/>
            <a:chOff x="0" y="0"/>
            <a:chExt cx="570319" cy="570319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28" name="Group 128"/>
          <p:cNvGrpSpPr/>
          <p:nvPr/>
        </p:nvGrpSpPr>
        <p:grpSpPr>
          <a:xfrm>
            <a:off x="9692640" y="5815584"/>
            <a:ext cx="402336" cy="402336"/>
            <a:chOff x="0" y="0"/>
            <a:chExt cx="536448" cy="536448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0241280" y="5669280"/>
            <a:ext cx="7132320" cy="457200"/>
            <a:chOff x="0" y="0"/>
            <a:chExt cx="9509760" cy="6096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Differential Processing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0241280" y="6126480"/>
            <a:ext cx="7132320" cy="548640"/>
            <a:chOff x="0" y="0"/>
            <a:chExt cx="9509760" cy="73152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Based on Thigh rotation &amp; Calf rotation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79943" y="7064759"/>
            <a:ext cx="427739" cy="427739"/>
            <a:chOff x="0" y="0"/>
            <a:chExt cx="570319" cy="570319"/>
          </a:xfrm>
        </p:grpSpPr>
        <p:sp>
          <p:nvSpPr>
            <p:cNvPr id="138" name="Freeform 138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39" name="Freeform 139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40" name="Group 140"/>
          <p:cNvGrpSpPr/>
          <p:nvPr/>
        </p:nvGrpSpPr>
        <p:grpSpPr>
          <a:xfrm>
            <a:off x="9692640" y="7077456"/>
            <a:ext cx="402336" cy="402336"/>
            <a:chOff x="0" y="0"/>
            <a:chExt cx="536448" cy="536448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241280" y="6931152"/>
            <a:ext cx="7132320" cy="457200"/>
            <a:chOff x="0" y="0"/>
            <a:chExt cx="9509760" cy="60960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Haptic Alert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0241280" y="7388352"/>
            <a:ext cx="7132320" cy="548640"/>
            <a:chOff x="0" y="0"/>
            <a:chExt cx="9509760" cy="73152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ERM motor fires when angle &gt; Red Zone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679943" y="8326631"/>
            <a:ext cx="427739" cy="427739"/>
            <a:chOff x="0" y="0"/>
            <a:chExt cx="570319" cy="570319"/>
          </a:xfrm>
        </p:grpSpPr>
        <p:sp>
          <p:nvSpPr>
            <p:cNvPr id="150" name="Freeform 150"/>
            <p:cNvSpPr/>
            <p:nvPr/>
          </p:nvSpPr>
          <p:spPr>
            <a:xfrm>
              <a:off x="16891" y="16891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51" name="Freeform 151"/>
            <p:cNvSpPr/>
            <p:nvPr/>
          </p:nvSpPr>
          <p:spPr>
            <a:xfrm>
              <a:off x="0" y="0"/>
              <a:ext cx="570230" cy="570230"/>
            </a:xfrm>
            <a:custGeom>
              <a:avLst/>
              <a:gdLst/>
              <a:ahLst/>
              <a:cxnLst/>
              <a:rect l="l" t="t" r="r" b="b"/>
              <a:pathLst>
                <a:path w="570230" h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52" name="Group 152"/>
          <p:cNvGrpSpPr/>
          <p:nvPr/>
        </p:nvGrpSpPr>
        <p:grpSpPr>
          <a:xfrm>
            <a:off x="9692640" y="8339328"/>
            <a:ext cx="402336" cy="402336"/>
            <a:chOff x="0" y="0"/>
            <a:chExt cx="536448" cy="536448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4" name="TextBox 154"/>
            <p:cNvSpPr txBox="1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0241280" y="8193024"/>
            <a:ext cx="7132320" cy="457200"/>
            <a:chOff x="0" y="0"/>
            <a:chExt cx="9509760" cy="60960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9509760" cy="609600"/>
            </a:xfrm>
            <a:custGeom>
              <a:avLst/>
              <a:gdLst/>
              <a:ahLst/>
              <a:cxnLst/>
              <a:rect l="l" t="t" r="r" b="b"/>
              <a:pathLst>
                <a:path w="9509760" h="60960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19050"/>
              <a:ext cx="9509760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Bluetooth Logging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0241280" y="8650224"/>
            <a:ext cx="7132320" cy="548640"/>
            <a:chOff x="0" y="0"/>
            <a:chExt cx="9509760" cy="731520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Streams movement data to smartphone/coach app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MECHANICAL DESIGN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External skeleton engineered to protect without restricting natural athletic movement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8477" y="1910077"/>
            <a:ext cx="8249917" cy="3220717"/>
            <a:chOff x="0" y="0"/>
            <a:chExt cx="10999889" cy="4294289"/>
          </a:xfrm>
        </p:grpSpPr>
        <p:sp>
          <p:nvSpPr>
            <p:cNvPr id="14" name="Freeform 14"/>
            <p:cNvSpPr/>
            <p:nvPr/>
          </p:nvSpPr>
          <p:spPr>
            <a:xfrm>
              <a:off x="13589" y="13589"/>
              <a:ext cx="10972800" cy="4267200"/>
            </a:xfrm>
            <a:custGeom>
              <a:avLst/>
              <a:gdLst/>
              <a:ahLst/>
              <a:cxnLst/>
              <a:rect l="l" t="t" r="r" b="b"/>
              <a:pathLst>
                <a:path w="10972800" h="42672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999978" cy="4294378"/>
            </a:xfrm>
            <a:custGeom>
              <a:avLst/>
              <a:gdLst/>
              <a:ahLst/>
              <a:cxnLst/>
              <a:rect l="l" t="t" r="r" b="b"/>
              <a:pathLst>
                <a:path w="10999978" h="42943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4280789"/>
                  </a:lnTo>
                  <a:cubicBezTo>
                    <a:pt x="10999978" y="4288282"/>
                    <a:pt x="10993882" y="4294378"/>
                    <a:pt x="10986389" y="4294378"/>
                  </a:cubicBezTo>
                  <a:lnTo>
                    <a:pt x="13589" y="4294378"/>
                  </a:lnTo>
                  <a:cubicBezTo>
                    <a:pt x="6096" y="4294378"/>
                    <a:pt x="0" y="4288282"/>
                    <a:pt x="0" y="42807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280789"/>
                  </a:lnTo>
                  <a:lnTo>
                    <a:pt x="13589" y="4280789"/>
                  </a:lnTo>
                  <a:lnTo>
                    <a:pt x="13589" y="4267200"/>
                  </a:lnTo>
                  <a:lnTo>
                    <a:pt x="10986389" y="4267200"/>
                  </a:lnTo>
                  <a:lnTo>
                    <a:pt x="10986389" y="4280789"/>
                  </a:lnTo>
                  <a:lnTo>
                    <a:pt x="10972800" y="428078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5943" y="1907543"/>
            <a:ext cx="8255003" cy="153419"/>
            <a:chOff x="0" y="0"/>
            <a:chExt cx="11006671" cy="204559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0972800" cy="170688"/>
            </a:xfrm>
            <a:custGeom>
              <a:avLst/>
              <a:gdLst/>
              <a:ahLst/>
              <a:cxnLst/>
              <a:rect l="l" t="t" r="r" b="b"/>
              <a:pathLst>
                <a:path w="10972800" h="170688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1006582" cy="204472"/>
            </a:xfrm>
            <a:custGeom>
              <a:avLst/>
              <a:gdLst/>
              <a:ahLst/>
              <a:cxnLst/>
              <a:rect l="l" t="t" r="r" b="b"/>
              <a:pathLst>
                <a:path w="11006582" h="20447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87579"/>
                  </a:lnTo>
                  <a:cubicBezTo>
                    <a:pt x="11006582" y="196977"/>
                    <a:pt x="10998962" y="204470"/>
                    <a:pt x="10989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989691" y="170688"/>
                  </a:lnTo>
                  <a:lnTo>
                    <a:pt x="10989691" y="187579"/>
                  </a:lnTo>
                  <a:lnTo>
                    <a:pt x="10972800" y="1875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22960" y="2249424"/>
            <a:ext cx="694944" cy="694944"/>
            <a:chOff x="0" y="0"/>
            <a:chExt cx="926592" cy="92659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682496" y="2194560"/>
            <a:ext cx="6858000" cy="822960"/>
            <a:chOff x="0" y="0"/>
            <a:chExt cx="9144000" cy="1097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0" cy="1097280"/>
            </a:xfrm>
            <a:custGeom>
              <a:avLst/>
              <a:gdLst/>
              <a:ahLst/>
              <a:cxnLst/>
              <a:rect l="l" t="t" r="r" b="b"/>
              <a:pathLst>
                <a:path w="9144000" h="109728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1440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Dual Tapered Cuff Frame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2960" y="3054096"/>
            <a:ext cx="7680960" cy="1828800"/>
            <a:chOff x="0" y="0"/>
            <a:chExt cx="10241280" cy="2438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241280" cy="2438400"/>
            </a:xfrm>
            <a:custGeom>
              <a:avLst/>
              <a:gdLst/>
              <a:ahLst/>
              <a:cxnLst/>
              <a:rect l="l" t="t" r="r" b="b"/>
              <a:pathLst>
                <a:path w="10241280" h="2438400">
                  <a:moveTo>
                    <a:pt x="0" y="0"/>
                  </a:moveTo>
                  <a:lnTo>
                    <a:pt x="10241280" y="0"/>
                  </a:lnTo>
                  <a:lnTo>
                    <a:pt x="10241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241280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cuffs (Thigh &amp; Calf) shaped wider at top, narrower at base - mirroring leg anatomy for anti-slip fit. Prevents the brace from sliding during dynamic movement.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33837" y="1910077"/>
            <a:ext cx="8615677" cy="3220717"/>
            <a:chOff x="0" y="0"/>
            <a:chExt cx="11487569" cy="4294289"/>
          </a:xfrm>
        </p:grpSpPr>
        <p:sp>
          <p:nvSpPr>
            <p:cNvPr id="28" name="Freeform 28"/>
            <p:cNvSpPr/>
            <p:nvPr/>
          </p:nvSpPr>
          <p:spPr>
            <a:xfrm>
              <a:off x="13589" y="13589"/>
              <a:ext cx="11460480" cy="4267200"/>
            </a:xfrm>
            <a:custGeom>
              <a:avLst/>
              <a:gdLst/>
              <a:ahLst/>
              <a:cxnLst/>
              <a:rect l="l" t="t" r="r" b="b"/>
              <a:pathLst>
                <a:path w="11460480" h="4267200">
                  <a:moveTo>
                    <a:pt x="0" y="0"/>
                  </a:moveTo>
                  <a:lnTo>
                    <a:pt x="11460480" y="0"/>
                  </a:lnTo>
                  <a:lnTo>
                    <a:pt x="114604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1487658" cy="4294378"/>
            </a:xfrm>
            <a:custGeom>
              <a:avLst/>
              <a:gdLst/>
              <a:ahLst/>
              <a:cxnLst/>
              <a:rect l="l" t="t" r="r" b="b"/>
              <a:pathLst>
                <a:path w="11487658" h="4294378">
                  <a:moveTo>
                    <a:pt x="13589" y="0"/>
                  </a:moveTo>
                  <a:lnTo>
                    <a:pt x="11474069" y="0"/>
                  </a:lnTo>
                  <a:cubicBezTo>
                    <a:pt x="11481562" y="0"/>
                    <a:pt x="11487658" y="6096"/>
                    <a:pt x="11487658" y="13589"/>
                  </a:cubicBezTo>
                  <a:lnTo>
                    <a:pt x="11487658" y="4280789"/>
                  </a:lnTo>
                  <a:cubicBezTo>
                    <a:pt x="11487658" y="4288282"/>
                    <a:pt x="11481562" y="4294378"/>
                    <a:pt x="11474069" y="4294378"/>
                  </a:cubicBezTo>
                  <a:lnTo>
                    <a:pt x="13589" y="4294378"/>
                  </a:lnTo>
                  <a:cubicBezTo>
                    <a:pt x="6096" y="4294378"/>
                    <a:pt x="0" y="4288282"/>
                    <a:pt x="0" y="428078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280789"/>
                  </a:lnTo>
                  <a:lnTo>
                    <a:pt x="13589" y="4280789"/>
                  </a:lnTo>
                  <a:lnTo>
                    <a:pt x="13589" y="4267200"/>
                  </a:lnTo>
                  <a:lnTo>
                    <a:pt x="11474069" y="4267200"/>
                  </a:lnTo>
                  <a:lnTo>
                    <a:pt x="11474069" y="4280789"/>
                  </a:lnTo>
                  <a:lnTo>
                    <a:pt x="11460480" y="4280789"/>
                  </a:lnTo>
                  <a:lnTo>
                    <a:pt x="11460480" y="13589"/>
                  </a:lnTo>
                  <a:lnTo>
                    <a:pt x="11474069" y="13589"/>
                  </a:lnTo>
                  <a:lnTo>
                    <a:pt x="11474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131303" y="1907543"/>
            <a:ext cx="8620763" cy="153419"/>
            <a:chOff x="0" y="0"/>
            <a:chExt cx="11494351" cy="204559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11460481" cy="170688"/>
            </a:xfrm>
            <a:custGeom>
              <a:avLst/>
              <a:gdLst/>
              <a:ahLst/>
              <a:cxnLst/>
              <a:rect l="l" t="t" r="r" b="b"/>
              <a:pathLst>
                <a:path w="11460481" h="170688">
                  <a:moveTo>
                    <a:pt x="0" y="0"/>
                  </a:moveTo>
                  <a:lnTo>
                    <a:pt x="11460481" y="0"/>
                  </a:lnTo>
                  <a:lnTo>
                    <a:pt x="114604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11494262" cy="204472"/>
            </a:xfrm>
            <a:custGeom>
              <a:avLst/>
              <a:gdLst/>
              <a:ahLst/>
              <a:cxnLst/>
              <a:rect l="l" t="t" r="r" b="b"/>
              <a:pathLst>
                <a:path w="11494262" h="20447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87579"/>
                  </a:lnTo>
                  <a:cubicBezTo>
                    <a:pt x="11494262" y="196977"/>
                    <a:pt x="11486642" y="204470"/>
                    <a:pt x="114773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77372" y="170688"/>
                  </a:lnTo>
                  <a:lnTo>
                    <a:pt x="11477372" y="187579"/>
                  </a:lnTo>
                  <a:lnTo>
                    <a:pt x="11460480" y="18757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418320" y="2249424"/>
            <a:ext cx="694944" cy="694944"/>
            <a:chOff x="0" y="0"/>
            <a:chExt cx="926592" cy="926592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0277856" y="2194560"/>
            <a:ext cx="7223760" cy="822960"/>
            <a:chOff x="0" y="0"/>
            <a:chExt cx="9631680" cy="10972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631680" cy="1097280"/>
            </a:xfrm>
            <a:custGeom>
              <a:avLst/>
              <a:gdLst/>
              <a:ahLst/>
              <a:cxnLst/>
              <a:rect l="l" t="t" r="r" b="b"/>
              <a:pathLst>
                <a:path w="9631680" h="1097280">
                  <a:moveTo>
                    <a:pt x="0" y="0"/>
                  </a:moveTo>
                  <a:lnTo>
                    <a:pt x="9631680" y="0"/>
                  </a:lnTo>
                  <a:lnTo>
                    <a:pt x="9631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035" b="-12103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963168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Lateral Aluminum Rods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18320" y="3054096"/>
            <a:ext cx="8046720" cy="1828800"/>
            <a:chOff x="0" y="0"/>
            <a:chExt cx="10728960" cy="2438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28960" cy="2438400"/>
            </a:xfrm>
            <a:custGeom>
              <a:avLst/>
              <a:gdLst/>
              <a:ahLst/>
              <a:cxnLst/>
              <a:rect l="l" t="t" r="r" b="b"/>
              <a:pathLst>
                <a:path w="10728960" h="2438400">
                  <a:moveTo>
                    <a:pt x="0" y="0"/>
                  </a:moveTo>
                  <a:lnTo>
                    <a:pt x="10728960" y="0"/>
                  </a:lnTo>
                  <a:lnTo>
                    <a:pt x="10728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728960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Rigid rods mounted on the lateral (outer) side. Thigh rod fixed via two bolts for a solid femoral anchor. Calf rod secured through a sliding oval slot.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8477" y="5476237"/>
            <a:ext cx="5506717" cy="4500877"/>
            <a:chOff x="0" y="0"/>
            <a:chExt cx="7342289" cy="6001169"/>
          </a:xfrm>
        </p:grpSpPr>
        <p:sp>
          <p:nvSpPr>
            <p:cNvPr id="42" name="Freeform 42"/>
            <p:cNvSpPr/>
            <p:nvPr/>
          </p:nvSpPr>
          <p:spPr>
            <a:xfrm>
              <a:off x="13589" y="13589"/>
              <a:ext cx="7315200" cy="5974080"/>
            </a:xfrm>
            <a:custGeom>
              <a:avLst/>
              <a:gdLst/>
              <a:ahLst/>
              <a:cxnLst/>
              <a:rect l="l" t="t" r="r" b="b"/>
              <a:pathLst>
                <a:path w="7315200" h="5974080">
                  <a:moveTo>
                    <a:pt x="0" y="0"/>
                  </a:moveTo>
                  <a:lnTo>
                    <a:pt x="7315200" y="0"/>
                  </a:lnTo>
                  <a:lnTo>
                    <a:pt x="7315200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7342378" cy="6001258"/>
            </a:xfrm>
            <a:custGeom>
              <a:avLst/>
              <a:gdLst/>
              <a:ahLst/>
              <a:cxnLst/>
              <a:rect l="l" t="t" r="r" b="b"/>
              <a:pathLst>
                <a:path w="7342378" h="6001258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987669"/>
                  </a:lnTo>
                  <a:cubicBezTo>
                    <a:pt x="7342378" y="5995162"/>
                    <a:pt x="7336282" y="6001258"/>
                    <a:pt x="7328789" y="6001258"/>
                  </a:cubicBezTo>
                  <a:lnTo>
                    <a:pt x="13589" y="6001258"/>
                  </a:lnTo>
                  <a:cubicBezTo>
                    <a:pt x="6096" y="6001258"/>
                    <a:pt x="0" y="5995162"/>
                    <a:pt x="0" y="59876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987669"/>
                  </a:lnTo>
                  <a:lnTo>
                    <a:pt x="13589" y="5987669"/>
                  </a:lnTo>
                  <a:lnTo>
                    <a:pt x="13589" y="5974080"/>
                  </a:lnTo>
                  <a:lnTo>
                    <a:pt x="7328789" y="5974080"/>
                  </a:lnTo>
                  <a:lnTo>
                    <a:pt x="7328789" y="5987669"/>
                  </a:lnTo>
                  <a:lnTo>
                    <a:pt x="7315200" y="5987669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535943" y="5473703"/>
            <a:ext cx="5511803" cy="153419"/>
            <a:chOff x="0" y="0"/>
            <a:chExt cx="7349071" cy="204559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822960" y="5815584"/>
            <a:ext cx="694944" cy="694944"/>
            <a:chOff x="0" y="0"/>
            <a:chExt cx="926592" cy="926592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682496" y="5760720"/>
            <a:ext cx="4114800" cy="822960"/>
            <a:chOff x="0" y="0"/>
            <a:chExt cx="5486400" cy="10972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486400" cy="1097280"/>
            </a:xfrm>
            <a:custGeom>
              <a:avLst/>
              <a:gdLst/>
              <a:ahLst/>
              <a:cxnLst/>
              <a:rect l="l" t="t" r="r" b="b"/>
              <a:pathLst>
                <a:path w="5486400" h="109728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54864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Revolute Hinge (Lap Joint)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22960" y="6620256"/>
            <a:ext cx="4937760" cy="3108960"/>
            <a:chOff x="0" y="0"/>
            <a:chExt cx="6583680" cy="41452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583680" cy="4145280"/>
            </a:xfrm>
            <a:custGeom>
              <a:avLst/>
              <a:gdLst/>
              <a:ahLst/>
              <a:cxnLst/>
              <a:rect l="l" t="t" r="r" b="b"/>
              <a:pathLst>
                <a:path w="6583680" h="4145280">
                  <a:moveTo>
                    <a:pt x="0" y="0"/>
                  </a:moveTo>
                  <a:lnTo>
                    <a:pt x="6583680" y="0"/>
                  </a:lnTo>
                  <a:lnTo>
                    <a:pt x="658368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783" r="-3078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6583680" cy="4183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rods joined at the knee via a lapped pin joint, mimicking the knee's primary flexion axis. Metal stiffness resists the twisting forces that cause ACL tears.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573517" y="5476237"/>
            <a:ext cx="5506717" cy="4500877"/>
            <a:chOff x="0" y="0"/>
            <a:chExt cx="7342289" cy="6001169"/>
          </a:xfrm>
        </p:grpSpPr>
        <p:sp>
          <p:nvSpPr>
            <p:cNvPr id="56" name="Freeform 56"/>
            <p:cNvSpPr/>
            <p:nvPr/>
          </p:nvSpPr>
          <p:spPr>
            <a:xfrm>
              <a:off x="13589" y="13589"/>
              <a:ext cx="7315200" cy="5974080"/>
            </a:xfrm>
            <a:custGeom>
              <a:avLst/>
              <a:gdLst/>
              <a:ahLst/>
              <a:cxnLst/>
              <a:rect l="l" t="t" r="r" b="b"/>
              <a:pathLst>
                <a:path w="7315200" h="5974080">
                  <a:moveTo>
                    <a:pt x="0" y="0"/>
                  </a:moveTo>
                  <a:lnTo>
                    <a:pt x="7315200" y="0"/>
                  </a:lnTo>
                  <a:lnTo>
                    <a:pt x="7315200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7342378" cy="6001258"/>
            </a:xfrm>
            <a:custGeom>
              <a:avLst/>
              <a:gdLst/>
              <a:ahLst/>
              <a:cxnLst/>
              <a:rect l="l" t="t" r="r" b="b"/>
              <a:pathLst>
                <a:path w="7342378" h="6001258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987669"/>
                  </a:lnTo>
                  <a:cubicBezTo>
                    <a:pt x="7342378" y="5995162"/>
                    <a:pt x="7336282" y="6001258"/>
                    <a:pt x="7328789" y="6001258"/>
                  </a:cubicBezTo>
                  <a:lnTo>
                    <a:pt x="13589" y="6001258"/>
                  </a:lnTo>
                  <a:cubicBezTo>
                    <a:pt x="6096" y="6001258"/>
                    <a:pt x="0" y="5995162"/>
                    <a:pt x="0" y="59876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987669"/>
                  </a:lnTo>
                  <a:lnTo>
                    <a:pt x="13589" y="5987669"/>
                  </a:lnTo>
                  <a:lnTo>
                    <a:pt x="13589" y="5974080"/>
                  </a:lnTo>
                  <a:lnTo>
                    <a:pt x="7328789" y="5974080"/>
                  </a:lnTo>
                  <a:lnTo>
                    <a:pt x="7328789" y="5987669"/>
                  </a:lnTo>
                  <a:lnTo>
                    <a:pt x="7315200" y="5987669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6570983" y="5473703"/>
            <a:ext cx="5511803" cy="153419"/>
            <a:chOff x="0" y="0"/>
            <a:chExt cx="7349071" cy="204559"/>
          </a:xfrm>
        </p:grpSpPr>
        <p:sp>
          <p:nvSpPr>
            <p:cNvPr id="59" name="Freeform 59"/>
            <p:cNvSpPr/>
            <p:nvPr/>
          </p:nvSpPr>
          <p:spPr>
            <a:xfrm>
              <a:off x="16891" y="16891"/>
              <a:ext cx="7315200" cy="170688"/>
            </a:xfrm>
            <a:custGeom>
              <a:avLst/>
              <a:gdLst/>
              <a:ahLst/>
              <a:cxnLst/>
              <a:rect l="l" t="t" r="r" b="b"/>
              <a:pathLst>
                <a:path w="7315200" h="170688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0" y="0"/>
              <a:ext cx="7348982" cy="204472"/>
            </a:xfrm>
            <a:custGeom>
              <a:avLst/>
              <a:gdLst/>
              <a:ahLst/>
              <a:cxnLst/>
              <a:rect l="l" t="t" r="r" b="b"/>
              <a:pathLst>
                <a:path w="7348982" h="20447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858000" y="5815584"/>
            <a:ext cx="694944" cy="694944"/>
            <a:chOff x="0" y="0"/>
            <a:chExt cx="926592" cy="926592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7717536" y="5760720"/>
            <a:ext cx="4114800" cy="822960"/>
            <a:chOff x="0" y="0"/>
            <a:chExt cx="5486400" cy="10972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486400" cy="1097280"/>
            </a:xfrm>
            <a:custGeom>
              <a:avLst/>
              <a:gdLst/>
              <a:ahLst/>
              <a:cxnLst/>
              <a:rect l="l" t="t" r="r" b="b"/>
              <a:pathLst>
                <a:path w="5486400" h="109728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4864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Kinematic Sliding Slot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858000" y="6620256"/>
            <a:ext cx="4937760" cy="3108960"/>
            <a:chOff x="0" y="0"/>
            <a:chExt cx="6583680" cy="41452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583680" cy="4145280"/>
            </a:xfrm>
            <a:custGeom>
              <a:avLst/>
              <a:gdLst/>
              <a:ahLst/>
              <a:cxnLst/>
              <a:rect l="l" t="t" r="r" b="b"/>
              <a:pathLst>
                <a:path w="6583680" h="4145280">
                  <a:moveTo>
                    <a:pt x="0" y="0"/>
                  </a:moveTo>
                  <a:lnTo>
                    <a:pt x="6583680" y="0"/>
                  </a:lnTo>
                  <a:lnTo>
                    <a:pt x="658368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783" r="-3078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6583680" cy="4183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calf rod's bolt sits in a vertical oval slot - allows free knee bending (flexion) while maintaining constant lateral and rotational guidance of the lower leg.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608557" y="5476237"/>
            <a:ext cx="5140957" cy="4500877"/>
            <a:chOff x="0" y="0"/>
            <a:chExt cx="6854609" cy="6001169"/>
          </a:xfrm>
        </p:grpSpPr>
        <p:sp>
          <p:nvSpPr>
            <p:cNvPr id="70" name="Freeform 70"/>
            <p:cNvSpPr/>
            <p:nvPr/>
          </p:nvSpPr>
          <p:spPr>
            <a:xfrm>
              <a:off x="13589" y="13589"/>
              <a:ext cx="6827520" cy="5974080"/>
            </a:xfrm>
            <a:custGeom>
              <a:avLst/>
              <a:gdLst/>
              <a:ahLst/>
              <a:cxnLst/>
              <a:rect l="l" t="t" r="r" b="b"/>
              <a:pathLst>
                <a:path w="6827520" h="5974080">
                  <a:moveTo>
                    <a:pt x="0" y="0"/>
                  </a:moveTo>
                  <a:lnTo>
                    <a:pt x="6827520" y="0"/>
                  </a:lnTo>
                  <a:lnTo>
                    <a:pt x="6827520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6854698" cy="6001258"/>
            </a:xfrm>
            <a:custGeom>
              <a:avLst/>
              <a:gdLst/>
              <a:ahLst/>
              <a:cxnLst/>
              <a:rect l="l" t="t" r="r" b="b"/>
              <a:pathLst>
                <a:path w="6854698" h="6001258">
                  <a:moveTo>
                    <a:pt x="13589" y="0"/>
                  </a:moveTo>
                  <a:lnTo>
                    <a:pt x="6841109" y="0"/>
                  </a:lnTo>
                  <a:cubicBezTo>
                    <a:pt x="6848601" y="0"/>
                    <a:pt x="6854698" y="6096"/>
                    <a:pt x="6854698" y="13589"/>
                  </a:cubicBezTo>
                  <a:lnTo>
                    <a:pt x="6854698" y="5987669"/>
                  </a:lnTo>
                  <a:cubicBezTo>
                    <a:pt x="6854698" y="5995162"/>
                    <a:pt x="6848601" y="6001258"/>
                    <a:pt x="6841109" y="6001258"/>
                  </a:cubicBezTo>
                  <a:lnTo>
                    <a:pt x="13589" y="6001258"/>
                  </a:lnTo>
                  <a:cubicBezTo>
                    <a:pt x="6096" y="6001258"/>
                    <a:pt x="0" y="5995162"/>
                    <a:pt x="0" y="59876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987669"/>
                  </a:lnTo>
                  <a:lnTo>
                    <a:pt x="13589" y="5987669"/>
                  </a:lnTo>
                  <a:lnTo>
                    <a:pt x="13589" y="5974080"/>
                  </a:lnTo>
                  <a:lnTo>
                    <a:pt x="6841109" y="5974080"/>
                  </a:lnTo>
                  <a:lnTo>
                    <a:pt x="6841109" y="5987669"/>
                  </a:lnTo>
                  <a:lnTo>
                    <a:pt x="6827520" y="5987669"/>
                  </a:lnTo>
                  <a:lnTo>
                    <a:pt x="6827520" y="13589"/>
                  </a:lnTo>
                  <a:lnTo>
                    <a:pt x="6841109" y="13589"/>
                  </a:lnTo>
                  <a:lnTo>
                    <a:pt x="684110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2606023" y="5473703"/>
            <a:ext cx="5146043" cy="153419"/>
            <a:chOff x="0" y="0"/>
            <a:chExt cx="6861391" cy="204559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6827520" cy="170688"/>
            </a:xfrm>
            <a:custGeom>
              <a:avLst/>
              <a:gdLst/>
              <a:ahLst/>
              <a:cxnLst/>
              <a:rect l="l" t="t" r="r" b="b"/>
              <a:pathLst>
                <a:path w="6827520" h="170688">
                  <a:moveTo>
                    <a:pt x="0" y="0"/>
                  </a:moveTo>
                  <a:lnTo>
                    <a:pt x="6827520" y="0"/>
                  </a:lnTo>
                  <a:lnTo>
                    <a:pt x="68275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A7870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6861301" cy="204472"/>
            </a:xfrm>
            <a:custGeom>
              <a:avLst/>
              <a:gdLst/>
              <a:ahLst/>
              <a:cxnLst/>
              <a:rect l="l" t="t" r="r" b="b"/>
              <a:pathLst>
                <a:path w="6861301" h="204472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87579"/>
                  </a:lnTo>
                  <a:cubicBezTo>
                    <a:pt x="6861301" y="196977"/>
                    <a:pt x="6853682" y="204470"/>
                    <a:pt x="68444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6844411" y="170688"/>
                  </a:lnTo>
                  <a:lnTo>
                    <a:pt x="6844411" y="187579"/>
                  </a:lnTo>
                  <a:lnTo>
                    <a:pt x="6827520" y="1875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87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2893040" y="5815584"/>
            <a:ext cx="694944" cy="694944"/>
            <a:chOff x="0" y="0"/>
            <a:chExt cx="926592" cy="926592"/>
          </a:xfrm>
        </p:grpSpPr>
        <p:sp>
          <p:nvSpPr>
            <p:cNvPr id="76" name="Freeform 76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13752576" y="5760720"/>
            <a:ext cx="3749040" cy="822960"/>
            <a:chOff x="0" y="0"/>
            <a:chExt cx="4998720" cy="10972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5" b="-3876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4998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D-Ring Velcro Strap System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893040" y="6620256"/>
            <a:ext cx="4572000" cy="3108960"/>
            <a:chOff x="0" y="0"/>
            <a:chExt cx="6096000" cy="41452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096000" cy="4145280"/>
            </a:xfrm>
            <a:custGeom>
              <a:avLst/>
              <a:gdLst/>
              <a:ahLst/>
              <a:cxnLst/>
              <a:rect l="l" t="t" r="r" b="b"/>
              <a:pathLst>
                <a:path w="6096000" h="414528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r="-37246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096000" cy="4183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Loop-back Velcro straps threaded through integrated D-ring slots. Creates high-pressure compression lock ensuring sensors stay perfectly synced with bone movement.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87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87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IOT &amp; SENSING ARCHITECTURE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the system reads, processes, and reacts to dangerous rotation in milliseconds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9590" y="1992630"/>
            <a:ext cx="3183636" cy="4610100"/>
            <a:chOff x="0" y="0"/>
            <a:chExt cx="4244848" cy="6146800"/>
          </a:xfrm>
        </p:grpSpPr>
        <p:sp>
          <p:nvSpPr>
            <p:cNvPr id="14" name="Freeform 14"/>
            <p:cNvSpPr/>
            <p:nvPr/>
          </p:nvSpPr>
          <p:spPr>
            <a:xfrm>
              <a:off x="25400" y="25400"/>
              <a:ext cx="4194048" cy="6096000"/>
            </a:xfrm>
            <a:custGeom>
              <a:avLst/>
              <a:gdLst/>
              <a:ahLst/>
              <a:cxnLst/>
              <a:rect l="l" t="t" r="r" b="b"/>
              <a:pathLst>
                <a:path w="4194048" h="6096000">
                  <a:moveTo>
                    <a:pt x="0" y="0"/>
                  </a:moveTo>
                  <a:lnTo>
                    <a:pt x="4194048" y="0"/>
                  </a:lnTo>
                  <a:lnTo>
                    <a:pt x="4194048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244848" cy="6146800"/>
            </a:xfrm>
            <a:custGeom>
              <a:avLst/>
              <a:gdLst/>
              <a:ahLst/>
              <a:cxnLst/>
              <a:rect l="l" t="t" r="r" b="b"/>
              <a:pathLst>
                <a:path w="4244848" h="6146800">
                  <a:moveTo>
                    <a:pt x="25400" y="0"/>
                  </a:moveTo>
                  <a:lnTo>
                    <a:pt x="4219448" y="0"/>
                  </a:lnTo>
                  <a:cubicBezTo>
                    <a:pt x="4233418" y="0"/>
                    <a:pt x="4244848" y="11430"/>
                    <a:pt x="4244848" y="25400"/>
                  </a:cubicBezTo>
                  <a:lnTo>
                    <a:pt x="4244848" y="6121400"/>
                  </a:lnTo>
                  <a:cubicBezTo>
                    <a:pt x="4244848" y="6135370"/>
                    <a:pt x="4233418" y="6146800"/>
                    <a:pt x="4219448" y="6146800"/>
                  </a:cubicBezTo>
                  <a:lnTo>
                    <a:pt x="25400" y="6146800"/>
                  </a:lnTo>
                  <a:cubicBezTo>
                    <a:pt x="11430" y="6146800"/>
                    <a:pt x="0" y="6135370"/>
                    <a:pt x="0" y="6121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121400"/>
                  </a:lnTo>
                  <a:lnTo>
                    <a:pt x="25400" y="6121400"/>
                  </a:lnTo>
                  <a:lnTo>
                    <a:pt x="25400" y="6096000"/>
                  </a:lnTo>
                  <a:lnTo>
                    <a:pt x="4219448" y="6096000"/>
                  </a:lnTo>
                  <a:lnTo>
                    <a:pt x="4219448" y="6121400"/>
                  </a:lnTo>
                  <a:lnTo>
                    <a:pt x="4194048" y="6121400"/>
                  </a:lnTo>
                  <a:lnTo>
                    <a:pt x="4194048" y="25400"/>
                  </a:lnTo>
                  <a:lnTo>
                    <a:pt x="4219448" y="25400"/>
                  </a:lnTo>
                  <a:lnTo>
                    <a:pt x="42194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5943" y="1998983"/>
            <a:ext cx="3170939" cy="171707"/>
            <a:chOff x="0" y="0"/>
            <a:chExt cx="4227919" cy="228943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4194048" cy="195072"/>
            </a:xfrm>
            <a:custGeom>
              <a:avLst/>
              <a:gdLst/>
              <a:ahLst/>
              <a:cxnLst/>
              <a:rect l="l" t="t" r="r" b="b"/>
              <a:pathLst>
                <a:path w="4194048" h="195072">
                  <a:moveTo>
                    <a:pt x="0" y="0"/>
                  </a:moveTo>
                  <a:lnTo>
                    <a:pt x="4194048" y="0"/>
                  </a:lnTo>
                  <a:lnTo>
                    <a:pt x="4194048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227830" cy="228856"/>
            </a:xfrm>
            <a:custGeom>
              <a:avLst/>
              <a:gdLst/>
              <a:ahLst/>
              <a:cxnLst/>
              <a:rect l="l" t="t" r="r" b="b"/>
              <a:pathLst>
                <a:path w="4227830" h="228856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11963"/>
                  </a:lnTo>
                  <a:cubicBezTo>
                    <a:pt x="4227830" y="221361"/>
                    <a:pt x="4220210" y="228854"/>
                    <a:pt x="4210939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210939" y="195072"/>
                  </a:lnTo>
                  <a:lnTo>
                    <a:pt x="4210939" y="211963"/>
                  </a:lnTo>
                  <a:lnTo>
                    <a:pt x="4194048" y="211963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682496" y="2377440"/>
            <a:ext cx="877824" cy="877824"/>
            <a:chOff x="0" y="0"/>
            <a:chExt cx="1170432" cy="117043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94944" y="3383280"/>
            <a:ext cx="2852928" cy="877824"/>
            <a:chOff x="0" y="0"/>
            <a:chExt cx="3803904" cy="117043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03904" cy="1170432"/>
            </a:xfrm>
            <a:custGeom>
              <a:avLst/>
              <a:gdLst/>
              <a:ahLst/>
              <a:cxnLst/>
              <a:rect l="l" t="t" r="r" b="b"/>
              <a:pathLst>
                <a:path w="3803904" h="1170432">
                  <a:moveTo>
                    <a:pt x="0" y="0"/>
                  </a:moveTo>
                  <a:lnTo>
                    <a:pt x="3803904" y="0"/>
                  </a:lnTo>
                  <a:lnTo>
                    <a:pt x="3803904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6" b="-1332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3803904" cy="1189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MPU-6050 (Thigh)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1520" y="4297680"/>
            <a:ext cx="2779776" cy="2011680"/>
            <a:chOff x="0" y="0"/>
            <a:chExt cx="3706368" cy="26822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06368" cy="2682240"/>
            </a:xfrm>
            <a:custGeom>
              <a:avLst/>
              <a:gdLst/>
              <a:ahLst/>
              <a:cxnLst/>
              <a:rect l="l" t="t" r="r" b="b"/>
              <a:pathLst>
                <a:path w="3706368" h="2682240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51" r="-4285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706368" cy="2720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I2C Address: 0x68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Tracks femur orientation via 6-axis gyro+accel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81479" y="4156967"/>
            <a:ext cx="281435" cy="98555"/>
            <a:chOff x="0" y="0"/>
            <a:chExt cx="375247" cy="131407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341376" cy="97536"/>
            </a:xfrm>
            <a:custGeom>
              <a:avLst/>
              <a:gdLst/>
              <a:ahLst/>
              <a:cxnLst/>
              <a:rect l="l" t="t" r="r" b="b"/>
              <a:pathLst>
                <a:path w="341376" h="97536">
                  <a:moveTo>
                    <a:pt x="0" y="0"/>
                  </a:moveTo>
                  <a:lnTo>
                    <a:pt x="341376" y="0"/>
                  </a:lnTo>
                  <a:lnTo>
                    <a:pt x="341376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375158" cy="131320"/>
            </a:xfrm>
            <a:custGeom>
              <a:avLst/>
              <a:gdLst/>
              <a:ahLst/>
              <a:cxnLst/>
              <a:rect l="l" t="t" r="r" b="b"/>
              <a:pathLst>
                <a:path w="375158" h="131320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14427"/>
                  </a:lnTo>
                  <a:cubicBezTo>
                    <a:pt x="375158" y="123825"/>
                    <a:pt x="367538" y="131318"/>
                    <a:pt x="358267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58267" y="97536"/>
                  </a:lnTo>
                  <a:lnTo>
                    <a:pt x="358267" y="114427"/>
                  </a:lnTo>
                  <a:lnTo>
                    <a:pt x="341376" y="114427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3785616" y="3968496"/>
            <a:ext cx="219456" cy="402336"/>
            <a:chOff x="0" y="0"/>
            <a:chExt cx="292608" cy="5364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92608" cy="536448"/>
            </a:xfrm>
            <a:custGeom>
              <a:avLst/>
              <a:gdLst/>
              <a:ahLst/>
              <a:cxnLst/>
              <a:rect l="l" t="t" r="r" b="b"/>
              <a:pathLst>
                <a:path w="292608" h="53644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223" r="-18522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9260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004310" y="2071011"/>
            <a:ext cx="3183636" cy="4610100"/>
            <a:chOff x="0" y="0"/>
            <a:chExt cx="4244848" cy="6146800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4194048" cy="6096000"/>
            </a:xfrm>
            <a:custGeom>
              <a:avLst/>
              <a:gdLst/>
              <a:ahLst/>
              <a:cxnLst/>
              <a:rect l="l" t="t" r="r" b="b"/>
              <a:pathLst>
                <a:path w="4194048" h="6096000">
                  <a:moveTo>
                    <a:pt x="0" y="0"/>
                  </a:moveTo>
                  <a:lnTo>
                    <a:pt x="4194048" y="0"/>
                  </a:lnTo>
                  <a:lnTo>
                    <a:pt x="4194048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4244848" cy="6146800"/>
            </a:xfrm>
            <a:custGeom>
              <a:avLst/>
              <a:gdLst/>
              <a:ahLst/>
              <a:cxnLst/>
              <a:rect l="l" t="t" r="r" b="b"/>
              <a:pathLst>
                <a:path w="4244848" h="6146800">
                  <a:moveTo>
                    <a:pt x="25400" y="0"/>
                  </a:moveTo>
                  <a:lnTo>
                    <a:pt x="4219448" y="0"/>
                  </a:lnTo>
                  <a:cubicBezTo>
                    <a:pt x="4233418" y="0"/>
                    <a:pt x="4244848" y="11430"/>
                    <a:pt x="4244848" y="25400"/>
                  </a:cubicBezTo>
                  <a:lnTo>
                    <a:pt x="4244848" y="6121400"/>
                  </a:lnTo>
                  <a:cubicBezTo>
                    <a:pt x="4244848" y="6135370"/>
                    <a:pt x="4233418" y="6146800"/>
                    <a:pt x="4219448" y="6146800"/>
                  </a:cubicBezTo>
                  <a:lnTo>
                    <a:pt x="25400" y="6146800"/>
                  </a:lnTo>
                  <a:cubicBezTo>
                    <a:pt x="11430" y="6146800"/>
                    <a:pt x="0" y="6135370"/>
                    <a:pt x="0" y="6121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121400"/>
                  </a:lnTo>
                  <a:lnTo>
                    <a:pt x="25400" y="6121400"/>
                  </a:lnTo>
                  <a:lnTo>
                    <a:pt x="25400" y="6096000"/>
                  </a:lnTo>
                  <a:lnTo>
                    <a:pt x="4219448" y="6096000"/>
                  </a:lnTo>
                  <a:lnTo>
                    <a:pt x="4219448" y="6121400"/>
                  </a:lnTo>
                  <a:lnTo>
                    <a:pt x="4194048" y="6121400"/>
                  </a:lnTo>
                  <a:lnTo>
                    <a:pt x="4194048" y="25400"/>
                  </a:lnTo>
                  <a:lnTo>
                    <a:pt x="4219448" y="25400"/>
                  </a:lnTo>
                  <a:lnTo>
                    <a:pt x="42194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4010663" y="1998983"/>
            <a:ext cx="3170939" cy="171707"/>
            <a:chOff x="0" y="0"/>
            <a:chExt cx="4227919" cy="228943"/>
          </a:xfrm>
        </p:grpSpPr>
        <p:sp>
          <p:nvSpPr>
            <p:cNvPr id="37" name="Freeform 37"/>
            <p:cNvSpPr/>
            <p:nvPr/>
          </p:nvSpPr>
          <p:spPr>
            <a:xfrm>
              <a:off x="16891" y="16891"/>
              <a:ext cx="4194048" cy="195072"/>
            </a:xfrm>
            <a:custGeom>
              <a:avLst/>
              <a:gdLst/>
              <a:ahLst/>
              <a:cxnLst/>
              <a:rect l="l" t="t" r="r" b="b"/>
              <a:pathLst>
                <a:path w="4194048" h="195072">
                  <a:moveTo>
                    <a:pt x="0" y="0"/>
                  </a:moveTo>
                  <a:lnTo>
                    <a:pt x="4194048" y="0"/>
                  </a:lnTo>
                  <a:lnTo>
                    <a:pt x="4194048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4227830" cy="228856"/>
            </a:xfrm>
            <a:custGeom>
              <a:avLst/>
              <a:gdLst/>
              <a:ahLst/>
              <a:cxnLst/>
              <a:rect l="l" t="t" r="r" b="b"/>
              <a:pathLst>
                <a:path w="4227830" h="228856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11963"/>
                  </a:lnTo>
                  <a:cubicBezTo>
                    <a:pt x="4227830" y="221361"/>
                    <a:pt x="4220210" y="228854"/>
                    <a:pt x="4210939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210939" y="195072"/>
                  </a:lnTo>
                  <a:lnTo>
                    <a:pt x="4210939" y="211963"/>
                  </a:lnTo>
                  <a:lnTo>
                    <a:pt x="4194048" y="211963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5157216" y="2377440"/>
            <a:ext cx="877824" cy="877824"/>
            <a:chOff x="0" y="0"/>
            <a:chExt cx="1170432" cy="1170432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4169664" y="3383280"/>
            <a:ext cx="2852928" cy="877824"/>
            <a:chOff x="0" y="0"/>
            <a:chExt cx="3803904" cy="11704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03904" cy="1170432"/>
            </a:xfrm>
            <a:custGeom>
              <a:avLst/>
              <a:gdLst/>
              <a:ahLst/>
              <a:cxnLst/>
              <a:rect l="l" t="t" r="r" b="b"/>
              <a:pathLst>
                <a:path w="3803904" h="1170432">
                  <a:moveTo>
                    <a:pt x="0" y="0"/>
                  </a:moveTo>
                  <a:lnTo>
                    <a:pt x="3803904" y="0"/>
                  </a:lnTo>
                  <a:lnTo>
                    <a:pt x="3803904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6" b="-1332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3803904" cy="1189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MPU-6050 (Calf)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206240" y="4297680"/>
            <a:ext cx="2779776" cy="2011680"/>
            <a:chOff x="0" y="0"/>
            <a:chExt cx="3706368" cy="26822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06368" cy="2682240"/>
            </a:xfrm>
            <a:custGeom>
              <a:avLst/>
              <a:gdLst/>
              <a:ahLst/>
              <a:cxnLst/>
              <a:rect l="l" t="t" r="r" b="b"/>
              <a:pathLst>
                <a:path w="3706368" h="2682240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51" r="-4285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706368" cy="2720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I2C Address: 0x69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AD0 pin bridged HIGH to offset address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156199" y="4156967"/>
            <a:ext cx="281435" cy="98555"/>
            <a:chOff x="0" y="0"/>
            <a:chExt cx="375247" cy="131407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41376" cy="97536"/>
            </a:xfrm>
            <a:custGeom>
              <a:avLst/>
              <a:gdLst/>
              <a:ahLst/>
              <a:cxnLst/>
              <a:rect l="l" t="t" r="r" b="b"/>
              <a:pathLst>
                <a:path w="341376" h="97536">
                  <a:moveTo>
                    <a:pt x="0" y="0"/>
                  </a:moveTo>
                  <a:lnTo>
                    <a:pt x="341376" y="0"/>
                  </a:lnTo>
                  <a:lnTo>
                    <a:pt x="341376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75158" cy="131320"/>
            </a:xfrm>
            <a:custGeom>
              <a:avLst/>
              <a:gdLst/>
              <a:ahLst/>
              <a:cxnLst/>
              <a:rect l="l" t="t" r="r" b="b"/>
              <a:pathLst>
                <a:path w="375158" h="131320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14427"/>
                  </a:lnTo>
                  <a:cubicBezTo>
                    <a:pt x="375158" y="123825"/>
                    <a:pt x="367538" y="131318"/>
                    <a:pt x="358267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58267" y="97536"/>
                  </a:lnTo>
                  <a:lnTo>
                    <a:pt x="358267" y="114427"/>
                  </a:lnTo>
                  <a:lnTo>
                    <a:pt x="341376" y="114427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260336" y="3968496"/>
            <a:ext cx="219456" cy="402336"/>
            <a:chOff x="0" y="0"/>
            <a:chExt cx="292608" cy="5364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2608" cy="536448"/>
            </a:xfrm>
            <a:custGeom>
              <a:avLst/>
              <a:gdLst/>
              <a:ahLst/>
              <a:cxnLst/>
              <a:rect l="l" t="t" r="r" b="b"/>
              <a:pathLst>
                <a:path w="292608" h="53644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223" r="-18522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9260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479030" y="1992630"/>
            <a:ext cx="3183636" cy="4610100"/>
            <a:chOff x="0" y="0"/>
            <a:chExt cx="4244848" cy="6146800"/>
          </a:xfrm>
        </p:grpSpPr>
        <p:sp>
          <p:nvSpPr>
            <p:cNvPr id="54" name="Freeform 54"/>
            <p:cNvSpPr/>
            <p:nvPr/>
          </p:nvSpPr>
          <p:spPr>
            <a:xfrm>
              <a:off x="25400" y="25400"/>
              <a:ext cx="4194048" cy="6096000"/>
            </a:xfrm>
            <a:custGeom>
              <a:avLst/>
              <a:gdLst/>
              <a:ahLst/>
              <a:cxnLst/>
              <a:rect l="l" t="t" r="r" b="b"/>
              <a:pathLst>
                <a:path w="4194048" h="6096000">
                  <a:moveTo>
                    <a:pt x="0" y="0"/>
                  </a:moveTo>
                  <a:lnTo>
                    <a:pt x="4194048" y="0"/>
                  </a:lnTo>
                  <a:lnTo>
                    <a:pt x="4194048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4244848" cy="6146800"/>
            </a:xfrm>
            <a:custGeom>
              <a:avLst/>
              <a:gdLst/>
              <a:ahLst/>
              <a:cxnLst/>
              <a:rect l="l" t="t" r="r" b="b"/>
              <a:pathLst>
                <a:path w="4244848" h="6146800">
                  <a:moveTo>
                    <a:pt x="25400" y="0"/>
                  </a:moveTo>
                  <a:lnTo>
                    <a:pt x="4219448" y="0"/>
                  </a:lnTo>
                  <a:cubicBezTo>
                    <a:pt x="4233418" y="0"/>
                    <a:pt x="4244848" y="11430"/>
                    <a:pt x="4244848" y="25400"/>
                  </a:cubicBezTo>
                  <a:lnTo>
                    <a:pt x="4244848" y="6121400"/>
                  </a:lnTo>
                  <a:cubicBezTo>
                    <a:pt x="4244848" y="6135370"/>
                    <a:pt x="4233418" y="6146800"/>
                    <a:pt x="4219448" y="6146800"/>
                  </a:cubicBezTo>
                  <a:lnTo>
                    <a:pt x="25400" y="6146800"/>
                  </a:lnTo>
                  <a:cubicBezTo>
                    <a:pt x="11430" y="6146800"/>
                    <a:pt x="0" y="6135370"/>
                    <a:pt x="0" y="6121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121400"/>
                  </a:lnTo>
                  <a:lnTo>
                    <a:pt x="25400" y="6121400"/>
                  </a:lnTo>
                  <a:lnTo>
                    <a:pt x="25400" y="6096000"/>
                  </a:lnTo>
                  <a:lnTo>
                    <a:pt x="4219448" y="6096000"/>
                  </a:lnTo>
                  <a:lnTo>
                    <a:pt x="4219448" y="6121400"/>
                  </a:lnTo>
                  <a:lnTo>
                    <a:pt x="4194048" y="6121400"/>
                  </a:lnTo>
                  <a:lnTo>
                    <a:pt x="4194048" y="25400"/>
                  </a:lnTo>
                  <a:lnTo>
                    <a:pt x="4219448" y="25400"/>
                  </a:lnTo>
                  <a:lnTo>
                    <a:pt x="42194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7485383" y="1998983"/>
            <a:ext cx="3170939" cy="171707"/>
            <a:chOff x="0" y="0"/>
            <a:chExt cx="4227919" cy="228943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4194048" cy="195072"/>
            </a:xfrm>
            <a:custGeom>
              <a:avLst/>
              <a:gdLst/>
              <a:ahLst/>
              <a:cxnLst/>
              <a:rect l="l" t="t" r="r" b="b"/>
              <a:pathLst>
                <a:path w="4194048" h="195072">
                  <a:moveTo>
                    <a:pt x="0" y="0"/>
                  </a:moveTo>
                  <a:lnTo>
                    <a:pt x="4194048" y="0"/>
                  </a:lnTo>
                  <a:lnTo>
                    <a:pt x="4194048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4227830" cy="228856"/>
            </a:xfrm>
            <a:custGeom>
              <a:avLst/>
              <a:gdLst/>
              <a:ahLst/>
              <a:cxnLst/>
              <a:rect l="l" t="t" r="r" b="b"/>
              <a:pathLst>
                <a:path w="4227830" h="228856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11963"/>
                  </a:lnTo>
                  <a:cubicBezTo>
                    <a:pt x="4227830" y="221361"/>
                    <a:pt x="4220210" y="228854"/>
                    <a:pt x="4210939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210939" y="195072"/>
                  </a:lnTo>
                  <a:lnTo>
                    <a:pt x="4210939" y="211963"/>
                  </a:lnTo>
                  <a:lnTo>
                    <a:pt x="4194048" y="211963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7644384" y="3383280"/>
            <a:ext cx="2852928" cy="877824"/>
            <a:chOff x="0" y="0"/>
            <a:chExt cx="3803904" cy="117043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803904" cy="1170432"/>
            </a:xfrm>
            <a:custGeom>
              <a:avLst/>
              <a:gdLst/>
              <a:ahLst/>
              <a:cxnLst/>
              <a:rect l="l" t="t" r="r" b="b"/>
              <a:pathLst>
                <a:path w="3803904" h="1170432">
                  <a:moveTo>
                    <a:pt x="0" y="0"/>
                  </a:moveTo>
                  <a:lnTo>
                    <a:pt x="3803904" y="0"/>
                  </a:lnTo>
                  <a:lnTo>
                    <a:pt x="3803904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6" b="-1332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3803904" cy="1189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ESP32 Controller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80960" y="4297680"/>
            <a:ext cx="2779776" cy="2011680"/>
            <a:chOff x="0" y="0"/>
            <a:chExt cx="3706368" cy="26822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706368" cy="2682240"/>
            </a:xfrm>
            <a:custGeom>
              <a:avLst/>
              <a:gdLst/>
              <a:ahLst/>
              <a:cxnLst/>
              <a:rect l="l" t="t" r="r" b="b"/>
              <a:pathLst>
                <a:path w="3706368" h="2682240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51" r="-4285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3706368" cy="2720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Pulls data from both IMUs via I2C bus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High-frequency real-time processing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630919" y="4156967"/>
            <a:ext cx="281435" cy="98555"/>
            <a:chOff x="0" y="0"/>
            <a:chExt cx="375247" cy="131407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341376" cy="97536"/>
            </a:xfrm>
            <a:custGeom>
              <a:avLst/>
              <a:gdLst/>
              <a:ahLst/>
              <a:cxnLst/>
              <a:rect l="l" t="t" r="r" b="b"/>
              <a:pathLst>
                <a:path w="341376" h="97536">
                  <a:moveTo>
                    <a:pt x="0" y="0"/>
                  </a:moveTo>
                  <a:lnTo>
                    <a:pt x="341376" y="0"/>
                  </a:lnTo>
                  <a:lnTo>
                    <a:pt x="341376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375158" cy="131320"/>
            </a:xfrm>
            <a:custGeom>
              <a:avLst/>
              <a:gdLst/>
              <a:ahLst/>
              <a:cxnLst/>
              <a:rect l="l" t="t" r="r" b="b"/>
              <a:pathLst>
                <a:path w="375158" h="131320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14427"/>
                  </a:lnTo>
                  <a:cubicBezTo>
                    <a:pt x="375158" y="123825"/>
                    <a:pt x="367538" y="131318"/>
                    <a:pt x="358267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58267" y="97536"/>
                  </a:lnTo>
                  <a:lnTo>
                    <a:pt x="358267" y="114427"/>
                  </a:lnTo>
                  <a:lnTo>
                    <a:pt x="341376" y="114427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0735056" y="3968496"/>
            <a:ext cx="219456" cy="402336"/>
            <a:chOff x="0" y="0"/>
            <a:chExt cx="292608" cy="5364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92608" cy="536448"/>
            </a:xfrm>
            <a:custGeom>
              <a:avLst/>
              <a:gdLst/>
              <a:ahLst/>
              <a:cxnLst/>
              <a:rect l="l" t="t" r="r" b="b"/>
              <a:pathLst>
                <a:path w="292608" h="53644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223" r="-18522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29260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953750" y="1992630"/>
            <a:ext cx="3183636" cy="4610100"/>
            <a:chOff x="0" y="0"/>
            <a:chExt cx="4244848" cy="6146800"/>
          </a:xfrm>
        </p:grpSpPr>
        <p:sp>
          <p:nvSpPr>
            <p:cNvPr id="72" name="Freeform 72"/>
            <p:cNvSpPr/>
            <p:nvPr/>
          </p:nvSpPr>
          <p:spPr>
            <a:xfrm>
              <a:off x="25400" y="25400"/>
              <a:ext cx="4194048" cy="6096000"/>
            </a:xfrm>
            <a:custGeom>
              <a:avLst/>
              <a:gdLst/>
              <a:ahLst/>
              <a:cxnLst/>
              <a:rect l="l" t="t" r="r" b="b"/>
              <a:pathLst>
                <a:path w="4194048" h="6096000">
                  <a:moveTo>
                    <a:pt x="0" y="0"/>
                  </a:moveTo>
                  <a:lnTo>
                    <a:pt x="4194048" y="0"/>
                  </a:lnTo>
                  <a:lnTo>
                    <a:pt x="4194048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4244848" cy="6146800"/>
            </a:xfrm>
            <a:custGeom>
              <a:avLst/>
              <a:gdLst/>
              <a:ahLst/>
              <a:cxnLst/>
              <a:rect l="l" t="t" r="r" b="b"/>
              <a:pathLst>
                <a:path w="4244848" h="6146800">
                  <a:moveTo>
                    <a:pt x="25400" y="0"/>
                  </a:moveTo>
                  <a:lnTo>
                    <a:pt x="4219448" y="0"/>
                  </a:lnTo>
                  <a:cubicBezTo>
                    <a:pt x="4233418" y="0"/>
                    <a:pt x="4244848" y="11430"/>
                    <a:pt x="4244848" y="25400"/>
                  </a:cubicBezTo>
                  <a:lnTo>
                    <a:pt x="4244848" y="6121400"/>
                  </a:lnTo>
                  <a:cubicBezTo>
                    <a:pt x="4244848" y="6135370"/>
                    <a:pt x="4233418" y="6146800"/>
                    <a:pt x="4219448" y="6146800"/>
                  </a:cubicBezTo>
                  <a:lnTo>
                    <a:pt x="25400" y="6146800"/>
                  </a:lnTo>
                  <a:cubicBezTo>
                    <a:pt x="11430" y="6146800"/>
                    <a:pt x="0" y="6135370"/>
                    <a:pt x="0" y="6121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121400"/>
                  </a:lnTo>
                  <a:lnTo>
                    <a:pt x="25400" y="6121400"/>
                  </a:lnTo>
                  <a:lnTo>
                    <a:pt x="25400" y="6096000"/>
                  </a:lnTo>
                  <a:lnTo>
                    <a:pt x="4219448" y="6096000"/>
                  </a:lnTo>
                  <a:lnTo>
                    <a:pt x="4219448" y="6121400"/>
                  </a:lnTo>
                  <a:lnTo>
                    <a:pt x="4194048" y="6121400"/>
                  </a:lnTo>
                  <a:lnTo>
                    <a:pt x="4194048" y="25400"/>
                  </a:lnTo>
                  <a:lnTo>
                    <a:pt x="4219448" y="25400"/>
                  </a:lnTo>
                  <a:lnTo>
                    <a:pt x="42194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0960103" y="1998983"/>
            <a:ext cx="3170939" cy="171707"/>
            <a:chOff x="0" y="0"/>
            <a:chExt cx="4227919" cy="228943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4194048" cy="195072"/>
            </a:xfrm>
            <a:custGeom>
              <a:avLst/>
              <a:gdLst/>
              <a:ahLst/>
              <a:cxnLst/>
              <a:rect l="l" t="t" r="r" b="b"/>
              <a:pathLst>
                <a:path w="4194048" h="195072">
                  <a:moveTo>
                    <a:pt x="0" y="0"/>
                  </a:moveTo>
                  <a:lnTo>
                    <a:pt x="4194048" y="0"/>
                  </a:lnTo>
                  <a:lnTo>
                    <a:pt x="4194048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4227830" cy="228856"/>
            </a:xfrm>
            <a:custGeom>
              <a:avLst/>
              <a:gdLst/>
              <a:ahLst/>
              <a:cxnLst/>
              <a:rect l="l" t="t" r="r" b="b"/>
              <a:pathLst>
                <a:path w="4227830" h="228856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11963"/>
                  </a:lnTo>
                  <a:cubicBezTo>
                    <a:pt x="4227830" y="221361"/>
                    <a:pt x="4220210" y="228854"/>
                    <a:pt x="4210939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210939" y="195072"/>
                  </a:lnTo>
                  <a:lnTo>
                    <a:pt x="4210939" y="211963"/>
                  </a:lnTo>
                  <a:lnTo>
                    <a:pt x="4194048" y="211963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1119104" y="3383280"/>
            <a:ext cx="2852928" cy="877824"/>
            <a:chOff x="0" y="0"/>
            <a:chExt cx="3803904" cy="117043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803904" cy="1170432"/>
            </a:xfrm>
            <a:custGeom>
              <a:avLst/>
              <a:gdLst/>
              <a:ahLst/>
              <a:cxnLst/>
              <a:rect l="l" t="t" r="r" b="b"/>
              <a:pathLst>
                <a:path w="3803904" h="1170432">
                  <a:moveTo>
                    <a:pt x="0" y="0"/>
                  </a:moveTo>
                  <a:lnTo>
                    <a:pt x="3803904" y="0"/>
                  </a:lnTo>
                  <a:lnTo>
                    <a:pt x="3803904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6" b="-13326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3803904" cy="1189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Differential Processing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155680" y="4297680"/>
            <a:ext cx="2779776" cy="2011680"/>
            <a:chOff x="0" y="0"/>
            <a:chExt cx="3706368" cy="26822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706368" cy="2682240"/>
            </a:xfrm>
            <a:custGeom>
              <a:avLst/>
              <a:gdLst/>
              <a:ahLst/>
              <a:cxnLst/>
              <a:rect l="l" t="t" r="r" b="b"/>
              <a:pathLst>
                <a:path w="3706368" h="2682240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51" r="-42851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3706368" cy="2720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dirty="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Twist Angle = Calf Yaw − Thigh Yaw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dirty="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Calculated every sensor cycle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105639" y="4156967"/>
            <a:ext cx="281435" cy="98555"/>
            <a:chOff x="0" y="0"/>
            <a:chExt cx="375247" cy="131407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341376" cy="97536"/>
            </a:xfrm>
            <a:custGeom>
              <a:avLst/>
              <a:gdLst/>
              <a:ahLst/>
              <a:cxnLst/>
              <a:rect l="l" t="t" r="r" b="b"/>
              <a:pathLst>
                <a:path w="341376" h="97536">
                  <a:moveTo>
                    <a:pt x="0" y="0"/>
                  </a:moveTo>
                  <a:lnTo>
                    <a:pt x="341376" y="0"/>
                  </a:lnTo>
                  <a:lnTo>
                    <a:pt x="341376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375158" cy="131320"/>
            </a:xfrm>
            <a:custGeom>
              <a:avLst/>
              <a:gdLst/>
              <a:ahLst/>
              <a:cxnLst/>
              <a:rect l="l" t="t" r="r" b="b"/>
              <a:pathLst>
                <a:path w="375158" h="131320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14427"/>
                  </a:lnTo>
                  <a:cubicBezTo>
                    <a:pt x="375158" y="123825"/>
                    <a:pt x="367538" y="131318"/>
                    <a:pt x="358267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58267" y="97536"/>
                  </a:lnTo>
                  <a:lnTo>
                    <a:pt x="358267" y="114427"/>
                  </a:lnTo>
                  <a:lnTo>
                    <a:pt x="341376" y="114427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4209776" y="3968496"/>
            <a:ext cx="219456" cy="402336"/>
            <a:chOff x="0" y="0"/>
            <a:chExt cx="292608" cy="53644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92608" cy="536448"/>
            </a:xfrm>
            <a:custGeom>
              <a:avLst/>
              <a:gdLst/>
              <a:ahLst/>
              <a:cxnLst/>
              <a:rect l="l" t="t" r="r" b="b"/>
              <a:pathLst>
                <a:path w="292608" h="53644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223" r="-185223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92608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428470" y="1992630"/>
            <a:ext cx="3183636" cy="4610100"/>
            <a:chOff x="0" y="0"/>
            <a:chExt cx="4244848" cy="6146800"/>
          </a:xfrm>
        </p:grpSpPr>
        <p:sp>
          <p:nvSpPr>
            <p:cNvPr id="90" name="Freeform 90"/>
            <p:cNvSpPr/>
            <p:nvPr/>
          </p:nvSpPr>
          <p:spPr>
            <a:xfrm>
              <a:off x="25400" y="25400"/>
              <a:ext cx="4194048" cy="6096000"/>
            </a:xfrm>
            <a:custGeom>
              <a:avLst/>
              <a:gdLst/>
              <a:ahLst/>
              <a:cxnLst/>
              <a:rect l="l" t="t" r="r" b="b"/>
              <a:pathLst>
                <a:path w="4194048" h="6096000">
                  <a:moveTo>
                    <a:pt x="0" y="0"/>
                  </a:moveTo>
                  <a:lnTo>
                    <a:pt x="4194048" y="0"/>
                  </a:lnTo>
                  <a:lnTo>
                    <a:pt x="4194048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4244848" cy="6146800"/>
            </a:xfrm>
            <a:custGeom>
              <a:avLst/>
              <a:gdLst/>
              <a:ahLst/>
              <a:cxnLst/>
              <a:rect l="l" t="t" r="r" b="b"/>
              <a:pathLst>
                <a:path w="4244848" h="6146800">
                  <a:moveTo>
                    <a:pt x="25400" y="0"/>
                  </a:moveTo>
                  <a:lnTo>
                    <a:pt x="4219448" y="0"/>
                  </a:lnTo>
                  <a:cubicBezTo>
                    <a:pt x="4233418" y="0"/>
                    <a:pt x="4244848" y="11430"/>
                    <a:pt x="4244848" y="25400"/>
                  </a:cubicBezTo>
                  <a:lnTo>
                    <a:pt x="4244848" y="6121400"/>
                  </a:lnTo>
                  <a:cubicBezTo>
                    <a:pt x="4244848" y="6135370"/>
                    <a:pt x="4233418" y="6146800"/>
                    <a:pt x="4219448" y="6146800"/>
                  </a:cubicBezTo>
                  <a:lnTo>
                    <a:pt x="25400" y="6146800"/>
                  </a:lnTo>
                  <a:cubicBezTo>
                    <a:pt x="11430" y="6146800"/>
                    <a:pt x="0" y="6135370"/>
                    <a:pt x="0" y="6121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121400"/>
                  </a:lnTo>
                  <a:lnTo>
                    <a:pt x="25400" y="6121400"/>
                  </a:lnTo>
                  <a:lnTo>
                    <a:pt x="25400" y="6096000"/>
                  </a:lnTo>
                  <a:lnTo>
                    <a:pt x="4219448" y="6096000"/>
                  </a:lnTo>
                  <a:lnTo>
                    <a:pt x="4219448" y="6121400"/>
                  </a:lnTo>
                  <a:lnTo>
                    <a:pt x="4194048" y="6121400"/>
                  </a:lnTo>
                  <a:lnTo>
                    <a:pt x="4194048" y="25400"/>
                  </a:lnTo>
                  <a:lnTo>
                    <a:pt x="4219448" y="25400"/>
                  </a:lnTo>
                  <a:lnTo>
                    <a:pt x="42194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14434823" y="1998983"/>
            <a:ext cx="3170939" cy="171707"/>
            <a:chOff x="0" y="0"/>
            <a:chExt cx="4227919" cy="228943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4194048" cy="195072"/>
            </a:xfrm>
            <a:custGeom>
              <a:avLst/>
              <a:gdLst/>
              <a:ahLst/>
              <a:cxnLst/>
              <a:rect l="l" t="t" r="r" b="b"/>
              <a:pathLst>
                <a:path w="4194048" h="195072">
                  <a:moveTo>
                    <a:pt x="0" y="0"/>
                  </a:moveTo>
                  <a:lnTo>
                    <a:pt x="4194048" y="0"/>
                  </a:lnTo>
                  <a:lnTo>
                    <a:pt x="4194048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4227830" cy="228856"/>
            </a:xfrm>
            <a:custGeom>
              <a:avLst/>
              <a:gdLst/>
              <a:ahLst/>
              <a:cxnLst/>
              <a:rect l="l" t="t" r="r" b="b"/>
              <a:pathLst>
                <a:path w="4227830" h="228856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11963"/>
                  </a:lnTo>
                  <a:cubicBezTo>
                    <a:pt x="4227830" y="221361"/>
                    <a:pt x="4220210" y="228854"/>
                    <a:pt x="4210939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210939" y="195072"/>
                  </a:lnTo>
                  <a:lnTo>
                    <a:pt x="4210939" y="211963"/>
                  </a:lnTo>
                  <a:lnTo>
                    <a:pt x="4194048" y="211963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5581376" y="2377440"/>
            <a:ext cx="877824" cy="877824"/>
            <a:chOff x="0" y="0"/>
            <a:chExt cx="1170432" cy="1170432"/>
          </a:xfrm>
        </p:grpSpPr>
        <p:sp>
          <p:nvSpPr>
            <p:cNvPr id="96" name="Freeform 96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14593824" y="3383280"/>
            <a:ext cx="2852928" cy="877824"/>
            <a:chOff x="0" y="0"/>
            <a:chExt cx="3803904" cy="1170432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803904" cy="1170432"/>
            </a:xfrm>
            <a:custGeom>
              <a:avLst/>
              <a:gdLst/>
              <a:ahLst/>
              <a:cxnLst/>
              <a:rect l="l" t="t" r="r" b="b"/>
              <a:pathLst>
                <a:path w="3803904" h="1170432">
                  <a:moveTo>
                    <a:pt x="0" y="0"/>
                  </a:moveTo>
                  <a:lnTo>
                    <a:pt x="3803904" y="0"/>
                  </a:lnTo>
                  <a:lnTo>
                    <a:pt x="3803904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26" b="-13326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3803904" cy="1189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Haptic Output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4630400" y="4297680"/>
            <a:ext cx="2779776" cy="2011680"/>
            <a:chOff x="0" y="0"/>
            <a:chExt cx="3706368" cy="26822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706368" cy="2682240"/>
            </a:xfrm>
            <a:custGeom>
              <a:avLst/>
              <a:gdLst/>
              <a:ahLst/>
              <a:cxnLst/>
              <a:rect l="l" t="t" r="r" b="b"/>
              <a:pathLst>
                <a:path w="3706368" h="2682240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51" r="-42851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3706368" cy="2720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dirty="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 signal to ERM motor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 dirty="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fires if angle &gt; Red Zone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35943" y="6900167"/>
            <a:ext cx="5511803" cy="2860043"/>
            <a:chOff x="0" y="0"/>
            <a:chExt cx="7349071" cy="3813391"/>
          </a:xfrm>
        </p:grpSpPr>
        <p:sp>
          <p:nvSpPr>
            <p:cNvPr id="104" name="Freeform 104"/>
            <p:cNvSpPr/>
            <p:nvPr/>
          </p:nvSpPr>
          <p:spPr>
            <a:xfrm>
              <a:off x="16891" y="16891"/>
              <a:ext cx="7315200" cy="3779520"/>
            </a:xfrm>
            <a:custGeom>
              <a:avLst/>
              <a:gdLst/>
              <a:ahLst/>
              <a:cxnLst/>
              <a:rect l="l" t="t" r="r" b="b"/>
              <a:pathLst>
                <a:path w="7315200" h="3779520">
                  <a:moveTo>
                    <a:pt x="0" y="0"/>
                  </a:moveTo>
                  <a:lnTo>
                    <a:pt x="7315200" y="0"/>
                  </a:lnTo>
                  <a:lnTo>
                    <a:pt x="73152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7348982" cy="3813302"/>
            </a:xfrm>
            <a:custGeom>
              <a:avLst/>
              <a:gdLst/>
              <a:ahLst/>
              <a:cxnLst/>
              <a:rect l="l" t="t" r="r" b="b"/>
              <a:pathLst>
                <a:path w="7348982" h="381330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796411"/>
                  </a:lnTo>
                  <a:cubicBezTo>
                    <a:pt x="7348982" y="3805809"/>
                    <a:pt x="7341362" y="3813302"/>
                    <a:pt x="733209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332091" y="3779520"/>
                  </a:lnTo>
                  <a:lnTo>
                    <a:pt x="7332091" y="3796411"/>
                  </a:lnTo>
                  <a:lnTo>
                    <a:pt x="7315200" y="37964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535943" y="6900167"/>
            <a:ext cx="5511803" cy="135131"/>
            <a:chOff x="0" y="0"/>
            <a:chExt cx="7349071" cy="180175"/>
          </a:xfrm>
        </p:grpSpPr>
        <p:sp>
          <p:nvSpPr>
            <p:cNvPr id="107" name="Freeform 107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08" name="Freeform 108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768096" y="7059168"/>
            <a:ext cx="5047488" cy="548640"/>
            <a:chOff x="0" y="0"/>
            <a:chExt cx="6729984" cy="73152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6729984" cy="731520"/>
            </a:xfrm>
            <a:custGeom>
              <a:avLst/>
              <a:gdLst/>
              <a:ahLst/>
              <a:cxnLst/>
              <a:rect l="l" t="t" r="r" b="b"/>
              <a:pathLst>
                <a:path w="6729984" h="731520">
                  <a:moveTo>
                    <a:pt x="0" y="0"/>
                  </a:moveTo>
                  <a:lnTo>
                    <a:pt x="6729984" y="0"/>
                  </a:lnTo>
                  <a:lnTo>
                    <a:pt x="6729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6729984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AD0 Address Trick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68096" y="7644384"/>
            <a:ext cx="5047488" cy="1975104"/>
            <a:chOff x="0" y="0"/>
            <a:chExt cx="6729984" cy="2633472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6729984" cy="2633472"/>
            </a:xfrm>
            <a:custGeom>
              <a:avLst/>
              <a:gdLst/>
              <a:ahLst/>
              <a:cxnLst/>
              <a:rect l="l" t="t" r="r" b="b"/>
              <a:pathLst>
                <a:path w="6729984" h="2633472">
                  <a:moveTo>
                    <a:pt x="0" y="0"/>
                  </a:moveTo>
                  <a:lnTo>
                    <a:pt x="6729984" y="0"/>
                  </a:lnTo>
                  <a:lnTo>
                    <a:pt x="6729984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r="-205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6729984" cy="2671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identical MPU-6050 chips share one I2C bus. The calf sensor's AD0 pin is wired HIGH, shifting its I2C address from 0x68 → 0x69 to avoid collision.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351527" y="6900167"/>
            <a:ext cx="5511803" cy="2860043"/>
            <a:chOff x="0" y="0"/>
            <a:chExt cx="7349071" cy="3813391"/>
          </a:xfrm>
        </p:grpSpPr>
        <p:sp>
          <p:nvSpPr>
            <p:cNvPr id="116" name="Freeform 116"/>
            <p:cNvSpPr/>
            <p:nvPr/>
          </p:nvSpPr>
          <p:spPr>
            <a:xfrm>
              <a:off x="16891" y="16891"/>
              <a:ext cx="7315200" cy="3779520"/>
            </a:xfrm>
            <a:custGeom>
              <a:avLst/>
              <a:gdLst/>
              <a:ahLst/>
              <a:cxnLst/>
              <a:rect l="l" t="t" r="r" b="b"/>
              <a:pathLst>
                <a:path w="7315200" h="3779520">
                  <a:moveTo>
                    <a:pt x="0" y="0"/>
                  </a:moveTo>
                  <a:lnTo>
                    <a:pt x="7315200" y="0"/>
                  </a:lnTo>
                  <a:lnTo>
                    <a:pt x="73152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7348982" cy="3813302"/>
            </a:xfrm>
            <a:custGeom>
              <a:avLst/>
              <a:gdLst/>
              <a:ahLst/>
              <a:cxnLst/>
              <a:rect l="l" t="t" r="r" b="b"/>
              <a:pathLst>
                <a:path w="7348982" h="381330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796411"/>
                  </a:lnTo>
                  <a:cubicBezTo>
                    <a:pt x="7348982" y="3805809"/>
                    <a:pt x="7341362" y="3813302"/>
                    <a:pt x="733209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332091" y="3779520"/>
                  </a:lnTo>
                  <a:lnTo>
                    <a:pt x="7332091" y="3796411"/>
                  </a:lnTo>
                  <a:lnTo>
                    <a:pt x="7315200" y="37964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6351527" y="6900167"/>
            <a:ext cx="5511803" cy="135131"/>
            <a:chOff x="0" y="0"/>
            <a:chExt cx="7349071" cy="180175"/>
          </a:xfrm>
        </p:grpSpPr>
        <p:sp>
          <p:nvSpPr>
            <p:cNvPr id="119" name="Freeform 119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20" name="Freeform 120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6583680" y="7059168"/>
            <a:ext cx="5047488" cy="548640"/>
            <a:chOff x="0" y="0"/>
            <a:chExt cx="6729984" cy="73152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6729984" cy="731520"/>
            </a:xfrm>
            <a:custGeom>
              <a:avLst/>
              <a:gdLst/>
              <a:ahLst/>
              <a:cxnLst/>
              <a:rect l="l" t="t" r="r" b="b"/>
              <a:pathLst>
                <a:path w="6729984" h="731520">
                  <a:moveTo>
                    <a:pt x="0" y="0"/>
                  </a:moveTo>
                  <a:lnTo>
                    <a:pt x="6729984" y="0"/>
                  </a:lnTo>
                  <a:lnTo>
                    <a:pt x="6729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19050"/>
              <a:ext cx="6729984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Differential Formula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583680" y="7644384"/>
            <a:ext cx="5047488" cy="1975104"/>
            <a:chOff x="0" y="0"/>
            <a:chExt cx="6729984" cy="2633472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6729984" cy="2633472"/>
            </a:xfrm>
            <a:custGeom>
              <a:avLst/>
              <a:gdLst/>
              <a:ahLst/>
              <a:cxnLst/>
              <a:rect l="l" t="t" r="r" b="b"/>
              <a:pathLst>
                <a:path w="6729984" h="2633472">
                  <a:moveTo>
                    <a:pt x="0" y="0"/>
                  </a:moveTo>
                  <a:lnTo>
                    <a:pt x="6729984" y="0"/>
                  </a:lnTo>
                  <a:lnTo>
                    <a:pt x="6729984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r="-205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6729984" cy="2671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Twist Angle (°) = Thigh Gyro Yaw − Calf Gyro Yaw</a:t>
              </a:r>
            </a:p>
            <a:p>
              <a:pPr algn="l">
                <a:lnSpc>
                  <a:spcPts val="2160"/>
                </a:lnSpc>
              </a:pPr>
              <a:endParaRPr lang="en-US" sz="1800">
                <a:solidFill>
                  <a:srgbClr val="1B2A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net rotation isolates the knee's internal/external rotation irrespective of whole-body movement.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2167111" y="6900167"/>
            <a:ext cx="5511803" cy="2860043"/>
            <a:chOff x="0" y="0"/>
            <a:chExt cx="7349071" cy="3813391"/>
          </a:xfrm>
        </p:grpSpPr>
        <p:sp>
          <p:nvSpPr>
            <p:cNvPr id="128" name="Freeform 128"/>
            <p:cNvSpPr/>
            <p:nvPr/>
          </p:nvSpPr>
          <p:spPr>
            <a:xfrm>
              <a:off x="16891" y="16891"/>
              <a:ext cx="7315200" cy="3779520"/>
            </a:xfrm>
            <a:custGeom>
              <a:avLst/>
              <a:gdLst/>
              <a:ahLst/>
              <a:cxnLst/>
              <a:rect l="l" t="t" r="r" b="b"/>
              <a:pathLst>
                <a:path w="7315200" h="3779520">
                  <a:moveTo>
                    <a:pt x="0" y="0"/>
                  </a:moveTo>
                  <a:lnTo>
                    <a:pt x="7315200" y="0"/>
                  </a:lnTo>
                  <a:lnTo>
                    <a:pt x="73152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7348982" cy="3813302"/>
            </a:xfrm>
            <a:custGeom>
              <a:avLst/>
              <a:gdLst/>
              <a:ahLst/>
              <a:cxnLst/>
              <a:rect l="l" t="t" r="r" b="b"/>
              <a:pathLst>
                <a:path w="7348982" h="381330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796411"/>
                  </a:lnTo>
                  <a:cubicBezTo>
                    <a:pt x="7348982" y="3805809"/>
                    <a:pt x="7341362" y="3813302"/>
                    <a:pt x="733209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7332091" y="3779520"/>
                  </a:lnTo>
                  <a:lnTo>
                    <a:pt x="7332091" y="3796411"/>
                  </a:lnTo>
                  <a:lnTo>
                    <a:pt x="7315200" y="37964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12167111" y="6900167"/>
            <a:ext cx="5511803" cy="135131"/>
            <a:chOff x="0" y="0"/>
            <a:chExt cx="7349071" cy="180175"/>
          </a:xfrm>
        </p:grpSpPr>
        <p:sp>
          <p:nvSpPr>
            <p:cNvPr id="131" name="Freeform 131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132" name="Freeform 132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133" name="Group 133"/>
          <p:cNvGrpSpPr/>
          <p:nvPr/>
        </p:nvGrpSpPr>
        <p:grpSpPr>
          <a:xfrm>
            <a:off x="12399264" y="7059168"/>
            <a:ext cx="5047488" cy="548640"/>
            <a:chOff x="0" y="0"/>
            <a:chExt cx="6729984" cy="73152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6729984" cy="731520"/>
            </a:xfrm>
            <a:custGeom>
              <a:avLst/>
              <a:gdLst/>
              <a:ahLst/>
              <a:cxnLst/>
              <a:rect l="l" t="t" r="r" b="b"/>
              <a:pathLst>
                <a:path w="6729984" h="731520">
                  <a:moveTo>
                    <a:pt x="0" y="0"/>
                  </a:moveTo>
                  <a:lnTo>
                    <a:pt x="6729984" y="0"/>
                  </a:lnTo>
                  <a:lnTo>
                    <a:pt x="6729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19050"/>
              <a:ext cx="6729984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Bluetooth Data Logging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2399264" y="7644384"/>
            <a:ext cx="5047488" cy="1975104"/>
            <a:chOff x="0" y="0"/>
            <a:chExt cx="6729984" cy="2633472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6729984" cy="2633472"/>
            </a:xfrm>
            <a:custGeom>
              <a:avLst/>
              <a:gdLst/>
              <a:ahLst/>
              <a:cxnLst/>
              <a:rect l="l" t="t" r="r" b="b"/>
              <a:pathLst>
                <a:path w="6729984" h="2633472">
                  <a:moveTo>
                    <a:pt x="0" y="0"/>
                  </a:moveTo>
                  <a:lnTo>
                    <a:pt x="6729984" y="0"/>
                  </a:lnTo>
                  <a:lnTo>
                    <a:pt x="6729984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r="-205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6729984" cy="2671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ESP32's onboard BLE module streams timestamped angle data to a smartphone. Movement patterns are logged for post-session coach/doctor review.</a:t>
              </a:r>
            </a:p>
          </p:txBody>
        </p:sp>
      </p:grpSp>
      <p:sp>
        <p:nvSpPr>
          <p:cNvPr id="139" name="Freeform 139"/>
          <p:cNvSpPr/>
          <p:nvPr/>
        </p:nvSpPr>
        <p:spPr>
          <a:xfrm>
            <a:off x="8635746" y="228499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40" h="1005840">
                <a:moveTo>
                  <a:pt x="0" y="0"/>
                </a:moveTo>
                <a:lnTo>
                  <a:pt x="1005840" y="0"/>
                </a:lnTo>
                <a:lnTo>
                  <a:pt x="10058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0" name="Freeform 140"/>
          <p:cNvSpPr/>
          <p:nvPr/>
        </p:nvSpPr>
        <p:spPr>
          <a:xfrm>
            <a:off x="11851396" y="2323090"/>
            <a:ext cx="1388344" cy="1060190"/>
          </a:xfrm>
          <a:custGeom>
            <a:avLst/>
            <a:gdLst/>
            <a:ahLst/>
            <a:cxnLst/>
            <a:rect l="l" t="t" r="r" b="b"/>
            <a:pathLst>
              <a:path w="1388344" h="1060190">
                <a:moveTo>
                  <a:pt x="0" y="0"/>
                </a:moveTo>
                <a:lnTo>
                  <a:pt x="1388344" y="0"/>
                </a:lnTo>
                <a:lnTo>
                  <a:pt x="1388344" y="1060190"/>
                </a:lnTo>
                <a:lnTo>
                  <a:pt x="0" y="10601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HAPTIC FEEDBACK LOOP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dangerous angle to corrective warning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5943" y="1998983"/>
            <a:ext cx="17216123" cy="866651"/>
            <a:chOff x="0" y="0"/>
            <a:chExt cx="22954831" cy="1155535"/>
          </a:xfrm>
        </p:grpSpPr>
        <p:sp>
          <p:nvSpPr>
            <p:cNvPr id="14" name="Freeform 14"/>
            <p:cNvSpPr/>
            <p:nvPr/>
          </p:nvSpPr>
          <p:spPr>
            <a:xfrm>
              <a:off x="16891" y="16891"/>
              <a:ext cx="22920960" cy="1121664"/>
            </a:xfrm>
            <a:custGeom>
              <a:avLst/>
              <a:gdLst/>
              <a:ahLst/>
              <a:cxnLst/>
              <a:rect l="l" t="t" r="r" b="b"/>
              <a:pathLst>
                <a:path w="22920960" h="1121664">
                  <a:moveTo>
                    <a:pt x="0" y="0"/>
                  </a:moveTo>
                  <a:lnTo>
                    <a:pt x="22920960" y="0"/>
                  </a:lnTo>
                  <a:lnTo>
                    <a:pt x="2292096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2954743" cy="1155448"/>
            </a:xfrm>
            <a:custGeom>
              <a:avLst/>
              <a:gdLst/>
              <a:ahLst/>
              <a:cxnLst/>
              <a:rect l="l" t="t" r="r" b="b"/>
              <a:pathLst>
                <a:path w="22954743" h="1155448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138555"/>
                  </a:lnTo>
                  <a:cubicBezTo>
                    <a:pt x="22954743" y="1147953"/>
                    <a:pt x="22947123" y="1155446"/>
                    <a:pt x="2293785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22937851" y="1121664"/>
                  </a:lnTo>
                  <a:lnTo>
                    <a:pt x="22937851" y="1138555"/>
                  </a:lnTo>
                  <a:lnTo>
                    <a:pt x="22920961" y="1138555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5943" y="1998983"/>
            <a:ext cx="9169403" cy="866651"/>
            <a:chOff x="0" y="0"/>
            <a:chExt cx="12225871" cy="1155535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2192000" cy="1121664"/>
            </a:xfrm>
            <a:custGeom>
              <a:avLst/>
              <a:gdLst/>
              <a:ahLst/>
              <a:cxnLst/>
              <a:rect l="l" t="t" r="r" b="b"/>
              <a:pathLst>
                <a:path w="12192000" h="1121664">
                  <a:moveTo>
                    <a:pt x="0" y="0"/>
                  </a:moveTo>
                  <a:lnTo>
                    <a:pt x="12192000" y="0"/>
                  </a:lnTo>
                  <a:lnTo>
                    <a:pt x="121920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2225782" cy="1155448"/>
            </a:xfrm>
            <a:custGeom>
              <a:avLst/>
              <a:gdLst/>
              <a:ahLst/>
              <a:cxnLst/>
              <a:rect l="l" t="t" r="r" b="b"/>
              <a:pathLst>
                <a:path w="12225782" h="1155448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138555"/>
                  </a:lnTo>
                  <a:cubicBezTo>
                    <a:pt x="12225782" y="1147953"/>
                    <a:pt x="12218162" y="1155446"/>
                    <a:pt x="122088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2208891" y="1121664"/>
                  </a:lnTo>
                  <a:lnTo>
                    <a:pt x="12208891" y="1138555"/>
                  </a:lnTo>
                  <a:lnTo>
                    <a:pt x="12192000" y="1138555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79943" y="1998983"/>
            <a:ext cx="2585723" cy="866651"/>
            <a:chOff x="0" y="0"/>
            <a:chExt cx="3447631" cy="1155535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3413760" cy="1121664"/>
            </a:xfrm>
            <a:custGeom>
              <a:avLst/>
              <a:gdLst/>
              <a:ahLst/>
              <a:cxnLst/>
              <a:rect l="l" t="t" r="r" b="b"/>
              <a:pathLst>
                <a:path w="3413760" h="1121664">
                  <a:moveTo>
                    <a:pt x="0" y="0"/>
                  </a:moveTo>
                  <a:lnTo>
                    <a:pt x="3413760" y="0"/>
                  </a:lnTo>
                  <a:lnTo>
                    <a:pt x="341376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447542" cy="1155448"/>
            </a:xfrm>
            <a:custGeom>
              <a:avLst/>
              <a:gdLst/>
              <a:ahLst/>
              <a:cxnLst/>
              <a:rect l="l" t="t" r="r" b="b"/>
              <a:pathLst>
                <a:path w="3447542" h="1155448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1138555"/>
                  </a:lnTo>
                  <a:cubicBezTo>
                    <a:pt x="3447542" y="1147953"/>
                    <a:pt x="3439922" y="1155446"/>
                    <a:pt x="343065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3430651" y="1121664"/>
                  </a:lnTo>
                  <a:lnTo>
                    <a:pt x="3430651" y="1138555"/>
                  </a:lnTo>
                  <a:lnTo>
                    <a:pt x="3413760" y="1138555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2240263" y="1998983"/>
            <a:ext cx="5511803" cy="866651"/>
            <a:chOff x="0" y="0"/>
            <a:chExt cx="7349071" cy="1155535"/>
          </a:xfrm>
        </p:grpSpPr>
        <p:sp>
          <p:nvSpPr>
            <p:cNvPr id="23" name="Freeform 23"/>
            <p:cNvSpPr/>
            <p:nvPr/>
          </p:nvSpPr>
          <p:spPr>
            <a:xfrm>
              <a:off x="16891" y="16891"/>
              <a:ext cx="7315200" cy="1121664"/>
            </a:xfrm>
            <a:custGeom>
              <a:avLst/>
              <a:gdLst/>
              <a:ahLst/>
              <a:cxnLst/>
              <a:rect l="l" t="t" r="r" b="b"/>
              <a:pathLst>
                <a:path w="7315200" h="1121664">
                  <a:moveTo>
                    <a:pt x="0" y="0"/>
                  </a:moveTo>
                  <a:lnTo>
                    <a:pt x="7315200" y="0"/>
                  </a:lnTo>
                  <a:lnTo>
                    <a:pt x="73152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7348982" cy="1155448"/>
            </a:xfrm>
            <a:custGeom>
              <a:avLst/>
              <a:gdLst/>
              <a:ahLst/>
              <a:cxnLst/>
              <a:rect l="l" t="t" r="r" b="b"/>
              <a:pathLst>
                <a:path w="7348982" h="115544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38555"/>
                  </a:lnTo>
                  <a:cubicBezTo>
                    <a:pt x="7348982" y="1147953"/>
                    <a:pt x="7341362" y="1155446"/>
                    <a:pt x="73320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7332091" y="1121664"/>
                  </a:lnTo>
                  <a:lnTo>
                    <a:pt x="7332091" y="1138555"/>
                  </a:lnTo>
                  <a:lnTo>
                    <a:pt x="7315200" y="113855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48640" y="2011680"/>
            <a:ext cx="9144000" cy="841248"/>
            <a:chOff x="0" y="0"/>
            <a:chExt cx="12192000" cy="11216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0" cy="1121664"/>
            </a:xfrm>
            <a:custGeom>
              <a:avLst/>
              <a:gdLst/>
              <a:ahLst/>
              <a:cxnLst/>
              <a:rect l="l" t="t" r="r" b="b"/>
              <a:pathLst>
                <a:path w="12192000" h="1121664">
                  <a:moveTo>
                    <a:pt x="0" y="0"/>
                  </a:moveTo>
                  <a:lnTo>
                    <a:pt x="12192000" y="0"/>
                  </a:lnTo>
                  <a:lnTo>
                    <a:pt x="12192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793" b="-16179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2192000" cy="11407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596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SAFE ZONE  (0°–15°)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92640" y="2011680"/>
            <a:ext cx="2560320" cy="841248"/>
            <a:chOff x="0" y="0"/>
            <a:chExt cx="3413760" cy="112166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13760" cy="1121664"/>
            </a:xfrm>
            <a:custGeom>
              <a:avLst/>
              <a:gdLst/>
              <a:ahLst/>
              <a:cxnLst/>
              <a:rect l="l" t="t" r="r" b="b"/>
              <a:pathLst>
                <a:path w="3413760" h="1121664">
                  <a:moveTo>
                    <a:pt x="0" y="0"/>
                  </a:moveTo>
                  <a:lnTo>
                    <a:pt x="3413760" y="0"/>
                  </a:lnTo>
                  <a:lnTo>
                    <a:pt x="34137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02" b="-930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3413760" cy="11407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59E0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WARNING  (15°–20°)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52960" y="2011680"/>
            <a:ext cx="5486400" cy="841248"/>
            <a:chOff x="0" y="0"/>
            <a:chExt cx="7315200" cy="112166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1121664"/>
            </a:xfrm>
            <a:custGeom>
              <a:avLst/>
              <a:gdLst/>
              <a:ahLst/>
              <a:cxnLst/>
              <a:rect l="l" t="t" r="r" b="b"/>
              <a:pathLst>
                <a:path w="7315200" h="1121664">
                  <a:moveTo>
                    <a:pt x="0" y="0"/>
                  </a:moveTo>
                  <a:lnTo>
                    <a:pt x="7315200" y="0"/>
                  </a:lnTo>
                  <a:lnTo>
                    <a:pt x="7315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076" b="-7707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7315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 dirty="0">
                  <a:solidFill>
                    <a:srgbClr val="DC262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RED ZONE  (&gt;20°) - ALERT FIRES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8477" y="3190237"/>
            <a:ext cx="3165853" cy="6512557"/>
            <a:chOff x="0" y="0"/>
            <a:chExt cx="4221137" cy="8683409"/>
          </a:xfrm>
        </p:grpSpPr>
        <p:sp>
          <p:nvSpPr>
            <p:cNvPr id="35" name="Freeform 35"/>
            <p:cNvSpPr/>
            <p:nvPr/>
          </p:nvSpPr>
          <p:spPr>
            <a:xfrm>
              <a:off x="13589" y="13589"/>
              <a:ext cx="4194048" cy="8656320"/>
            </a:xfrm>
            <a:custGeom>
              <a:avLst/>
              <a:gdLst/>
              <a:ahLst/>
              <a:cxnLst/>
              <a:rect l="l" t="t" r="r" b="b"/>
              <a:pathLst>
                <a:path w="4194048" h="8656320">
                  <a:moveTo>
                    <a:pt x="0" y="0"/>
                  </a:moveTo>
                  <a:lnTo>
                    <a:pt x="4194048" y="0"/>
                  </a:lnTo>
                  <a:lnTo>
                    <a:pt x="419404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4221226" cy="8683498"/>
            </a:xfrm>
            <a:custGeom>
              <a:avLst/>
              <a:gdLst/>
              <a:ahLst/>
              <a:cxnLst/>
              <a:rect l="l" t="t" r="r" b="b"/>
              <a:pathLst>
                <a:path w="4221226" h="8683498">
                  <a:moveTo>
                    <a:pt x="13589" y="0"/>
                  </a:moveTo>
                  <a:lnTo>
                    <a:pt x="4207637" y="0"/>
                  </a:lnTo>
                  <a:cubicBezTo>
                    <a:pt x="4215130" y="0"/>
                    <a:pt x="4221226" y="6096"/>
                    <a:pt x="4221226" y="13589"/>
                  </a:cubicBezTo>
                  <a:lnTo>
                    <a:pt x="4221226" y="8669909"/>
                  </a:lnTo>
                  <a:cubicBezTo>
                    <a:pt x="4221226" y="8677401"/>
                    <a:pt x="4215130" y="8683498"/>
                    <a:pt x="4207637" y="8683498"/>
                  </a:cubicBezTo>
                  <a:lnTo>
                    <a:pt x="13589" y="8683498"/>
                  </a:lnTo>
                  <a:cubicBezTo>
                    <a:pt x="6096" y="8683498"/>
                    <a:pt x="0" y="8677401"/>
                    <a:pt x="0" y="8669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8669909"/>
                  </a:lnTo>
                  <a:lnTo>
                    <a:pt x="13589" y="8669909"/>
                  </a:lnTo>
                  <a:lnTo>
                    <a:pt x="13589" y="8656320"/>
                  </a:lnTo>
                  <a:lnTo>
                    <a:pt x="4207637" y="8656320"/>
                  </a:lnTo>
                  <a:lnTo>
                    <a:pt x="4207637" y="8669909"/>
                  </a:lnTo>
                  <a:lnTo>
                    <a:pt x="4194048" y="8669909"/>
                  </a:lnTo>
                  <a:lnTo>
                    <a:pt x="4194048" y="13589"/>
                  </a:lnTo>
                  <a:lnTo>
                    <a:pt x="4207637" y="13589"/>
                  </a:lnTo>
                  <a:lnTo>
                    <a:pt x="42076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35943" y="3187703"/>
            <a:ext cx="3170939" cy="793499"/>
            <a:chOff x="0" y="0"/>
            <a:chExt cx="4227919" cy="1057999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4194048" cy="1024128"/>
            </a:xfrm>
            <a:custGeom>
              <a:avLst/>
              <a:gdLst/>
              <a:ahLst/>
              <a:cxnLst/>
              <a:rect l="l" t="t" r="r" b="b"/>
              <a:pathLst>
                <a:path w="4194048" h="1024128">
                  <a:moveTo>
                    <a:pt x="0" y="0"/>
                  </a:moveTo>
                  <a:lnTo>
                    <a:pt x="4194048" y="0"/>
                  </a:lnTo>
                  <a:lnTo>
                    <a:pt x="419404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4227830" cy="1057912"/>
            </a:xfrm>
            <a:custGeom>
              <a:avLst/>
              <a:gdLst/>
              <a:ahLst/>
              <a:cxnLst/>
              <a:rect l="l" t="t" r="r" b="b"/>
              <a:pathLst>
                <a:path w="4227830" h="1057912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1041019"/>
                  </a:lnTo>
                  <a:cubicBezTo>
                    <a:pt x="4227830" y="1050417"/>
                    <a:pt x="4220210" y="1057910"/>
                    <a:pt x="421093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4210939" y="1024128"/>
                  </a:lnTo>
                  <a:lnTo>
                    <a:pt x="4210939" y="1041019"/>
                  </a:lnTo>
                  <a:lnTo>
                    <a:pt x="4194048" y="104101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40080" y="3200400"/>
            <a:ext cx="731520" cy="768096"/>
            <a:chOff x="0" y="0"/>
            <a:chExt cx="975360" cy="10241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75360" cy="1024128"/>
            </a:xfrm>
            <a:custGeom>
              <a:avLst/>
              <a:gdLst/>
              <a:ahLst/>
              <a:cxnLst/>
              <a:rect l="l" t="t" r="r" b="b"/>
              <a:pathLst>
                <a:path w="975360" h="1024128">
                  <a:moveTo>
                    <a:pt x="0" y="0"/>
                  </a:moveTo>
                  <a:lnTo>
                    <a:pt x="975360" y="0"/>
                  </a:lnTo>
                  <a:lnTo>
                    <a:pt x="975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718" r="-8471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97536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16736" y="3200400"/>
            <a:ext cx="2286000" cy="768096"/>
            <a:chOff x="0" y="0"/>
            <a:chExt cx="3048000" cy="102412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48000" cy="1024128"/>
            </a:xfrm>
            <a:custGeom>
              <a:avLst/>
              <a:gdLst/>
              <a:ahLst/>
              <a:cxnLst/>
              <a:rect l="l" t="t" r="r" b="b"/>
              <a:pathLst>
                <a:path w="3048000" h="1024128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1" b="-799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3048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Athlete Pivots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82496" y="4169664"/>
            <a:ext cx="877824" cy="877824"/>
            <a:chOff x="0" y="0"/>
            <a:chExt cx="1170432" cy="1170432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731520" y="5212080"/>
            <a:ext cx="2779776" cy="4297680"/>
            <a:chOff x="0" y="0"/>
            <a:chExt cx="3706368" cy="57302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706368" cy="5730240"/>
            </a:xfrm>
            <a:custGeom>
              <a:avLst/>
              <a:gdLst/>
              <a:ahLst/>
              <a:cxnLst/>
              <a:rect l="l" t="t" r="r" b="b"/>
              <a:pathLst>
                <a:path w="3706368" h="5730240">
                  <a:moveTo>
                    <a:pt x="0" y="0"/>
                  </a:moveTo>
                  <a:lnTo>
                    <a:pt x="3706368" y="0"/>
                  </a:lnTo>
                  <a:lnTo>
                    <a:pt x="3706368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364" r="-148364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3706368" cy="577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During a landing or cut, the knee begins rotating. Both MPU-6050 sensors capture real-time orientation data independently.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566160" y="5303520"/>
            <a:ext cx="512064" cy="548640"/>
            <a:chOff x="0" y="0"/>
            <a:chExt cx="682752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82752" cy="731520"/>
            </a:xfrm>
            <a:custGeom>
              <a:avLst/>
              <a:gdLst/>
              <a:ahLst/>
              <a:cxnLst/>
              <a:rect l="l" t="t" r="r" b="b"/>
              <a:pathLst>
                <a:path w="682752" h="731520">
                  <a:moveTo>
                    <a:pt x="0" y="0"/>
                  </a:moveTo>
                  <a:lnTo>
                    <a:pt x="682752" y="0"/>
                  </a:lnTo>
                  <a:lnTo>
                    <a:pt x="68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r="-8746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682752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76621" y="3190237"/>
            <a:ext cx="3165853" cy="6512557"/>
            <a:chOff x="0" y="0"/>
            <a:chExt cx="4221137" cy="8683409"/>
          </a:xfrm>
        </p:grpSpPr>
        <p:sp>
          <p:nvSpPr>
            <p:cNvPr id="55" name="Freeform 55"/>
            <p:cNvSpPr/>
            <p:nvPr/>
          </p:nvSpPr>
          <p:spPr>
            <a:xfrm>
              <a:off x="13589" y="13589"/>
              <a:ext cx="4194048" cy="8656320"/>
            </a:xfrm>
            <a:custGeom>
              <a:avLst/>
              <a:gdLst/>
              <a:ahLst/>
              <a:cxnLst/>
              <a:rect l="l" t="t" r="r" b="b"/>
              <a:pathLst>
                <a:path w="4194048" h="8656320">
                  <a:moveTo>
                    <a:pt x="0" y="0"/>
                  </a:moveTo>
                  <a:lnTo>
                    <a:pt x="4194048" y="0"/>
                  </a:lnTo>
                  <a:lnTo>
                    <a:pt x="419404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4221226" cy="8683498"/>
            </a:xfrm>
            <a:custGeom>
              <a:avLst/>
              <a:gdLst/>
              <a:ahLst/>
              <a:cxnLst/>
              <a:rect l="l" t="t" r="r" b="b"/>
              <a:pathLst>
                <a:path w="4221226" h="8683498">
                  <a:moveTo>
                    <a:pt x="13589" y="0"/>
                  </a:moveTo>
                  <a:lnTo>
                    <a:pt x="4207637" y="0"/>
                  </a:lnTo>
                  <a:cubicBezTo>
                    <a:pt x="4215130" y="0"/>
                    <a:pt x="4221226" y="6096"/>
                    <a:pt x="4221226" y="13589"/>
                  </a:cubicBezTo>
                  <a:lnTo>
                    <a:pt x="4221226" y="8669909"/>
                  </a:lnTo>
                  <a:cubicBezTo>
                    <a:pt x="4221226" y="8677401"/>
                    <a:pt x="4215130" y="8683498"/>
                    <a:pt x="4207637" y="8683498"/>
                  </a:cubicBezTo>
                  <a:lnTo>
                    <a:pt x="13589" y="8683498"/>
                  </a:lnTo>
                  <a:cubicBezTo>
                    <a:pt x="6096" y="8683498"/>
                    <a:pt x="0" y="8677401"/>
                    <a:pt x="0" y="8669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8669909"/>
                  </a:lnTo>
                  <a:lnTo>
                    <a:pt x="13589" y="8669909"/>
                  </a:lnTo>
                  <a:lnTo>
                    <a:pt x="13589" y="8656320"/>
                  </a:lnTo>
                  <a:lnTo>
                    <a:pt x="4207637" y="8656320"/>
                  </a:lnTo>
                  <a:lnTo>
                    <a:pt x="4207637" y="8669909"/>
                  </a:lnTo>
                  <a:lnTo>
                    <a:pt x="4194048" y="8669909"/>
                  </a:lnTo>
                  <a:lnTo>
                    <a:pt x="4194048" y="13589"/>
                  </a:lnTo>
                  <a:lnTo>
                    <a:pt x="4207637" y="13589"/>
                  </a:lnTo>
                  <a:lnTo>
                    <a:pt x="42076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3974087" y="3187703"/>
            <a:ext cx="3170939" cy="793499"/>
            <a:chOff x="0" y="0"/>
            <a:chExt cx="4227919" cy="1057999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4194048" cy="1024128"/>
            </a:xfrm>
            <a:custGeom>
              <a:avLst/>
              <a:gdLst/>
              <a:ahLst/>
              <a:cxnLst/>
              <a:rect l="l" t="t" r="r" b="b"/>
              <a:pathLst>
                <a:path w="4194048" h="1024128">
                  <a:moveTo>
                    <a:pt x="0" y="0"/>
                  </a:moveTo>
                  <a:lnTo>
                    <a:pt x="4194048" y="0"/>
                  </a:lnTo>
                  <a:lnTo>
                    <a:pt x="419404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4227830" cy="1057912"/>
            </a:xfrm>
            <a:custGeom>
              <a:avLst/>
              <a:gdLst/>
              <a:ahLst/>
              <a:cxnLst/>
              <a:rect l="l" t="t" r="r" b="b"/>
              <a:pathLst>
                <a:path w="4227830" h="1057912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1041019"/>
                  </a:lnTo>
                  <a:cubicBezTo>
                    <a:pt x="4227830" y="1050417"/>
                    <a:pt x="4220210" y="1057910"/>
                    <a:pt x="421093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4210939" y="1024128"/>
                  </a:lnTo>
                  <a:lnTo>
                    <a:pt x="4210939" y="1041019"/>
                  </a:lnTo>
                  <a:lnTo>
                    <a:pt x="4194048" y="104101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4078224" y="3200400"/>
            <a:ext cx="731520" cy="768096"/>
            <a:chOff x="0" y="0"/>
            <a:chExt cx="975360" cy="10241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75360" cy="1024128"/>
            </a:xfrm>
            <a:custGeom>
              <a:avLst/>
              <a:gdLst/>
              <a:ahLst/>
              <a:cxnLst/>
              <a:rect l="l" t="t" r="r" b="b"/>
              <a:pathLst>
                <a:path w="975360" h="1024128">
                  <a:moveTo>
                    <a:pt x="0" y="0"/>
                  </a:moveTo>
                  <a:lnTo>
                    <a:pt x="975360" y="0"/>
                  </a:lnTo>
                  <a:lnTo>
                    <a:pt x="975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718" r="-8471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97536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754880" y="3200400"/>
            <a:ext cx="2286000" cy="768096"/>
            <a:chOff x="0" y="0"/>
            <a:chExt cx="3048000" cy="102412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048000" cy="1024128"/>
            </a:xfrm>
            <a:custGeom>
              <a:avLst/>
              <a:gdLst/>
              <a:ahLst/>
              <a:cxnLst/>
              <a:rect l="l" t="t" r="r" b="b"/>
              <a:pathLst>
                <a:path w="3048000" h="1024128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1" b="-799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3048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ESP32 Calculates Twist Angle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120640" y="4169664"/>
            <a:ext cx="877824" cy="877824"/>
            <a:chOff x="0" y="0"/>
            <a:chExt cx="1170432" cy="1170432"/>
          </a:xfrm>
        </p:grpSpPr>
        <p:sp>
          <p:nvSpPr>
            <p:cNvPr id="67" name="Freeform 67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4169664" y="5212080"/>
            <a:ext cx="2779776" cy="4297680"/>
            <a:chOff x="0" y="0"/>
            <a:chExt cx="3706368" cy="57302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706368" cy="5730240"/>
            </a:xfrm>
            <a:custGeom>
              <a:avLst/>
              <a:gdLst/>
              <a:ahLst/>
              <a:cxnLst/>
              <a:rect l="l" t="t" r="r" b="b"/>
              <a:pathLst>
                <a:path w="3706368" h="5730240">
                  <a:moveTo>
                    <a:pt x="0" y="0"/>
                  </a:moveTo>
                  <a:lnTo>
                    <a:pt x="3706368" y="0"/>
                  </a:lnTo>
                  <a:lnTo>
                    <a:pt x="3706368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364" r="-148364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3706368" cy="577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controller subtracts calf yaw from thigh yaw to compute the exact internal rotation of the knee joint in real time.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004304" y="5303520"/>
            <a:ext cx="512064" cy="548640"/>
            <a:chOff x="0" y="0"/>
            <a:chExt cx="682752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82752" cy="731520"/>
            </a:xfrm>
            <a:custGeom>
              <a:avLst/>
              <a:gdLst/>
              <a:ahLst/>
              <a:cxnLst/>
              <a:rect l="l" t="t" r="r" b="b"/>
              <a:pathLst>
                <a:path w="682752" h="731520">
                  <a:moveTo>
                    <a:pt x="0" y="0"/>
                  </a:moveTo>
                  <a:lnTo>
                    <a:pt x="682752" y="0"/>
                  </a:lnTo>
                  <a:lnTo>
                    <a:pt x="68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r="-87468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682752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14765" y="3190237"/>
            <a:ext cx="3165853" cy="6512557"/>
            <a:chOff x="0" y="0"/>
            <a:chExt cx="4221137" cy="8683409"/>
          </a:xfrm>
        </p:grpSpPr>
        <p:sp>
          <p:nvSpPr>
            <p:cNvPr id="75" name="Freeform 75"/>
            <p:cNvSpPr/>
            <p:nvPr/>
          </p:nvSpPr>
          <p:spPr>
            <a:xfrm>
              <a:off x="13589" y="13589"/>
              <a:ext cx="4194048" cy="8656320"/>
            </a:xfrm>
            <a:custGeom>
              <a:avLst/>
              <a:gdLst/>
              <a:ahLst/>
              <a:cxnLst/>
              <a:rect l="l" t="t" r="r" b="b"/>
              <a:pathLst>
                <a:path w="4194048" h="8656320">
                  <a:moveTo>
                    <a:pt x="0" y="0"/>
                  </a:moveTo>
                  <a:lnTo>
                    <a:pt x="4194048" y="0"/>
                  </a:lnTo>
                  <a:lnTo>
                    <a:pt x="419404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4221226" cy="8683498"/>
            </a:xfrm>
            <a:custGeom>
              <a:avLst/>
              <a:gdLst/>
              <a:ahLst/>
              <a:cxnLst/>
              <a:rect l="l" t="t" r="r" b="b"/>
              <a:pathLst>
                <a:path w="4221226" h="8683498">
                  <a:moveTo>
                    <a:pt x="13589" y="0"/>
                  </a:moveTo>
                  <a:lnTo>
                    <a:pt x="4207637" y="0"/>
                  </a:lnTo>
                  <a:cubicBezTo>
                    <a:pt x="4215130" y="0"/>
                    <a:pt x="4221226" y="6096"/>
                    <a:pt x="4221226" y="13589"/>
                  </a:cubicBezTo>
                  <a:lnTo>
                    <a:pt x="4221226" y="8669909"/>
                  </a:lnTo>
                  <a:cubicBezTo>
                    <a:pt x="4221226" y="8677401"/>
                    <a:pt x="4215130" y="8683498"/>
                    <a:pt x="4207637" y="8683498"/>
                  </a:cubicBezTo>
                  <a:lnTo>
                    <a:pt x="13589" y="8683498"/>
                  </a:lnTo>
                  <a:cubicBezTo>
                    <a:pt x="6096" y="8683498"/>
                    <a:pt x="0" y="8677401"/>
                    <a:pt x="0" y="8669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8669909"/>
                  </a:lnTo>
                  <a:lnTo>
                    <a:pt x="13589" y="8669909"/>
                  </a:lnTo>
                  <a:lnTo>
                    <a:pt x="13589" y="8656320"/>
                  </a:lnTo>
                  <a:lnTo>
                    <a:pt x="4207637" y="8656320"/>
                  </a:lnTo>
                  <a:lnTo>
                    <a:pt x="4207637" y="8669909"/>
                  </a:lnTo>
                  <a:lnTo>
                    <a:pt x="4194048" y="8669909"/>
                  </a:lnTo>
                  <a:lnTo>
                    <a:pt x="4194048" y="13589"/>
                  </a:lnTo>
                  <a:lnTo>
                    <a:pt x="4207637" y="13589"/>
                  </a:lnTo>
                  <a:lnTo>
                    <a:pt x="42076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7412231" y="3187703"/>
            <a:ext cx="3170939" cy="793499"/>
            <a:chOff x="0" y="0"/>
            <a:chExt cx="4227919" cy="1057999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4194048" cy="1024128"/>
            </a:xfrm>
            <a:custGeom>
              <a:avLst/>
              <a:gdLst/>
              <a:ahLst/>
              <a:cxnLst/>
              <a:rect l="l" t="t" r="r" b="b"/>
              <a:pathLst>
                <a:path w="4194048" h="1024128">
                  <a:moveTo>
                    <a:pt x="0" y="0"/>
                  </a:moveTo>
                  <a:lnTo>
                    <a:pt x="4194048" y="0"/>
                  </a:lnTo>
                  <a:lnTo>
                    <a:pt x="419404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4227830" cy="1057912"/>
            </a:xfrm>
            <a:custGeom>
              <a:avLst/>
              <a:gdLst/>
              <a:ahLst/>
              <a:cxnLst/>
              <a:rect l="l" t="t" r="r" b="b"/>
              <a:pathLst>
                <a:path w="4227830" h="1057912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1041019"/>
                  </a:lnTo>
                  <a:cubicBezTo>
                    <a:pt x="4227830" y="1050417"/>
                    <a:pt x="4220210" y="1057910"/>
                    <a:pt x="421093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4210939" y="1024128"/>
                  </a:lnTo>
                  <a:lnTo>
                    <a:pt x="4210939" y="1041019"/>
                  </a:lnTo>
                  <a:lnTo>
                    <a:pt x="4194048" y="104101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7516368" y="3200400"/>
            <a:ext cx="731520" cy="768096"/>
            <a:chOff x="0" y="0"/>
            <a:chExt cx="975360" cy="102412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75360" cy="1024128"/>
            </a:xfrm>
            <a:custGeom>
              <a:avLst/>
              <a:gdLst/>
              <a:ahLst/>
              <a:cxnLst/>
              <a:rect l="l" t="t" r="r" b="b"/>
              <a:pathLst>
                <a:path w="975360" h="1024128">
                  <a:moveTo>
                    <a:pt x="0" y="0"/>
                  </a:moveTo>
                  <a:lnTo>
                    <a:pt x="975360" y="0"/>
                  </a:lnTo>
                  <a:lnTo>
                    <a:pt x="975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718" r="-84718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97536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193024" y="3200400"/>
            <a:ext cx="2286000" cy="768096"/>
            <a:chOff x="0" y="0"/>
            <a:chExt cx="3048000" cy="102412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048000" cy="1024128"/>
            </a:xfrm>
            <a:custGeom>
              <a:avLst/>
              <a:gdLst/>
              <a:ahLst/>
              <a:cxnLst/>
              <a:rect l="l" t="t" r="r" b="b"/>
              <a:pathLst>
                <a:path w="3048000" h="1024128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1" b="-799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3048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Red Zone Threshold Crossed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558784" y="4169664"/>
            <a:ext cx="877824" cy="877824"/>
            <a:chOff x="0" y="0"/>
            <a:chExt cx="1170432" cy="1170432"/>
          </a:xfrm>
        </p:grpSpPr>
        <p:sp>
          <p:nvSpPr>
            <p:cNvPr id="87" name="Freeform 87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7607808" y="5212080"/>
            <a:ext cx="2779776" cy="4297680"/>
            <a:chOff x="0" y="0"/>
            <a:chExt cx="3706368" cy="573024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706368" cy="5730240"/>
            </a:xfrm>
            <a:custGeom>
              <a:avLst/>
              <a:gdLst/>
              <a:ahLst/>
              <a:cxnLst/>
              <a:rect l="l" t="t" r="r" b="b"/>
              <a:pathLst>
                <a:path w="3706368" h="5730240">
                  <a:moveTo>
                    <a:pt x="0" y="0"/>
                  </a:moveTo>
                  <a:lnTo>
                    <a:pt x="3706368" y="0"/>
                  </a:lnTo>
                  <a:lnTo>
                    <a:pt x="3706368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364" r="-148364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47625"/>
              <a:ext cx="3706368" cy="577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differential angle exceeds 15°-20°, the ESP32 identifies a high-risk event. A trigger signal is generated.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442448" y="5303520"/>
            <a:ext cx="512064" cy="548640"/>
            <a:chOff x="0" y="0"/>
            <a:chExt cx="682752" cy="7315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82752" cy="731520"/>
            </a:xfrm>
            <a:custGeom>
              <a:avLst/>
              <a:gdLst/>
              <a:ahLst/>
              <a:cxnLst/>
              <a:rect l="l" t="t" r="r" b="b"/>
              <a:pathLst>
                <a:path w="682752" h="731520">
                  <a:moveTo>
                    <a:pt x="0" y="0"/>
                  </a:moveTo>
                  <a:lnTo>
                    <a:pt x="682752" y="0"/>
                  </a:lnTo>
                  <a:lnTo>
                    <a:pt x="68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r="-87468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682752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852909" y="3190237"/>
            <a:ext cx="3165853" cy="6512557"/>
            <a:chOff x="0" y="0"/>
            <a:chExt cx="4221137" cy="8683409"/>
          </a:xfrm>
        </p:grpSpPr>
        <p:sp>
          <p:nvSpPr>
            <p:cNvPr id="95" name="Freeform 95"/>
            <p:cNvSpPr/>
            <p:nvPr/>
          </p:nvSpPr>
          <p:spPr>
            <a:xfrm>
              <a:off x="13589" y="13589"/>
              <a:ext cx="4194048" cy="8656320"/>
            </a:xfrm>
            <a:custGeom>
              <a:avLst/>
              <a:gdLst/>
              <a:ahLst/>
              <a:cxnLst/>
              <a:rect l="l" t="t" r="r" b="b"/>
              <a:pathLst>
                <a:path w="4194048" h="8656320">
                  <a:moveTo>
                    <a:pt x="0" y="0"/>
                  </a:moveTo>
                  <a:lnTo>
                    <a:pt x="4194048" y="0"/>
                  </a:lnTo>
                  <a:lnTo>
                    <a:pt x="419404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6" name="Freeform 96"/>
            <p:cNvSpPr/>
            <p:nvPr/>
          </p:nvSpPr>
          <p:spPr>
            <a:xfrm>
              <a:off x="0" y="0"/>
              <a:ext cx="4221226" cy="8683498"/>
            </a:xfrm>
            <a:custGeom>
              <a:avLst/>
              <a:gdLst/>
              <a:ahLst/>
              <a:cxnLst/>
              <a:rect l="l" t="t" r="r" b="b"/>
              <a:pathLst>
                <a:path w="4221226" h="8683498">
                  <a:moveTo>
                    <a:pt x="13589" y="0"/>
                  </a:moveTo>
                  <a:lnTo>
                    <a:pt x="4207637" y="0"/>
                  </a:lnTo>
                  <a:cubicBezTo>
                    <a:pt x="4215130" y="0"/>
                    <a:pt x="4221226" y="6096"/>
                    <a:pt x="4221226" y="13589"/>
                  </a:cubicBezTo>
                  <a:lnTo>
                    <a:pt x="4221226" y="8669909"/>
                  </a:lnTo>
                  <a:cubicBezTo>
                    <a:pt x="4221226" y="8677401"/>
                    <a:pt x="4215130" y="8683498"/>
                    <a:pt x="4207637" y="8683498"/>
                  </a:cubicBezTo>
                  <a:lnTo>
                    <a:pt x="13589" y="8683498"/>
                  </a:lnTo>
                  <a:cubicBezTo>
                    <a:pt x="6096" y="8683498"/>
                    <a:pt x="0" y="8677401"/>
                    <a:pt x="0" y="8669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8669909"/>
                  </a:lnTo>
                  <a:lnTo>
                    <a:pt x="13589" y="8669909"/>
                  </a:lnTo>
                  <a:lnTo>
                    <a:pt x="13589" y="8656320"/>
                  </a:lnTo>
                  <a:lnTo>
                    <a:pt x="4207637" y="8656320"/>
                  </a:lnTo>
                  <a:lnTo>
                    <a:pt x="4207637" y="8669909"/>
                  </a:lnTo>
                  <a:lnTo>
                    <a:pt x="4194048" y="8669909"/>
                  </a:lnTo>
                  <a:lnTo>
                    <a:pt x="4194048" y="13589"/>
                  </a:lnTo>
                  <a:lnTo>
                    <a:pt x="4207637" y="13589"/>
                  </a:lnTo>
                  <a:lnTo>
                    <a:pt x="42076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0850375" y="3187703"/>
            <a:ext cx="3170939" cy="793499"/>
            <a:chOff x="0" y="0"/>
            <a:chExt cx="4227919" cy="1057999"/>
          </a:xfrm>
        </p:grpSpPr>
        <p:sp>
          <p:nvSpPr>
            <p:cNvPr id="98" name="Freeform 98"/>
            <p:cNvSpPr/>
            <p:nvPr/>
          </p:nvSpPr>
          <p:spPr>
            <a:xfrm>
              <a:off x="16891" y="16891"/>
              <a:ext cx="4194048" cy="1024128"/>
            </a:xfrm>
            <a:custGeom>
              <a:avLst/>
              <a:gdLst/>
              <a:ahLst/>
              <a:cxnLst/>
              <a:rect l="l" t="t" r="r" b="b"/>
              <a:pathLst>
                <a:path w="4194048" h="1024128">
                  <a:moveTo>
                    <a:pt x="0" y="0"/>
                  </a:moveTo>
                  <a:lnTo>
                    <a:pt x="4194048" y="0"/>
                  </a:lnTo>
                  <a:lnTo>
                    <a:pt x="419404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99" name="Freeform 99"/>
            <p:cNvSpPr/>
            <p:nvPr/>
          </p:nvSpPr>
          <p:spPr>
            <a:xfrm>
              <a:off x="0" y="0"/>
              <a:ext cx="4227830" cy="1057912"/>
            </a:xfrm>
            <a:custGeom>
              <a:avLst/>
              <a:gdLst/>
              <a:ahLst/>
              <a:cxnLst/>
              <a:rect l="l" t="t" r="r" b="b"/>
              <a:pathLst>
                <a:path w="4227830" h="1057912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1041019"/>
                  </a:lnTo>
                  <a:cubicBezTo>
                    <a:pt x="4227830" y="1050417"/>
                    <a:pt x="4220210" y="1057910"/>
                    <a:pt x="421093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4210939" y="1024128"/>
                  </a:lnTo>
                  <a:lnTo>
                    <a:pt x="4210939" y="1041019"/>
                  </a:lnTo>
                  <a:lnTo>
                    <a:pt x="4194048" y="104101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10954512" y="3200400"/>
            <a:ext cx="731520" cy="768096"/>
            <a:chOff x="0" y="0"/>
            <a:chExt cx="975360" cy="1024128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75360" cy="1024128"/>
            </a:xfrm>
            <a:custGeom>
              <a:avLst/>
              <a:gdLst/>
              <a:ahLst/>
              <a:cxnLst/>
              <a:rect l="l" t="t" r="r" b="b"/>
              <a:pathLst>
                <a:path w="975360" h="1024128">
                  <a:moveTo>
                    <a:pt x="0" y="0"/>
                  </a:moveTo>
                  <a:lnTo>
                    <a:pt x="975360" y="0"/>
                  </a:lnTo>
                  <a:lnTo>
                    <a:pt x="975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718" r="-84718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97536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1631168" y="3200400"/>
            <a:ext cx="2286000" cy="768096"/>
            <a:chOff x="0" y="0"/>
            <a:chExt cx="3048000" cy="102412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048000" cy="1024128"/>
            </a:xfrm>
            <a:custGeom>
              <a:avLst/>
              <a:gdLst/>
              <a:ahLst/>
              <a:cxnLst/>
              <a:rect l="l" t="t" r="r" b="b"/>
              <a:pathLst>
                <a:path w="3048000" h="1024128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1" b="-7991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9525"/>
              <a:ext cx="3048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ERM Motor Fires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1996928" y="4169664"/>
            <a:ext cx="877824" cy="877824"/>
            <a:chOff x="0" y="0"/>
            <a:chExt cx="1170432" cy="1170432"/>
          </a:xfrm>
        </p:grpSpPr>
        <p:sp>
          <p:nvSpPr>
            <p:cNvPr id="107" name="Freeform 107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11045952" y="5212080"/>
            <a:ext cx="2779776" cy="4297680"/>
            <a:chOff x="0" y="0"/>
            <a:chExt cx="3706368" cy="573024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706368" cy="5730240"/>
            </a:xfrm>
            <a:custGeom>
              <a:avLst/>
              <a:gdLst/>
              <a:ahLst/>
              <a:cxnLst/>
              <a:rect l="l" t="t" r="r" b="b"/>
              <a:pathLst>
                <a:path w="3706368" h="5730240">
                  <a:moveTo>
                    <a:pt x="0" y="0"/>
                  </a:moveTo>
                  <a:lnTo>
                    <a:pt x="3706368" y="0"/>
                  </a:lnTo>
                  <a:lnTo>
                    <a:pt x="3706368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364" r="-148364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47625"/>
              <a:ext cx="3706368" cy="577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embedded Eccentric Rotating Mass vibration motor activates, delivering a sharp tactile pulse directly against the athlete's skin.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3880592" y="5303520"/>
            <a:ext cx="512064" cy="548640"/>
            <a:chOff x="0" y="0"/>
            <a:chExt cx="682752" cy="73152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682752" cy="731520"/>
            </a:xfrm>
            <a:custGeom>
              <a:avLst/>
              <a:gdLst/>
              <a:ahLst/>
              <a:cxnLst/>
              <a:rect l="l" t="t" r="r" b="b"/>
              <a:pathLst>
                <a:path w="682752" h="731520">
                  <a:moveTo>
                    <a:pt x="0" y="0"/>
                  </a:moveTo>
                  <a:lnTo>
                    <a:pt x="682752" y="0"/>
                  </a:lnTo>
                  <a:lnTo>
                    <a:pt x="68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468" r="-87468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682752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4291053" y="3190237"/>
            <a:ext cx="3165853" cy="6512557"/>
            <a:chOff x="0" y="0"/>
            <a:chExt cx="4221137" cy="8683409"/>
          </a:xfrm>
        </p:grpSpPr>
        <p:sp>
          <p:nvSpPr>
            <p:cNvPr id="115" name="Freeform 115"/>
            <p:cNvSpPr/>
            <p:nvPr/>
          </p:nvSpPr>
          <p:spPr>
            <a:xfrm>
              <a:off x="13589" y="13589"/>
              <a:ext cx="4194048" cy="8656320"/>
            </a:xfrm>
            <a:custGeom>
              <a:avLst/>
              <a:gdLst/>
              <a:ahLst/>
              <a:cxnLst/>
              <a:rect l="l" t="t" r="r" b="b"/>
              <a:pathLst>
                <a:path w="4194048" h="8656320">
                  <a:moveTo>
                    <a:pt x="0" y="0"/>
                  </a:moveTo>
                  <a:lnTo>
                    <a:pt x="4194048" y="0"/>
                  </a:lnTo>
                  <a:lnTo>
                    <a:pt x="419404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6" name="Freeform 116"/>
            <p:cNvSpPr/>
            <p:nvPr/>
          </p:nvSpPr>
          <p:spPr>
            <a:xfrm>
              <a:off x="0" y="0"/>
              <a:ext cx="4221226" cy="8683498"/>
            </a:xfrm>
            <a:custGeom>
              <a:avLst/>
              <a:gdLst/>
              <a:ahLst/>
              <a:cxnLst/>
              <a:rect l="l" t="t" r="r" b="b"/>
              <a:pathLst>
                <a:path w="4221226" h="8683498">
                  <a:moveTo>
                    <a:pt x="13589" y="0"/>
                  </a:moveTo>
                  <a:lnTo>
                    <a:pt x="4207637" y="0"/>
                  </a:lnTo>
                  <a:cubicBezTo>
                    <a:pt x="4215130" y="0"/>
                    <a:pt x="4221226" y="6096"/>
                    <a:pt x="4221226" y="13589"/>
                  </a:cubicBezTo>
                  <a:lnTo>
                    <a:pt x="4221226" y="8669909"/>
                  </a:lnTo>
                  <a:cubicBezTo>
                    <a:pt x="4221226" y="8677401"/>
                    <a:pt x="4215130" y="8683498"/>
                    <a:pt x="4207637" y="8683498"/>
                  </a:cubicBezTo>
                  <a:lnTo>
                    <a:pt x="13589" y="8683498"/>
                  </a:lnTo>
                  <a:cubicBezTo>
                    <a:pt x="6096" y="8683498"/>
                    <a:pt x="0" y="8677401"/>
                    <a:pt x="0" y="8669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8669909"/>
                  </a:lnTo>
                  <a:lnTo>
                    <a:pt x="13589" y="8669909"/>
                  </a:lnTo>
                  <a:lnTo>
                    <a:pt x="13589" y="8656320"/>
                  </a:lnTo>
                  <a:lnTo>
                    <a:pt x="4207637" y="8656320"/>
                  </a:lnTo>
                  <a:lnTo>
                    <a:pt x="4207637" y="8669909"/>
                  </a:lnTo>
                  <a:lnTo>
                    <a:pt x="4194048" y="8669909"/>
                  </a:lnTo>
                  <a:lnTo>
                    <a:pt x="4194048" y="13589"/>
                  </a:lnTo>
                  <a:lnTo>
                    <a:pt x="4207637" y="13589"/>
                  </a:lnTo>
                  <a:lnTo>
                    <a:pt x="42076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14288519" y="3187703"/>
            <a:ext cx="3170939" cy="793499"/>
            <a:chOff x="0" y="0"/>
            <a:chExt cx="4227919" cy="1057999"/>
          </a:xfrm>
        </p:grpSpPr>
        <p:sp>
          <p:nvSpPr>
            <p:cNvPr id="118" name="Freeform 118"/>
            <p:cNvSpPr/>
            <p:nvPr/>
          </p:nvSpPr>
          <p:spPr>
            <a:xfrm>
              <a:off x="16891" y="16891"/>
              <a:ext cx="4194048" cy="1024128"/>
            </a:xfrm>
            <a:custGeom>
              <a:avLst/>
              <a:gdLst/>
              <a:ahLst/>
              <a:cxnLst/>
              <a:rect l="l" t="t" r="r" b="b"/>
              <a:pathLst>
                <a:path w="4194048" h="1024128">
                  <a:moveTo>
                    <a:pt x="0" y="0"/>
                  </a:moveTo>
                  <a:lnTo>
                    <a:pt x="4194048" y="0"/>
                  </a:lnTo>
                  <a:lnTo>
                    <a:pt x="419404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id="119" name="Freeform 119"/>
            <p:cNvSpPr/>
            <p:nvPr/>
          </p:nvSpPr>
          <p:spPr>
            <a:xfrm>
              <a:off x="0" y="0"/>
              <a:ext cx="4227830" cy="1057912"/>
            </a:xfrm>
            <a:custGeom>
              <a:avLst/>
              <a:gdLst/>
              <a:ahLst/>
              <a:cxnLst/>
              <a:rect l="l" t="t" r="r" b="b"/>
              <a:pathLst>
                <a:path w="4227830" h="1057912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1041019"/>
                  </a:lnTo>
                  <a:cubicBezTo>
                    <a:pt x="4227830" y="1050417"/>
                    <a:pt x="4220210" y="1057910"/>
                    <a:pt x="421093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4210939" y="1024128"/>
                  </a:lnTo>
                  <a:lnTo>
                    <a:pt x="4210939" y="1041019"/>
                  </a:lnTo>
                  <a:lnTo>
                    <a:pt x="4194048" y="1041019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id="120" name="Group 120"/>
          <p:cNvGrpSpPr/>
          <p:nvPr/>
        </p:nvGrpSpPr>
        <p:grpSpPr>
          <a:xfrm>
            <a:off x="14392656" y="3200400"/>
            <a:ext cx="731520" cy="768096"/>
            <a:chOff x="0" y="0"/>
            <a:chExt cx="975360" cy="1024128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975360" cy="1024128"/>
            </a:xfrm>
            <a:custGeom>
              <a:avLst/>
              <a:gdLst/>
              <a:ahLst/>
              <a:cxnLst/>
              <a:rect l="l" t="t" r="r" b="b"/>
              <a:pathLst>
                <a:path w="975360" h="1024128">
                  <a:moveTo>
                    <a:pt x="0" y="0"/>
                  </a:moveTo>
                  <a:lnTo>
                    <a:pt x="975360" y="0"/>
                  </a:lnTo>
                  <a:lnTo>
                    <a:pt x="975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718" r="-84718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19050"/>
              <a:ext cx="97536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5069312" y="3200400"/>
            <a:ext cx="2286000" cy="768096"/>
            <a:chOff x="0" y="0"/>
            <a:chExt cx="3048000" cy="1024128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3048000" cy="1024128"/>
            </a:xfrm>
            <a:custGeom>
              <a:avLst/>
              <a:gdLst/>
              <a:ahLst/>
              <a:cxnLst/>
              <a:rect l="l" t="t" r="r" b="b"/>
              <a:pathLst>
                <a:path w="3048000" h="1024128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1" b="-7991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9525"/>
              <a:ext cx="3048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Athlete Self-Corrects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5435072" y="4169664"/>
            <a:ext cx="877824" cy="877824"/>
            <a:chOff x="0" y="0"/>
            <a:chExt cx="1170432" cy="1170432"/>
          </a:xfrm>
        </p:grpSpPr>
        <p:sp>
          <p:nvSpPr>
            <p:cNvPr id="127" name="Freeform 127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28" name="Group 128"/>
          <p:cNvGrpSpPr/>
          <p:nvPr/>
        </p:nvGrpSpPr>
        <p:grpSpPr>
          <a:xfrm>
            <a:off x="14484096" y="5212080"/>
            <a:ext cx="2779776" cy="4297680"/>
            <a:chOff x="0" y="0"/>
            <a:chExt cx="3706368" cy="573024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3706368" cy="5730240"/>
            </a:xfrm>
            <a:custGeom>
              <a:avLst/>
              <a:gdLst/>
              <a:ahLst/>
              <a:cxnLst/>
              <a:rect l="l" t="t" r="r" b="b"/>
              <a:pathLst>
                <a:path w="3706368" h="5730240">
                  <a:moveTo>
                    <a:pt x="0" y="0"/>
                  </a:moveTo>
                  <a:lnTo>
                    <a:pt x="3706368" y="0"/>
                  </a:lnTo>
                  <a:lnTo>
                    <a:pt x="3706368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364" r="-148364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47625"/>
              <a:ext cx="3706368" cy="577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physical sensation is an instant reflex trigger. The athlete adjusts stance or landing mechanics before reaching ligament failure threshold.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548640" y="9692640"/>
            <a:ext cx="17190720" cy="475488"/>
            <a:chOff x="0" y="0"/>
            <a:chExt cx="22920960" cy="633984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22920961" cy="633984"/>
            </a:xfrm>
            <a:custGeom>
              <a:avLst/>
              <a:gdLst/>
              <a:ahLst/>
              <a:cxnLst/>
              <a:rect l="l" t="t" r="r" b="b"/>
              <a:pathLst>
                <a:path w="22920961" h="633984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4459" b="-654459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dirty="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Vibration alert is instantaneous; the athlete feels it before the ligament reaches its mechanical failure point.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KEY FEATURES SUMMARY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6 integrated features that set the Dynamic Knee Ankle Support apart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47800" y="2024704"/>
            <a:ext cx="4043677" cy="3860797"/>
            <a:chOff x="0" y="0"/>
            <a:chExt cx="5391569" cy="5147729"/>
          </a:xfrm>
        </p:grpSpPr>
        <p:sp>
          <p:nvSpPr>
            <p:cNvPr id="14" name="Freeform 14"/>
            <p:cNvSpPr/>
            <p:nvPr/>
          </p:nvSpPr>
          <p:spPr>
            <a:xfrm>
              <a:off x="13589" y="13589"/>
              <a:ext cx="5364480" cy="5120640"/>
            </a:xfrm>
            <a:custGeom>
              <a:avLst/>
              <a:gdLst/>
              <a:ahLst/>
              <a:cxnLst/>
              <a:rect l="l" t="t" r="r" b="b"/>
              <a:pathLst>
                <a:path w="5364480" h="5120640">
                  <a:moveTo>
                    <a:pt x="0" y="0"/>
                  </a:moveTo>
                  <a:lnTo>
                    <a:pt x="5364480" y="0"/>
                  </a:lnTo>
                  <a:lnTo>
                    <a:pt x="536448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5391658" cy="5147818"/>
            </a:xfrm>
            <a:custGeom>
              <a:avLst/>
              <a:gdLst/>
              <a:ahLst/>
              <a:cxnLst/>
              <a:rect l="l" t="t" r="r" b="b"/>
              <a:pathLst>
                <a:path w="5391658" h="5147818">
                  <a:moveTo>
                    <a:pt x="13589" y="0"/>
                  </a:moveTo>
                  <a:lnTo>
                    <a:pt x="5378069" y="0"/>
                  </a:lnTo>
                  <a:cubicBezTo>
                    <a:pt x="5385562" y="0"/>
                    <a:pt x="5391658" y="6096"/>
                    <a:pt x="5391658" y="13589"/>
                  </a:cubicBezTo>
                  <a:lnTo>
                    <a:pt x="5391658" y="5134229"/>
                  </a:lnTo>
                  <a:cubicBezTo>
                    <a:pt x="5391658" y="5141722"/>
                    <a:pt x="5385562" y="5147818"/>
                    <a:pt x="5378069" y="5147818"/>
                  </a:cubicBezTo>
                  <a:lnTo>
                    <a:pt x="13589" y="5147818"/>
                  </a:lnTo>
                  <a:cubicBezTo>
                    <a:pt x="6096" y="5147818"/>
                    <a:pt x="0" y="5141722"/>
                    <a:pt x="0" y="51342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134229"/>
                  </a:lnTo>
                  <a:lnTo>
                    <a:pt x="13589" y="5134229"/>
                  </a:lnTo>
                  <a:lnTo>
                    <a:pt x="13589" y="5120640"/>
                  </a:lnTo>
                  <a:lnTo>
                    <a:pt x="5378069" y="5120640"/>
                  </a:lnTo>
                  <a:lnTo>
                    <a:pt x="5378069" y="5134229"/>
                  </a:lnTo>
                  <a:lnTo>
                    <a:pt x="5364480" y="5134229"/>
                  </a:lnTo>
                  <a:lnTo>
                    <a:pt x="5364480" y="13589"/>
                  </a:lnTo>
                  <a:lnTo>
                    <a:pt x="5378069" y="13589"/>
                  </a:lnTo>
                  <a:lnTo>
                    <a:pt x="5378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445266" y="2022170"/>
            <a:ext cx="4048763" cy="135131"/>
            <a:chOff x="0" y="0"/>
            <a:chExt cx="5398351" cy="180175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5364480" cy="146304"/>
            </a:xfrm>
            <a:custGeom>
              <a:avLst/>
              <a:gdLst/>
              <a:ahLst/>
              <a:cxnLst/>
              <a:rect l="l" t="t" r="r" b="b"/>
              <a:pathLst>
                <a:path w="5364480" h="146304">
                  <a:moveTo>
                    <a:pt x="0" y="0"/>
                  </a:moveTo>
                  <a:lnTo>
                    <a:pt x="5364480" y="0"/>
                  </a:lnTo>
                  <a:lnTo>
                    <a:pt x="53644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5398262" cy="180088"/>
            </a:xfrm>
            <a:custGeom>
              <a:avLst/>
              <a:gdLst/>
              <a:ahLst/>
              <a:cxnLst/>
              <a:rect l="l" t="t" r="r" b="b"/>
              <a:pathLst>
                <a:path w="5398262" h="180088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3195"/>
                  </a:lnTo>
                  <a:cubicBezTo>
                    <a:pt x="5398262" y="172593"/>
                    <a:pt x="5390642" y="180086"/>
                    <a:pt x="53813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381371" y="146304"/>
                  </a:lnTo>
                  <a:lnTo>
                    <a:pt x="5381371" y="163195"/>
                  </a:lnTo>
                  <a:lnTo>
                    <a:pt x="5364480" y="163195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664722" y="2351354"/>
            <a:ext cx="1031243" cy="1031243"/>
            <a:chOff x="0" y="0"/>
            <a:chExt cx="1374991" cy="137499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896875" y="2583507"/>
            <a:ext cx="548640" cy="548640"/>
            <a:chOff x="0" y="0"/>
            <a:chExt cx="731520" cy="73152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677419" y="3534483"/>
            <a:ext cx="3584448" cy="768096"/>
            <a:chOff x="0" y="0"/>
            <a:chExt cx="4779264" cy="10241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79264" cy="1024128"/>
            </a:xfrm>
            <a:custGeom>
              <a:avLst/>
              <a:gdLst/>
              <a:ahLst/>
              <a:cxnLst/>
              <a:rect l="l" t="t" r="r" b="b"/>
              <a:pathLst>
                <a:path w="4779264" h="1024128">
                  <a:moveTo>
                    <a:pt x="0" y="0"/>
                  </a:moveTo>
                  <a:lnTo>
                    <a:pt x="4779264" y="0"/>
                  </a:lnTo>
                  <a:lnTo>
                    <a:pt x="47792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779264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Kinematic Sliding Slot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77419" y="4320867"/>
            <a:ext cx="3584448" cy="1426464"/>
            <a:chOff x="0" y="0"/>
            <a:chExt cx="4779264" cy="19019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79264" cy="1901952"/>
            </a:xfrm>
            <a:custGeom>
              <a:avLst/>
              <a:gdLst/>
              <a:ahLst/>
              <a:cxnLst/>
              <a:rect l="l" t="t" r="r" b="b"/>
              <a:pathLst>
                <a:path w="4779264" h="1901952">
                  <a:moveTo>
                    <a:pt x="0" y="0"/>
                  </a:moveTo>
                  <a:lnTo>
                    <a:pt x="4779264" y="0"/>
                  </a:lnTo>
                  <a:lnTo>
                    <a:pt x="4779264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9" r="-105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779264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Oval slot on calf rod, free bending, constant rotational resistance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109078" y="2503514"/>
            <a:ext cx="548640" cy="548640"/>
            <a:chOff x="0" y="0"/>
            <a:chExt cx="731520" cy="731520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6633620" y="1954845"/>
            <a:ext cx="4043677" cy="3860797"/>
            <a:chOff x="0" y="0"/>
            <a:chExt cx="5391569" cy="5147729"/>
          </a:xfrm>
        </p:grpSpPr>
        <p:sp>
          <p:nvSpPr>
            <p:cNvPr id="48" name="Freeform 48"/>
            <p:cNvSpPr/>
            <p:nvPr/>
          </p:nvSpPr>
          <p:spPr>
            <a:xfrm>
              <a:off x="13589" y="13589"/>
              <a:ext cx="5364480" cy="5120640"/>
            </a:xfrm>
            <a:custGeom>
              <a:avLst/>
              <a:gdLst/>
              <a:ahLst/>
              <a:cxnLst/>
              <a:rect l="l" t="t" r="r" b="b"/>
              <a:pathLst>
                <a:path w="5364480" h="5120640">
                  <a:moveTo>
                    <a:pt x="0" y="0"/>
                  </a:moveTo>
                  <a:lnTo>
                    <a:pt x="5364480" y="0"/>
                  </a:lnTo>
                  <a:lnTo>
                    <a:pt x="536448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5391658" cy="5147818"/>
            </a:xfrm>
            <a:custGeom>
              <a:avLst/>
              <a:gdLst/>
              <a:ahLst/>
              <a:cxnLst/>
              <a:rect l="l" t="t" r="r" b="b"/>
              <a:pathLst>
                <a:path w="5391658" h="5147818">
                  <a:moveTo>
                    <a:pt x="13589" y="0"/>
                  </a:moveTo>
                  <a:lnTo>
                    <a:pt x="5378069" y="0"/>
                  </a:lnTo>
                  <a:cubicBezTo>
                    <a:pt x="5385562" y="0"/>
                    <a:pt x="5391658" y="6096"/>
                    <a:pt x="5391658" y="13589"/>
                  </a:cubicBezTo>
                  <a:lnTo>
                    <a:pt x="5391658" y="5134229"/>
                  </a:lnTo>
                  <a:cubicBezTo>
                    <a:pt x="5391658" y="5141722"/>
                    <a:pt x="5385562" y="5147818"/>
                    <a:pt x="5378069" y="5147818"/>
                  </a:cubicBezTo>
                  <a:lnTo>
                    <a:pt x="13589" y="5147818"/>
                  </a:lnTo>
                  <a:cubicBezTo>
                    <a:pt x="6096" y="5147818"/>
                    <a:pt x="0" y="5141722"/>
                    <a:pt x="0" y="51342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134229"/>
                  </a:lnTo>
                  <a:lnTo>
                    <a:pt x="13589" y="5134229"/>
                  </a:lnTo>
                  <a:lnTo>
                    <a:pt x="13589" y="5120640"/>
                  </a:lnTo>
                  <a:lnTo>
                    <a:pt x="5378069" y="5120640"/>
                  </a:lnTo>
                  <a:lnTo>
                    <a:pt x="5378069" y="5134229"/>
                  </a:lnTo>
                  <a:lnTo>
                    <a:pt x="5364480" y="5134229"/>
                  </a:lnTo>
                  <a:lnTo>
                    <a:pt x="5364480" y="13589"/>
                  </a:lnTo>
                  <a:lnTo>
                    <a:pt x="5378069" y="13589"/>
                  </a:lnTo>
                  <a:lnTo>
                    <a:pt x="5378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631086" y="1952311"/>
            <a:ext cx="4048763" cy="135131"/>
            <a:chOff x="0" y="0"/>
            <a:chExt cx="5398351" cy="180175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5364480" cy="146304"/>
            </a:xfrm>
            <a:custGeom>
              <a:avLst/>
              <a:gdLst/>
              <a:ahLst/>
              <a:cxnLst/>
              <a:rect l="l" t="t" r="r" b="b"/>
              <a:pathLst>
                <a:path w="5364480" h="146304">
                  <a:moveTo>
                    <a:pt x="0" y="0"/>
                  </a:moveTo>
                  <a:lnTo>
                    <a:pt x="5364480" y="0"/>
                  </a:lnTo>
                  <a:lnTo>
                    <a:pt x="53644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5398262" cy="180088"/>
            </a:xfrm>
            <a:custGeom>
              <a:avLst/>
              <a:gdLst/>
              <a:ahLst/>
              <a:cxnLst/>
              <a:rect l="l" t="t" r="r" b="b"/>
              <a:pathLst>
                <a:path w="5398262" h="180088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3195"/>
                  </a:lnTo>
                  <a:cubicBezTo>
                    <a:pt x="5398262" y="172593"/>
                    <a:pt x="5390642" y="180086"/>
                    <a:pt x="53813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381371" y="146304"/>
                  </a:lnTo>
                  <a:lnTo>
                    <a:pt x="5381371" y="163195"/>
                  </a:lnTo>
                  <a:lnTo>
                    <a:pt x="5364480" y="163195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6850542" y="2281495"/>
            <a:ext cx="1031243" cy="1031243"/>
            <a:chOff x="0" y="0"/>
            <a:chExt cx="1374991" cy="137499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7091810" y="2572831"/>
            <a:ext cx="548640" cy="548640"/>
            <a:chOff x="0" y="0"/>
            <a:chExt cx="731520" cy="731520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6863239" y="3464624"/>
            <a:ext cx="3584448" cy="768096"/>
            <a:chOff x="0" y="0"/>
            <a:chExt cx="4779264" cy="102412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779264" cy="1024128"/>
            </a:xfrm>
            <a:custGeom>
              <a:avLst/>
              <a:gdLst/>
              <a:ahLst/>
              <a:cxnLst/>
              <a:rect l="l" t="t" r="r" b="b"/>
              <a:pathLst>
                <a:path w="4779264" h="1024128">
                  <a:moveTo>
                    <a:pt x="0" y="0"/>
                  </a:moveTo>
                  <a:lnTo>
                    <a:pt x="4779264" y="0"/>
                  </a:lnTo>
                  <a:lnTo>
                    <a:pt x="47792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4779264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Dual-Node IMU Array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63239" y="4251008"/>
            <a:ext cx="3584448" cy="1426464"/>
            <a:chOff x="0" y="0"/>
            <a:chExt cx="4779264" cy="190195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779264" cy="1901952"/>
            </a:xfrm>
            <a:custGeom>
              <a:avLst/>
              <a:gdLst/>
              <a:ahLst/>
              <a:cxnLst/>
              <a:rect l="l" t="t" r="r" b="b"/>
              <a:pathLst>
                <a:path w="4779264" h="1901952">
                  <a:moveTo>
                    <a:pt x="0" y="0"/>
                  </a:moveTo>
                  <a:lnTo>
                    <a:pt x="4779264" y="0"/>
                  </a:lnTo>
                  <a:lnTo>
                    <a:pt x="4779264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9" r="-105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4779264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MPU-6050s track femur vs. tibia orientation independently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1571736" y="1938566"/>
            <a:ext cx="4043677" cy="3860797"/>
            <a:chOff x="0" y="0"/>
            <a:chExt cx="5391569" cy="5147729"/>
          </a:xfrm>
        </p:grpSpPr>
        <p:sp>
          <p:nvSpPr>
            <p:cNvPr id="82" name="Freeform 82"/>
            <p:cNvSpPr/>
            <p:nvPr/>
          </p:nvSpPr>
          <p:spPr>
            <a:xfrm>
              <a:off x="13589" y="13589"/>
              <a:ext cx="5364480" cy="5120640"/>
            </a:xfrm>
            <a:custGeom>
              <a:avLst/>
              <a:gdLst/>
              <a:ahLst/>
              <a:cxnLst/>
              <a:rect l="l" t="t" r="r" b="b"/>
              <a:pathLst>
                <a:path w="5364480" h="5120640">
                  <a:moveTo>
                    <a:pt x="0" y="0"/>
                  </a:moveTo>
                  <a:lnTo>
                    <a:pt x="5364480" y="0"/>
                  </a:lnTo>
                  <a:lnTo>
                    <a:pt x="536448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5391658" cy="5147818"/>
            </a:xfrm>
            <a:custGeom>
              <a:avLst/>
              <a:gdLst/>
              <a:ahLst/>
              <a:cxnLst/>
              <a:rect l="l" t="t" r="r" b="b"/>
              <a:pathLst>
                <a:path w="5391658" h="5147818">
                  <a:moveTo>
                    <a:pt x="13589" y="0"/>
                  </a:moveTo>
                  <a:lnTo>
                    <a:pt x="5378069" y="0"/>
                  </a:lnTo>
                  <a:cubicBezTo>
                    <a:pt x="5385562" y="0"/>
                    <a:pt x="5391658" y="6096"/>
                    <a:pt x="5391658" y="13589"/>
                  </a:cubicBezTo>
                  <a:lnTo>
                    <a:pt x="5391658" y="5134229"/>
                  </a:lnTo>
                  <a:cubicBezTo>
                    <a:pt x="5391658" y="5141722"/>
                    <a:pt x="5385562" y="5147818"/>
                    <a:pt x="5378069" y="5147818"/>
                  </a:cubicBezTo>
                  <a:lnTo>
                    <a:pt x="13589" y="5147818"/>
                  </a:lnTo>
                  <a:cubicBezTo>
                    <a:pt x="6096" y="5147818"/>
                    <a:pt x="0" y="5141722"/>
                    <a:pt x="0" y="51342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134229"/>
                  </a:lnTo>
                  <a:lnTo>
                    <a:pt x="13589" y="5134229"/>
                  </a:lnTo>
                  <a:lnTo>
                    <a:pt x="13589" y="5120640"/>
                  </a:lnTo>
                  <a:lnTo>
                    <a:pt x="5378069" y="5120640"/>
                  </a:lnTo>
                  <a:lnTo>
                    <a:pt x="5378069" y="5134229"/>
                  </a:lnTo>
                  <a:lnTo>
                    <a:pt x="5364480" y="5134229"/>
                  </a:lnTo>
                  <a:lnTo>
                    <a:pt x="5364480" y="13589"/>
                  </a:lnTo>
                  <a:lnTo>
                    <a:pt x="5378069" y="13589"/>
                  </a:lnTo>
                  <a:lnTo>
                    <a:pt x="5378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1569202" y="1936032"/>
            <a:ext cx="4048763" cy="135131"/>
            <a:chOff x="0" y="0"/>
            <a:chExt cx="5398351" cy="180175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5364480" cy="146304"/>
            </a:xfrm>
            <a:custGeom>
              <a:avLst/>
              <a:gdLst/>
              <a:ahLst/>
              <a:cxnLst/>
              <a:rect l="l" t="t" r="r" b="b"/>
              <a:pathLst>
                <a:path w="5364480" h="146304">
                  <a:moveTo>
                    <a:pt x="0" y="0"/>
                  </a:moveTo>
                  <a:lnTo>
                    <a:pt x="5364480" y="0"/>
                  </a:lnTo>
                  <a:lnTo>
                    <a:pt x="53644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5398262" cy="180088"/>
            </a:xfrm>
            <a:custGeom>
              <a:avLst/>
              <a:gdLst/>
              <a:ahLst/>
              <a:cxnLst/>
              <a:rect l="l" t="t" r="r" b="b"/>
              <a:pathLst>
                <a:path w="5398262" h="180088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3195"/>
                  </a:lnTo>
                  <a:cubicBezTo>
                    <a:pt x="5398262" y="172593"/>
                    <a:pt x="5390642" y="180086"/>
                    <a:pt x="53813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381371" y="146304"/>
                  </a:lnTo>
                  <a:lnTo>
                    <a:pt x="5381371" y="163195"/>
                  </a:lnTo>
                  <a:lnTo>
                    <a:pt x="5364480" y="163195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1788658" y="2265216"/>
            <a:ext cx="1031243" cy="1031243"/>
            <a:chOff x="0" y="0"/>
            <a:chExt cx="1374991" cy="1374991"/>
          </a:xfrm>
        </p:grpSpPr>
        <p:sp>
          <p:nvSpPr>
            <p:cNvPr id="88" name="Freeform 88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89" name="Freeform 89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12020811" y="2497369"/>
            <a:ext cx="548640" cy="548640"/>
            <a:chOff x="0" y="0"/>
            <a:chExt cx="731520" cy="731520"/>
          </a:xfrm>
        </p:grpSpPr>
        <p:sp>
          <p:nvSpPr>
            <p:cNvPr id="91" name="Freeform 91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11801355" y="3448345"/>
            <a:ext cx="3584448" cy="768096"/>
            <a:chOff x="0" y="0"/>
            <a:chExt cx="4779264" cy="102412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779264" cy="1024128"/>
            </a:xfrm>
            <a:custGeom>
              <a:avLst/>
              <a:gdLst/>
              <a:ahLst/>
              <a:cxnLst/>
              <a:rect l="l" t="t" r="r" b="b"/>
              <a:pathLst>
                <a:path w="4779264" h="1024128">
                  <a:moveTo>
                    <a:pt x="0" y="0"/>
                  </a:moveTo>
                  <a:lnTo>
                    <a:pt x="4779264" y="0"/>
                  </a:lnTo>
                  <a:lnTo>
                    <a:pt x="47792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19050"/>
              <a:ext cx="4779264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Real-Time ESP32 Processing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1801355" y="4234729"/>
            <a:ext cx="3584448" cy="1426464"/>
            <a:chOff x="0" y="0"/>
            <a:chExt cx="4779264" cy="190195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779264" cy="1901952"/>
            </a:xfrm>
            <a:custGeom>
              <a:avLst/>
              <a:gdLst/>
              <a:ahLst/>
              <a:cxnLst/>
              <a:rect l="l" t="t" r="r" b="b"/>
              <a:pathLst>
                <a:path w="4779264" h="1901952">
                  <a:moveTo>
                    <a:pt x="0" y="0"/>
                  </a:moveTo>
                  <a:lnTo>
                    <a:pt x="4779264" y="0"/>
                  </a:lnTo>
                  <a:lnTo>
                    <a:pt x="4779264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9" r="-1059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4779264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High-frequency on-device computation 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464649" y="6181315"/>
            <a:ext cx="4043677" cy="3860797"/>
            <a:chOff x="0" y="0"/>
            <a:chExt cx="5391569" cy="5147729"/>
          </a:xfrm>
        </p:grpSpPr>
        <p:sp>
          <p:nvSpPr>
            <p:cNvPr id="99" name="Freeform 99"/>
            <p:cNvSpPr/>
            <p:nvPr/>
          </p:nvSpPr>
          <p:spPr>
            <a:xfrm>
              <a:off x="13589" y="13589"/>
              <a:ext cx="5364480" cy="5120640"/>
            </a:xfrm>
            <a:custGeom>
              <a:avLst/>
              <a:gdLst/>
              <a:ahLst/>
              <a:cxnLst/>
              <a:rect l="l" t="t" r="r" b="b"/>
              <a:pathLst>
                <a:path w="5364480" h="5120640">
                  <a:moveTo>
                    <a:pt x="0" y="0"/>
                  </a:moveTo>
                  <a:lnTo>
                    <a:pt x="5364480" y="0"/>
                  </a:lnTo>
                  <a:lnTo>
                    <a:pt x="536448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5391658" cy="5147818"/>
            </a:xfrm>
            <a:custGeom>
              <a:avLst/>
              <a:gdLst/>
              <a:ahLst/>
              <a:cxnLst/>
              <a:rect l="l" t="t" r="r" b="b"/>
              <a:pathLst>
                <a:path w="5391658" h="5147818">
                  <a:moveTo>
                    <a:pt x="13589" y="0"/>
                  </a:moveTo>
                  <a:lnTo>
                    <a:pt x="5378069" y="0"/>
                  </a:lnTo>
                  <a:cubicBezTo>
                    <a:pt x="5385562" y="0"/>
                    <a:pt x="5391658" y="6096"/>
                    <a:pt x="5391658" y="13589"/>
                  </a:cubicBezTo>
                  <a:lnTo>
                    <a:pt x="5391658" y="5134229"/>
                  </a:lnTo>
                  <a:cubicBezTo>
                    <a:pt x="5391658" y="5141722"/>
                    <a:pt x="5385562" y="5147818"/>
                    <a:pt x="5378069" y="5147818"/>
                  </a:cubicBezTo>
                  <a:lnTo>
                    <a:pt x="13589" y="5147818"/>
                  </a:lnTo>
                  <a:cubicBezTo>
                    <a:pt x="6096" y="5147818"/>
                    <a:pt x="0" y="5141722"/>
                    <a:pt x="0" y="51342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134229"/>
                  </a:lnTo>
                  <a:lnTo>
                    <a:pt x="13589" y="5134229"/>
                  </a:lnTo>
                  <a:lnTo>
                    <a:pt x="13589" y="5120640"/>
                  </a:lnTo>
                  <a:lnTo>
                    <a:pt x="5378069" y="5120640"/>
                  </a:lnTo>
                  <a:lnTo>
                    <a:pt x="5378069" y="5134229"/>
                  </a:lnTo>
                  <a:lnTo>
                    <a:pt x="5364480" y="5134229"/>
                  </a:lnTo>
                  <a:lnTo>
                    <a:pt x="5364480" y="13589"/>
                  </a:lnTo>
                  <a:lnTo>
                    <a:pt x="5378069" y="13589"/>
                  </a:lnTo>
                  <a:lnTo>
                    <a:pt x="5378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462115" y="6178781"/>
            <a:ext cx="4048763" cy="135131"/>
            <a:chOff x="0" y="0"/>
            <a:chExt cx="5398351" cy="180175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5364480" cy="146304"/>
            </a:xfrm>
            <a:custGeom>
              <a:avLst/>
              <a:gdLst/>
              <a:ahLst/>
              <a:cxnLst/>
              <a:rect l="l" t="t" r="r" b="b"/>
              <a:pathLst>
                <a:path w="5364480" h="146304">
                  <a:moveTo>
                    <a:pt x="0" y="0"/>
                  </a:moveTo>
                  <a:lnTo>
                    <a:pt x="5364480" y="0"/>
                  </a:lnTo>
                  <a:lnTo>
                    <a:pt x="53644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5398262" cy="180088"/>
            </a:xfrm>
            <a:custGeom>
              <a:avLst/>
              <a:gdLst/>
              <a:ahLst/>
              <a:cxnLst/>
              <a:rect l="l" t="t" r="r" b="b"/>
              <a:pathLst>
                <a:path w="5398262" h="180088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3195"/>
                  </a:lnTo>
                  <a:cubicBezTo>
                    <a:pt x="5398262" y="172593"/>
                    <a:pt x="5390642" y="180086"/>
                    <a:pt x="53813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381371" y="146304"/>
                  </a:lnTo>
                  <a:lnTo>
                    <a:pt x="5381371" y="163195"/>
                  </a:lnTo>
                  <a:lnTo>
                    <a:pt x="5364480" y="163195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1681571" y="6507965"/>
            <a:ext cx="1031243" cy="1031243"/>
            <a:chOff x="0" y="0"/>
            <a:chExt cx="1374991" cy="1374991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913724" y="6740118"/>
            <a:ext cx="548640" cy="548640"/>
            <a:chOff x="0" y="0"/>
            <a:chExt cx="731520" cy="731520"/>
          </a:xfrm>
        </p:grpSpPr>
        <p:sp>
          <p:nvSpPr>
            <p:cNvPr id="108" name="Freeform 108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1694268" y="7691094"/>
            <a:ext cx="3584448" cy="768096"/>
            <a:chOff x="0" y="0"/>
            <a:chExt cx="4779264" cy="102412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779264" cy="1024128"/>
            </a:xfrm>
            <a:custGeom>
              <a:avLst/>
              <a:gdLst/>
              <a:ahLst/>
              <a:cxnLst/>
              <a:rect l="l" t="t" r="r" b="b"/>
              <a:pathLst>
                <a:path w="4779264" h="1024128">
                  <a:moveTo>
                    <a:pt x="0" y="0"/>
                  </a:moveTo>
                  <a:lnTo>
                    <a:pt x="4779264" y="0"/>
                  </a:lnTo>
                  <a:lnTo>
                    <a:pt x="47792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4779264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Haptic Biofeedback Alert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694268" y="8477478"/>
            <a:ext cx="3584448" cy="1426464"/>
            <a:chOff x="0" y="0"/>
            <a:chExt cx="4779264" cy="1901952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779264" cy="1901952"/>
            </a:xfrm>
            <a:custGeom>
              <a:avLst/>
              <a:gdLst/>
              <a:ahLst/>
              <a:cxnLst/>
              <a:rect l="l" t="t" r="r" b="b"/>
              <a:pathLst>
                <a:path w="4779264" h="1901952">
                  <a:moveTo>
                    <a:pt x="0" y="0"/>
                  </a:moveTo>
                  <a:lnTo>
                    <a:pt x="4779264" y="0"/>
                  </a:lnTo>
                  <a:lnTo>
                    <a:pt x="4779264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9" r="-1059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4779264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tactile pulse when knee enters dangerous Red Zone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643754" y="6186590"/>
            <a:ext cx="4043677" cy="3860797"/>
            <a:chOff x="0" y="0"/>
            <a:chExt cx="5391569" cy="5147729"/>
          </a:xfrm>
        </p:grpSpPr>
        <p:sp>
          <p:nvSpPr>
            <p:cNvPr id="116" name="Freeform 116"/>
            <p:cNvSpPr/>
            <p:nvPr/>
          </p:nvSpPr>
          <p:spPr>
            <a:xfrm>
              <a:off x="13589" y="13589"/>
              <a:ext cx="5364480" cy="5120640"/>
            </a:xfrm>
            <a:custGeom>
              <a:avLst/>
              <a:gdLst/>
              <a:ahLst/>
              <a:cxnLst/>
              <a:rect l="l" t="t" r="r" b="b"/>
              <a:pathLst>
                <a:path w="5364480" h="5120640">
                  <a:moveTo>
                    <a:pt x="0" y="0"/>
                  </a:moveTo>
                  <a:lnTo>
                    <a:pt x="5364480" y="0"/>
                  </a:lnTo>
                  <a:lnTo>
                    <a:pt x="536448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5391658" cy="5147818"/>
            </a:xfrm>
            <a:custGeom>
              <a:avLst/>
              <a:gdLst/>
              <a:ahLst/>
              <a:cxnLst/>
              <a:rect l="l" t="t" r="r" b="b"/>
              <a:pathLst>
                <a:path w="5391658" h="5147818">
                  <a:moveTo>
                    <a:pt x="13589" y="0"/>
                  </a:moveTo>
                  <a:lnTo>
                    <a:pt x="5378069" y="0"/>
                  </a:lnTo>
                  <a:cubicBezTo>
                    <a:pt x="5385562" y="0"/>
                    <a:pt x="5391658" y="6096"/>
                    <a:pt x="5391658" y="13589"/>
                  </a:cubicBezTo>
                  <a:lnTo>
                    <a:pt x="5391658" y="5134229"/>
                  </a:lnTo>
                  <a:cubicBezTo>
                    <a:pt x="5391658" y="5141722"/>
                    <a:pt x="5385562" y="5147818"/>
                    <a:pt x="5378069" y="5147818"/>
                  </a:cubicBezTo>
                  <a:lnTo>
                    <a:pt x="13589" y="5147818"/>
                  </a:lnTo>
                  <a:cubicBezTo>
                    <a:pt x="6096" y="5147818"/>
                    <a:pt x="0" y="5141722"/>
                    <a:pt x="0" y="51342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134229"/>
                  </a:lnTo>
                  <a:lnTo>
                    <a:pt x="13589" y="5134229"/>
                  </a:lnTo>
                  <a:lnTo>
                    <a:pt x="13589" y="5120640"/>
                  </a:lnTo>
                  <a:lnTo>
                    <a:pt x="5378069" y="5120640"/>
                  </a:lnTo>
                  <a:lnTo>
                    <a:pt x="5378069" y="5134229"/>
                  </a:lnTo>
                  <a:lnTo>
                    <a:pt x="5364480" y="5134229"/>
                  </a:lnTo>
                  <a:lnTo>
                    <a:pt x="5364480" y="13589"/>
                  </a:lnTo>
                  <a:lnTo>
                    <a:pt x="5378069" y="13589"/>
                  </a:lnTo>
                  <a:lnTo>
                    <a:pt x="5378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6641220" y="6184056"/>
            <a:ext cx="4048763" cy="135131"/>
            <a:chOff x="0" y="0"/>
            <a:chExt cx="5398351" cy="180175"/>
          </a:xfrm>
        </p:grpSpPr>
        <p:sp>
          <p:nvSpPr>
            <p:cNvPr id="119" name="Freeform 119"/>
            <p:cNvSpPr/>
            <p:nvPr/>
          </p:nvSpPr>
          <p:spPr>
            <a:xfrm>
              <a:off x="16891" y="16891"/>
              <a:ext cx="5364480" cy="146304"/>
            </a:xfrm>
            <a:custGeom>
              <a:avLst/>
              <a:gdLst/>
              <a:ahLst/>
              <a:cxnLst/>
              <a:rect l="l" t="t" r="r" b="b"/>
              <a:pathLst>
                <a:path w="5364480" h="146304">
                  <a:moveTo>
                    <a:pt x="0" y="0"/>
                  </a:moveTo>
                  <a:lnTo>
                    <a:pt x="5364480" y="0"/>
                  </a:lnTo>
                  <a:lnTo>
                    <a:pt x="53644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A7870"/>
            </a:solidFill>
          </p:spPr>
        </p:sp>
        <p:sp>
          <p:nvSpPr>
            <p:cNvPr id="120" name="Freeform 120"/>
            <p:cNvSpPr/>
            <p:nvPr/>
          </p:nvSpPr>
          <p:spPr>
            <a:xfrm>
              <a:off x="0" y="0"/>
              <a:ext cx="5398262" cy="180088"/>
            </a:xfrm>
            <a:custGeom>
              <a:avLst/>
              <a:gdLst/>
              <a:ahLst/>
              <a:cxnLst/>
              <a:rect l="l" t="t" r="r" b="b"/>
              <a:pathLst>
                <a:path w="5398262" h="180088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3195"/>
                  </a:lnTo>
                  <a:cubicBezTo>
                    <a:pt x="5398262" y="172593"/>
                    <a:pt x="5390642" y="180086"/>
                    <a:pt x="53813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381371" y="146304"/>
                  </a:lnTo>
                  <a:lnTo>
                    <a:pt x="5381371" y="163195"/>
                  </a:lnTo>
                  <a:lnTo>
                    <a:pt x="5364480" y="163195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870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6860676" y="6513240"/>
            <a:ext cx="1031243" cy="1031243"/>
            <a:chOff x="0" y="0"/>
            <a:chExt cx="1374991" cy="1374991"/>
          </a:xfrm>
        </p:grpSpPr>
        <p:sp>
          <p:nvSpPr>
            <p:cNvPr id="122" name="Freeform 122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A7870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A7870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7092829" y="6745393"/>
            <a:ext cx="548640" cy="548640"/>
            <a:chOff x="0" y="0"/>
            <a:chExt cx="731520" cy="731520"/>
          </a:xfrm>
        </p:grpSpPr>
        <p:sp>
          <p:nvSpPr>
            <p:cNvPr id="125" name="Freeform 125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26" name="Group 126"/>
          <p:cNvGrpSpPr/>
          <p:nvPr/>
        </p:nvGrpSpPr>
        <p:grpSpPr>
          <a:xfrm>
            <a:off x="6873373" y="7696369"/>
            <a:ext cx="3584448" cy="768096"/>
            <a:chOff x="0" y="0"/>
            <a:chExt cx="4779264" cy="1024128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4779264" cy="1024128"/>
            </a:xfrm>
            <a:custGeom>
              <a:avLst/>
              <a:gdLst/>
              <a:ahLst/>
              <a:cxnLst/>
              <a:rect l="l" t="t" r="r" b="b"/>
              <a:pathLst>
                <a:path w="4779264" h="1024128">
                  <a:moveTo>
                    <a:pt x="0" y="0"/>
                  </a:moveTo>
                  <a:lnTo>
                    <a:pt x="4779264" y="0"/>
                  </a:lnTo>
                  <a:lnTo>
                    <a:pt x="47792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19050"/>
              <a:ext cx="4779264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Load-Sharing Mitigation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6873373" y="8482753"/>
            <a:ext cx="3584448" cy="1426464"/>
            <a:chOff x="0" y="0"/>
            <a:chExt cx="4779264" cy="1901952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4779264" cy="1901952"/>
            </a:xfrm>
            <a:custGeom>
              <a:avLst/>
              <a:gdLst/>
              <a:ahLst/>
              <a:cxnLst/>
              <a:rect l="l" t="t" r="r" b="b"/>
              <a:pathLst>
                <a:path w="4779264" h="1901952">
                  <a:moveTo>
                    <a:pt x="0" y="0"/>
                  </a:moveTo>
                  <a:lnTo>
                    <a:pt x="4779264" y="0"/>
                  </a:lnTo>
                  <a:lnTo>
                    <a:pt x="4779264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9" r="-1059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38100"/>
              <a:ext cx="4779264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Rigid frame absorbs mechanical stress alongside the ligament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1561553" y="6171190"/>
            <a:ext cx="4043677" cy="3860797"/>
            <a:chOff x="0" y="0"/>
            <a:chExt cx="5391569" cy="5147729"/>
          </a:xfrm>
        </p:grpSpPr>
        <p:sp>
          <p:nvSpPr>
            <p:cNvPr id="133" name="Freeform 133"/>
            <p:cNvSpPr/>
            <p:nvPr/>
          </p:nvSpPr>
          <p:spPr>
            <a:xfrm>
              <a:off x="13589" y="13589"/>
              <a:ext cx="5364480" cy="5120640"/>
            </a:xfrm>
            <a:custGeom>
              <a:avLst/>
              <a:gdLst/>
              <a:ahLst/>
              <a:cxnLst/>
              <a:rect l="l" t="t" r="r" b="b"/>
              <a:pathLst>
                <a:path w="5364480" h="5120640">
                  <a:moveTo>
                    <a:pt x="0" y="0"/>
                  </a:moveTo>
                  <a:lnTo>
                    <a:pt x="5364480" y="0"/>
                  </a:lnTo>
                  <a:lnTo>
                    <a:pt x="536448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4" name="Freeform 134"/>
            <p:cNvSpPr/>
            <p:nvPr/>
          </p:nvSpPr>
          <p:spPr>
            <a:xfrm>
              <a:off x="0" y="0"/>
              <a:ext cx="5391658" cy="5147818"/>
            </a:xfrm>
            <a:custGeom>
              <a:avLst/>
              <a:gdLst/>
              <a:ahLst/>
              <a:cxnLst/>
              <a:rect l="l" t="t" r="r" b="b"/>
              <a:pathLst>
                <a:path w="5391658" h="5147818">
                  <a:moveTo>
                    <a:pt x="13589" y="0"/>
                  </a:moveTo>
                  <a:lnTo>
                    <a:pt x="5378069" y="0"/>
                  </a:lnTo>
                  <a:cubicBezTo>
                    <a:pt x="5385562" y="0"/>
                    <a:pt x="5391658" y="6096"/>
                    <a:pt x="5391658" y="13589"/>
                  </a:cubicBezTo>
                  <a:lnTo>
                    <a:pt x="5391658" y="5134229"/>
                  </a:lnTo>
                  <a:cubicBezTo>
                    <a:pt x="5391658" y="5141722"/>
                    <a:pt x="5385562" y="5147818"/>
                    <a:pt x="5378069" y="5147818"/>
                  </a:cubicBezTo>
                  <a:lnTo>
                    <a:pt x="13589" y="5147818"/>
                  </a:lnTo>
                  <a:cubicBezTo>
                    <a:pt x="6096" y="5147818"/>
                    <a:pt x="0" y="5141722"/>
                    <a:pt x="0" y="51342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134229"/>
                  </a:lnTo>
                  <a:lnTo>
                    <a:pt x="13589" y="5134229"/>
                  </a:lnTo>
                  <a:lnTo>
                    <a:pt x="13589" y="5120640"/>
                  </a:lnTo>
                  <a:lnTo>
                    <a:pt x="5378069" y="5120640"/>
                  </a:lnTo>
                  <a:lnTo>
                    <a:pt x="5378069" y="5134229"/>
                  </a:lnTo>
                  <a:lnTo>
                    <a:pt x="5364480" y="5134229"/>
                  </a:lnTo>
                  <a:lnTo>
                    <a:pt x="5364480" y="13589"/>
                  </a:lnTo>
                  <a:lnTo>
                    <a:pt x="5378069" y="13589"/>
                  </a:lnTo>
                  <a:lnTo>
                    <a:pt x="53780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5" name="Group 135"/>
          <p:cNvGrpSpPr/>
          <p:nvPr/>
        </p:nvGrpSpPr>
        <p:grpSpPr>
          <a:xfrm>
            <a:off x="11559019" y="6168656"/>
            <a:ext cx="4048763" cy="135131"/>
            <a:chOff x="0" y="0"/>
            <a:chExt cx="5398351" cy="180175"/>
          </a:xfrm>
        </p:grpSpPr>
        <p:sp>
          <p:nvSpPr>
            <p:cNvPr id="136" name="Freeform 136"/>
            <p:cNvSpPr/>
            <p:nvPr/>
          </p:nvSpPr>
          <p:spPr>
            <a:xfrm>
              <a:off x="16891" y="16891"/>
              <a:ext cx="5364480" cy="146304"/>
            </a:xfrm>
            <a:custGeom>
              <a:avLst/>
              <a:gdLst/>
              <a:ahLst/>
              <a:cxnLst/>
              <a:rect l="l" t="t" r="r" b="b"/>
              <a:pathLst>
                <a:path w="5364480" h="146304">
                  <a:moveTo>
                    <a:pt x="0" y="0"/>
                  </a:moveTo>
                  <a:lnTo>
                    <a:pt x="5364480" y="0"/>
                  </a:lnTo>
                  <a:lnTo>
                    <a:pt x="53644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137" name="Freeform 137"/>
            <p:cNvSpPr/>
            <p:nvPr/>
          </p:nvSpPr>
          <p:spPr>
            <a:xfrm>
              <a:off x="0" y="0"/>
              <a:ext cx="5398262" cy="180088"/>
            </a:xfrm>
            <a:custGeom>
              <a:avLst/>
              <a:gdLst/>
              <a:ahLst/>
              <a:cxnLst/>
              <a:rect l="l" t="t" r="r" b="b"/>
              <a:pathLst>
                <a:path w="5398262" h="180088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3195"/>
                  </a:lnTo>
                  <a:cubicBezTo>
                    <a:pt x="5398262" y="172593"/>
                    <a:pt x="5390642" y="180086"/>
                    <a:pt x="53813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381371" y="146304"/>
                  </a:lnTo>
                  <a:lnTo>
                    <a:pt x="5381371" y="163195"/>
                  </a:lnTo>
                  <a:lnTo>
                    <a:pt x="5364480" y="163195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138" name="Group 138"/>
          <p:cNvGrpSpPr/>
          <p:nvPr/>
        </p:nvGrpSpPr>
        <p:grpSpPr>
          <a:xfrm>
            <a:off x="11778475" y="6497840"/>
            <a:ext cx="1031243" cy="1031243"/>
            <a:chOff x="0" y="0"/>
            <a:chExt cx="1374991" cy="1374991"/>
          </a:xfrm>
        </p:grpSpPr>
        <p:sp>
          <p:nvSpPr>
            <p:cNvPr id="139" name="Freeform 139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140" name="Freeform 140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141" name="Group 141"/>
          <p:cNvGrpSpPr/>
          <p:nvPr/>
        </p:nvGrpSpPr>
        <p:grpSpPr>
          <a:xfrm>
            <a:off x="12010628" y="6729993"/>
            <a:ext cx="548640" cy="548640"/>
            <a:chOff x="0" y="0"/>
            <a:chExt cx="731520" cy="731520"/>
          </a:xfrm>
        </p:grpSpPr>
        <p:sp>
          <p:nvSpPr>
            <p:cNvPr id="142" name="Freeform 142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43" name="Group 143"/>
          <p:cNvGrpSpPr/>
          <p:nvPr/>
        </p:nvGrpSpPr>
        <p:grpSpPr>
          <a:xfrm>
            <a:off x="11791172" y="7680969"/>
            <a:ext cx="3584448" cy="768096"/>
            <a:chOff x="0" y="0"/>
            <a:chExt cx="4779264" cy="1024128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4779264" cy="1024128"/>
            </a:xfrm>
            <a:custGeom>
              <a:avLst/>
              <a:gdLst/>
              <a:ahLst/>
              <a:cxnLst/>
              <a:rect l="l" t="t" r="r" b="b"/>
              <a:pathLst>
                <a:path w="4779264" h="1024128">
                  <a:moveTo>
                    <a:pt x="0" y="0"/>
                  </a:moveTo>
                  <a:lnTo>
                    <a:pt x="4779264" y="0"/>
                  </a:lnTo>
                  <a:lnTo>
                    <a:pt x="477926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19050"/>
              <a:ext cx="4779264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Bluetooth Data Logging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1791172" y="8467353"/>
            <a:ext cx="3584448" cy="1426464"/>
            <a:chOff x="0" y="0"/>
            <a:chExt cx="4779264" cy="1901952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4779264" cy="1901952"/>
            </a:xfrm>
            <a:custGeom>
              <a:avLst/>
              <a:gdLst/>
              <a:ahLst/>
              <a:cxnLst/>
              <a:rect l="l" t="t" r="r" b="b"/>
              <a:pathLst>
                <a:path w="4779264" h="1901952">
                  <a:moveTo>
                    <a:pt x="0" y="0"/>
                  </a:moveTo>
                  <a:lnTo>
                    <a:pt x="4779264" y="0"/>
                  </a:lnTo>
                  <a:lnTo>
                    <a:pt x="4779264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9" r="-1059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4779264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Streams movement patterns wirelessly to coach/doctor app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COST ANALYSIS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₹1,950 solution vs. alternatives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5943" y="1907543"/>
            <a:ext cx="3683003" cy="720347"/>
            <a:chOff x="0" y="0"/>
            <a:chExt cx="4910671" cy="960463"/>
          </a:xfrm>
        </p:grpSpPr>
        <p:sp>
          <p:nvSpPr>
            <p:cNvPr id="14" name="Freeform 14"/>
            <p:cNvSpPr/>
            <p:nvPr/>
          </p:nvSpPr>
          <p:spPr>
            <a:xfrm>
              <a:off x="16891" y="16891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4910582" cy="960376"/>
            </a:xfrm>
            <a:custGeom>
              <a:avLst/>
              <a:gdLst/>
              <a:ahLst/>
              <a:cxnLst/>
              <a:rect l="l" t="t" r="r" b="b"/>
              <a:pathLst>
                <a:path w="4910582" h="96037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943483"/>
                  </a:lnTo>
                  <a:cubicBezTo>
                    <a:pt x="4910582" y="952881"/>
                    <a:pt x="4902962" y="960374"/>
                    <a:pt x="4893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893691" y="926592"/>
                  </a:lnTo>
                  <a:lnTo>
                    <a:pt x="4893691" y="943483"/>
                  </a:lnTo>
                  <a:lnTo>
                    <a:pt x="4876800" y="94348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48640" y="1920240"/>
            <a:ext cx="3657600" cy="694944"/>
            <a:chOff x="0" y="0"/>
            <a:chExt cx="4876800" cy="92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52" b="-5255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87680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Category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93543" y="1907543"/>
            <a:ext cx="3134363" cy="720347"/>
            <a:chOff x="0" y="0"/>
            <a:chExt cx="4179151" cy="960463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4145280" cy="926592"/>
            </a:xfrm>
            <a:custGeom>
              <a:avLst/>
              <a:gdLst/>
              <a:ahLst/>
              <a:cxnLst/>
              <a:rect l="l" t="t" r="r" b="b"/>
              <a:pathLst>
                <a:path w="4145280" h="926592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179062" cy="960376"/>
            </a:xfrm>
            <a:custGeom>
              <a:avLst/>
              <a:gdLst/>
              <a:ahLst/>
              <a:cxnLst/>
              <a:rect l="l" t="t" r="r" b="b"/>
              <a:pathLst>
                <a:path w="4179062" h="960376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943483"/>
                  </a:lnTo>
                  <a:cubicBezTo>
                    <a:pt x="4179062" y="952881"/>
                    <a:pt x="4171442" y="960374"/>
                    <a:pt x="4162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162171" y="926592"/>
                  </a:lnTo>
                  <a:lnTo>
                    <a:pt x="4162171" y="943483"/>
                  </a:lnTo>
                  <a:lnTo>
                    <a:pt x="4145280" y="94348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206240" y="1920240"/>
            <a:ext cx="3108960" cy="694944"/>
            <a:chOff x="0" y="0"/>
            <a:chExt cx="4145280" cy="926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45280" cy="926592"/>
            </a:xfrm>
            <a:custGeom>
              <a:avLst/>
              <a:gdLst/>
              <a:ahLst/>
              <a:cxnLst/>
              <a:rect l="l" t="t" r="r" b="b"/>
              <a:pathLst>
                <a:path w="4145280" h="926592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169" b="-3716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14528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Component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02503" y="1907543"/>
            <a:ext cx="1671323" cy="720347"/>
            <a:chOff x="0" y="0"/>
            <a:chExt cx="2228431" cy="960463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2194560" cy="926592"/>
            </a:xfrm>
            <a:custGeom>
              <a:avLst/>
              <a:gdLst/>
              <a:ahLst/>
              <a:cxnLst/>
              <a:rect l="l" t="t" r="r" b="b"/>
              <a:pathLst>
                <a:path w="2194560" h="926592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228342" cy="960376"/>
            </a:xfrm>
            <a:custGeom>
              <a:avLst/>
              <a:gdLst/>
              <a:ahLst/>
              <a:cxnLst/>
              <a:rect l="l" t="t" r="r" b="b"/>
              <a:pathLst>
                <a:path w="2228342" h="960376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943483"/>
                  </a:lnTo>
                  <a:cubicBezTo>
                    <a:pt x="2228342" y="952881"/>
                    <a:pt x="2220722" y="960374"/>
                    <a:pt x="22114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11451" y="926592"/>
                  </a:lnTo>
                  <a:lnTo>
                    <a:pt x="2211451" y="943483"/>
                  </a:lnTo>
                  <a:lnTo>
                    <a:pt x="2194560" y="943483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315200" y="1920240"/>
            <a:ext cx="1645920" cy="694944"/>
            <a:chOff x="0" y="0"/>
            <a:chExt cx="2194560" cy="9265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4560" cy="926592"/>
            </a:xfrm>
            <a:custGeom>
              <a:avLst/>
              <a:gdLst/>
              <a:ahLst/>
              <a:cxnLst/>
              <a:rect l="l" t="t" r="r" b="b"/>
              <a:pathLst>
                <a:path w="2194560" h="926592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72" r="-417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219456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Cost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2287" y="2608831"/>
            <a:ext cx="3670297" cy="872233"/>
            <a:chOff x="0" y="0"/>
            <a:chExt cx="4893729" cy="1162977"/>
          </a:xfrm>
        </p:grpSpPr>
        <p:sp>
          <p:nvSpPr>
            <p:cNvPr id="32" name="Freeform 32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58368" y="2615184"/>
            <a:ext cx="3438144" cy="859536"/>
            <a:chOff x="0" y="0"/>
            <a:chExt cx="4584192" cy="11460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Microcontroller &amp; Sensors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99887" y="2608831"/>
            <a:ext cx="3121657" cy="872233"/>
            <a:chOff x="0" y="0"/>
            <a:chExt cx="4162209" cy="1162977"/>
          </a:xfrm>
        </p:grpSpPr>
        <p:sp>
          <p:nvSpPr>
            <p:cNvPr id="38" name="Freeform 38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4315968" y="2615184"/>
            <a:ext cx="2889504" cy="859536"/>
            <a:chOff x="0" y="0"/>
            <a:chExt cx="3852672" cy="11460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ESP32 + 2× MPU-6050 IMU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308847" y="2608831"/>
            <a:ext cx="1658617" cy="872233"/>
            <a:chOff x="0" y="0"/>
            <a:chExt cx="2211489" cy="1162977"/>
          </a:xfrm>
        </p:grpSpPr>
        <p:sp>
          <p:nvSpPr>
            <p:cNvPr id="44" name="Freeform 44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7424928" y="2615184"/>
            <a:ext cx="1426464" cy="859536"/>
            <a:chOff x="0" y="0"/>
            <a:chExt cx="1901952" cy="11460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₹800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42287" y="3468367"/>
            <a:ext cx="3670297" cy="872233"/>
            <a:chOff x="0" y="0"/>
            <a:chExt cx="4893729" cy="1162977"/>
          </a:xfrm>
        </p:grpSpPr>
        <p:sp>
          <p:nvSpPr>
            <p:cNvPr id="50" name="Freeform 50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658368" y="3474720"/>
            <a:ext cx="3438144" cy="859536"/>
            <a:chOff x="0" y="0"/>
            <a:chExt cx="4584192" cy="11460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Haptic Feedback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199887" y="3468367"/>
            <a:ext cx="3121657" cy="872233"/>
            <a:chOff x="0" y="0"/>
            <a:chExt cx="4162209" cy="1162977"/>
          </a:xfrm>
        </p:grpSpPr>
        <p:sp>
          <p:nvSpPr>
            <p:cNvPr id="56" name="Freeform 56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4315968" y="3474720"/>
            <a:ext cx="2889504" cy="859536"/>
            <a:chOff x="0" y="0"/>
            <a:chExt cx="3852672" cy="114604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ERM Vibration Motor + Driver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308847" y="3468367"/>
            <a:ext cx="1658617" cy="872233"/>
            <a:chOff x="0" y="0"/>
            <a:chExt cx="2211489" cy="1162977"/>
          </a:xfrm>
        </p:grpSpPr>
        <p:sp>
          <p:nvSpPr>
            <p:cNvPr id="62" name="Freeform 62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7424928" y="3474720"/>
            <a:ext cx="1426464" cy="859536"/>
            <a:chOff x="0" y="0"/>
            <a:chExt cx="1901952" cy="11460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₹150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42287" y="4327903"/>
            <a:ext cx="3670297" cy="872233"/>
            <a:chOff x="0" y="0"/>
            <a:chExt cx="4893729" cy="1162977"/>
          </a:xfrm>
        </p:grpSpPr>
        <p:sp>
          <p:nvSpPr>
            <p:cNvPr id="68" name="Freeform 68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658368" y="4334256"/>
            <a:ext cx="3438144" cy="859536"/>
            <a:chOff x="0" y="0"/>
            <a:chExt cx="4584192" cy="114604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Supply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199887" y="4327903"/>
            <a:ext cx="3121657" cy="872233"/>
            <a:chOff x="0" y="0"/>
            <a:chExt cx="4162209" cy="1162977"/>
          </a:xfrm>
        </p:grpSpPr>
        <p:sp>
          <p:nvSpPr>
            <p:cNvPr id="74" name="Freeform 74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4315968" y="4334256"/>
            <a:ext cx="2889504" cy="859536"/>
            <a:chOff x="0" y="0"/>
            <a:chExt cx="3852672" cy="114604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3.3V Li-ion Battery + Switch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308847" y="4327903"/>
            <a:ext cx="1658617" cy="872233"/>
            <a:chOff x="0" y="0"/>
            <a:chExt cx="2211489" cy="1162977"/>
          </a:xfrm>
        </p:grpSpPr>
        <p:sp>
          <p:nvSpPr>
            <p:cNvPr id="80" name="Freeform 80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7424928" y="4334256"/>
            <a:ext cx="1426464" cy="859536"/>
            <a:chOff x="0" y="0"/>
            <a:chExt cx="1901952" cy="114604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₹100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42287" y="5187439"/>
            <a:ext cx="3670297" cy="872233"/>
            <a:chOff x="0" y="0"/>
            <a:chExt cx="4893729" cy="1162977"/>
          </a:xfrm>
        </p:grpSpPr>
        <p:sp>
          <p:nvSpPr>
            <p:cNvPr id="86" name="Freeform 86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658368" y="5193792"/>
            <a:ext cx="3438144" cy="859536"/>
            <a:chOff x="0" y="0"/>
            <a:chExt cx="4584192" cy="1146048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Wearable Base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199887" y="5187439"/>
            <a:ext cx="3121657" cy="872233"/>
            <a:chOff x="0" y="0"/>
            <a:chExt cx="4162209" cy="1162977"/>
          </a:xfrm>
        </p:grpSpPr>
        <p:sp>
          <p:nvSpPr>
            <p:cNvPr id="92" name="Freeform 92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4315968" y="5193792"/>
            <a:ext cx="2889504" cy="859536"/>
            <a:chOff x="0" y="0"/>
            <a:chExt cx="3852672" cy="114604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Compression Knee Sleeve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308847" y="5187439"/>
            <a:ext cx="1658617" cy="872233"/>
            <a:chOff x="0" y="0"/>
            <a:chExt cx="2211489" cy="1162977"/>
          </a:xfrm>
        </p:grpSpPr>
        <p:sp>
          <p:nvSpPr>
            <p:cNvPr id="98" name="Freeform 98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99" name="Freeform 99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7424928" y="5193792"/>
            <a:ext cx="1426464" cy="859536"/>
            <a:chOff x="0" y="0"/>
            <a:chExt cx="1901952" cy="1146048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₹450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42287" y="6046975"/>
            <a:ext cx="3670297" cy="872233"/>
            <a:chOff x="0" y="0"/>
            <a:chExt cx="4893729" cy="1162977"/>
          </a:xfrm>
        </p:grpSpPr>
        <p:sp>
          <p:nvSpPr>
            <p:cNvPr id="104" name="Freeform 104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658368" y="6053328"/>
            <a:ext cx="3438144" cy="859536"/>
            <a:chOff x="0" y="0"/>
            <a:chExt cx="4584192" cy="114604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Printed Frame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4199887" y="6046975"/>
            <a:ext cx="3121657" cy="872233"/>
            <a:chOff x="0" y="0"/>
            <a:chExt cx="4162209" cy="1162977"/>
          </a:xfrm>
        </p:grpSpPr>
        <p:sp>
          <p:nvSpPr>
            <p:cNvPr id="110" name="Freeform 110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1" name="Freeform 111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2" name="Group 112"/>
          <p:cNvGrpSpPr/>
          <p:nvPr/>
        </p:nvGrpSpPr>
        <p:grpSpPr>
          <a:xfrm>
            <a:off x="4315968" y="6053328"/>
            <a:ext cx="2889504" cy="859536"/>
            <a:chOff x="0" y="0"/>
            <a:chExt cx="3852672" cy="114604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PETG / Nylon / CF-PLA Filament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308847" y="6046975"/>
            <a:ext cx="1658617" cy="872233"/>
            <a:chOff x="0" y="0"/>
            <a:chExt cx="2211489" cy="1162977"/>
          </a:xfrm>
        </p:grpSpPr>
        <p:sp>
          <p:nvSpPr>
            <p:cNvPr id="116" name="Freeform 116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7424928" y="6053328"/>
            <a:ext cx="1426464" cy="859536"/>
            <a:chOff x="0" y="0"/>
            <a:chExt cx="1901952" cy="1146048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₹300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542287" y="6906511"/>
            <a:ext cx="3670297" cy="872233"/>
            <a:chOff x="0" y="0"/>
            <a:chExt cx="4893729" cy="1162977"/>
          </a:xfrm>
        </p:grpSpPr>
        <p:sp>
          <p:nvSpPr>
            <p:cNvPr id="122" name="Freeform 122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658368" y="6912864"/>
            <a:ext cx="3438144" cy="859536"/>
            <a:chOff x="0" y="0"/>
            <a:chExt cx="4584192" cy="114604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Mechanical Fasteners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4199887" y="6906511"/>
            <a:ext cx="3121657" cy="872233"/>
            <a:chOff x="0" y="0"/>
            <a:chExt cx="4162209" cy="1162977"/>
          </a:xfrm>
        </p:grpSpPr>
        <p:sp>
          <p:nvSpPr>
            <p:cNvPr id="128" name="Freeform 128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4315968" y="6912864"/>
            <a:ext cx="2889504" cy="859536"/>
            <a:chOff x="0" y="0"/>
            <a:chExt cx="3852672" cy="1146048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M4 Shoulder Bolts + Nyloc Nuts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7308847" y="6906511"/>
            <a:ext cx="1658617" cy="872233"/>
            <a:chOff x="0" y="0"/>
            <a:chExt cx="2211489" cy="1162977"/>
          </a:xfrm>
        </p:grpSpPr>
        <p:sp>
          <p:nvSpPr>
            <p:cNvPr id="134" name="Freeform 134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0FAFA"/>
            </a:solidFill>
          </p:spPr>
        </p:sp>
        <p:sp>
          <p:nvSpPr>
            <p:cNvPr id="135" name="Freeform 135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7424928" y="6912864"/>
            <a:ext cx="1426464" cy="859536"/>
            <a:chOff x="0" y="0"/>
            <a:chExt cx="1901952" cy="1146048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₹150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542287" y="7766047"/>
            <a:ext cx="3670297" cy="872233"/>
            <a:chOff x="0" y="0"/>
            <a:chExt cx="4893729" cy="1162977"/>
          </a:xfrm>
        </p:grpSpPr>
        <p:sp>
          <p:nvSpPr>
            <p:cNvPr id="140" name="Freeform 140"/>
            <p:cNvSpPr/>
            <p:nvPr/>
          </p:nvSpPr>
          <p:spPr>
            <a:xfrm>
              <a:off x="8509" y="8509"/>
              <a:ext cx="4876800" cy="1146048"/>
            </a:xfrm>
            <a:custGeom>
              <a:avLst/>
              <a:gdLst/>
              <a:ahLst/>
              <a:cxnLst/>
              <a:rect l="l" t="t" r="r" b="b"/>
              <a:pathLst>
                <a:path w="4876800" h="1146048">
                  <a:moveTo>
                    <a:pt x="0" y="0"/>
                  </a:moveTo>
                  <a:lnTo>
                    <a:pt x="4876800" y="0"/>
                  </a:lnTo>
                  <a:lnTo>
                    <a:pt x="487680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1" name="Freeform 141"/>
            <p:cNvSpPr/>
            <p:nvPr/>
          </p:nvSpPr>
          <p:spPr>
            <a:xfrm>
              <a:off x="0" y="0"/>
              <a:ext cx="4893818" cy="1163066"/>
            </a:xfrm>
            <a:custGeom>
              <a:avLst/>
              <a:gdLst/>
              <a:ahLst/>
              <a:cxnLst/>
              <a:rect l="l" t="t" r="r" b="b"/>
              <a:pathLst>
                <a:path w="4893818" h="1163066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1154557"/>
                  </a:lnTo>
                  <a:cubicBezTo>
                    <a:pt x="4893818" y="1159256"/>
                    <a:pt x="4890008" y="1163066"/>
                    <a:pt x="488530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885309" y="1146048"/>
                  </a:lnTo>
                  <a:lnTo>
                    <a:pt x="4885309" y="1154557"/>
                  </a:lnTo>
                  <a:lnTo>
                    <a:pt x="4876800" y="1154557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2" name="Group 142"/>
          <p:cNvGrpSpPr/>
          <p:nvPr/>
        </p:nvGrpSpPr>
        <p:grpSpPr>
          <a:xfrm>
            <a:off x="658368" y="7772400"/>
            <a:ext cx="3438144" cy="859536"/>
            <a:chOff x="0" y="0"/>
            <a:chExt cx="4584192" cy="1146048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4584192" cy="1146048"/>
            </a:xfrm>
            <a:custGeom>
              <a:avLst/>
              <a:gdLst/>
              <a:ahLst/>
              <a:cxnLst/>
              <a:rect l="l" t="t" r="r" b="b"/>
              <a:pathLst>
                <a:path w="4584192" h="1146048">
                  <a:moveTo>
                    <a:pt x="0" y="0"/>
                  </a:moveTo>
                  <a:lnTo>
                    <a:pt x="4584192" y="0"/>
                  </a:lnTo>
                  <a:lnTo>
                    <a:pt x="458419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144" name="TextBox 144"/>
            <p:cNvSpPr txBox="1"/>
            <p:nvPr/>
          </p:nvSpPr>
          <p:spPr>
            <a:xfrm>
              <a:off x="0" y="-38100"/>
              <a:ext cx="458419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Wiring &amp; Misc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4199887" y="7766047"/>
            <a:ext cx="3121657" cy="872233"/>
            <a:chOff x="0" y="0"/>
            <a:chExt cx="4162209" cy="1162977"/>
          </a:xfrm>
        </p:grpSpPr>
        <p:sp>
          <p:nvSpPr>
            <p:cNvPr id="146" name="Freeform 146"/>
            <p:cNvSpPr/>
            <p:nvPr/>
          </p:nvSpPr>
          <p:spPr>
            <a:xfrm>
              <a:off x="8509" y="8509"/>
              <a:ext cx="4145280" cy="1146048"/>
            </a:xfrm>
            <a:custGeom>
              <a:avLst/>
              <a:gdLst/>
              <a:ahLst/>
              <a:cxnLst/>
              <a:rect l="l" t="t" r="r" b="b"/>
              <a:pathLst>
                <a:path w="4145280" h="1146048">
                  <a:moveTo>
                    <a:pt x="0" y="0"/>
                  </a:moveTo>
                  <a:lnTo>
                    <a:pt x="4145280" y="0"/>
                  </a:lnTo>
                  <a:lnTo>
                    <a:pt x="414528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7" name="Freeform 147"/>
            <p:cNvSpPr/>
            <p:nvPr/>
          </p:nvSpPr>
          <p:spPr>
            <a:xfrm>
              <a:off x="0" y="0"/>
              <a:ext cx="4162298" cy="1163066"/>
            </a:xfrm>
            <a:custGeom>
              <a:avLst/>
              <a:gdLst/>
              <a:ahLst/>
              <a:cxnLst/>
              <a:rect l="l" t="t" r="r" b="b"/>
              <a:pathLst>
                <a:path w="4162298" h="1163066">
                  <a:moveTo>
                    <a:pt x="8509" y="0"/>
                  </a:moveTo>
                  <a:lnTo>
                    <a:pt x="4153789" y="0"/>
                  </a:lnTo>
                  <a:cubicBezTo>
                    <a:pt x="4158488" y="0"/>
                    <a:pt x="4162298" y="3810"/>
                    <a:pt x="4162298" y="8509"/>
                  </a:cubicBezTo>
                  <a:lnTo>
                    <a:pt x="4162298" y="1154557"/>
                  </a:lnTo>
                  <a:cubicBezTo>
                    <a:pt x="4162298" y="1159256"/>
                    <a:pt x="4158488" y="1163066"/>
                    <a:pt x="415378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4153789" y="1146048"/>
                  </a:lnTo>
                  <a:lnTo>
                    <a:pt x="4153789" y="1154557"/>
                  </a:lnTo>
                  <a:lnTo>
                    <a:pt x="4145280" y="1154557"/>
                  </a:lnTo>
                  <a:lnTo>
                    <a:pt x="4145280" y="8509"/>
                  </a:lnTo>
                  <a:lnTo>
                    <a:pt x="4153789" y="8509"/>
                  </a:lnTo>
                  <a:lnTo>
                    <a:pt x="4153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8" name="Group 148"/>
          <p:cNvGrpSpPr/>
          <p:nvPr/>
        </p:nvGrpSpPr>
        <p:grpSpPr>
          <a:xfrm>
            <a:off x="4315968" y="7772400"/>
            <a:ext cx="2889504" cy="859536"/>
            <a:chOff x="0" y="0"/>
            <a:chExt cx="3852672" cy="1146048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3852672" cy="1146048"/>
            </a:xfrm>
            <a:custGeom>
              <a:avLst/>
              <a:gdLst/>
              <a:ahLst/>
              <a:cxnLst/>
              <a:rect l="l" t="t" r="r" b="b"/>
              <a:pathLst>
                <a:path w="3852672" h="1146048">
                  <a:moveTo>
                    <a:pt x="0" y="0"/>
                  </a:moveTo>
                  <a:lnTo>
                    <a:pt x="3852672" y="0"/>
                  </a:lnTo>
                  <a:lnTo>
                    <a:pt x="385267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02" b="-15502"/>
              </a:stretch>
            </a:blipFill>
          </p:spPr>
        </p:sp>
        <p:sp>
          <p:nvSpPr>
            <p:cNvPr id="150" name="TextBox 150"/>
            <p:cNvSpPr txBox="1"/>
            <p:nvPr/>
          </p:nvSpPr>
          <p:spPr>
            <a:xfrm>
              <a:off x="0" y="-38100"/>
              <a:ext cx="385267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Jumper Wires, connectors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7308847" y="7766047"/>
            <a:ext cx="1658617" cy="872233"/>
            <a:chOff x="0" y="0"/>
            <a:chExt cx="2211489" cy="1162977"/>
          </a:xfrm>
        </p:grpSpPr>
        <p:sp>
          <p:nvSpPr>
            <p:cNvPr id="152" name="Freeform 152"/>
            <p:cNvSpPr/>
            <p:nvPr/>
          </p:nvSpPr>
          <p:spPr>
            <a:xfrm>
              <a:off x="8509" y="8509"/>
              <a:ext cx="2194560" cy="1146048"/>
            </a:xfrm>
            <a:custGeom>
              <a:avLst/>
              <a:gdLst/>
              <a:ahLst/>
              <a:cxnLst/>
              <a:rect l="l" t="t" r="r" b="b"/>
              <a:pathLst>
                <a:path w="2194560" h="1146048">
                  <a:moveTo>
                    <a:pt x="0" y="0"/>
                  </a:moveTo>
                  <a:lnTo>
                    <a:pt x="2194560" y="0"/>
                  </a:lnTo>
                  <a:lnTo>
                    <a:pt x="2194560" y="1146048"/>
                  </a:lnTo>
                  <a:lnTo>
                    <a:pt x="0" y="114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3" name="Freeform 153"/>
            <p:cNvSpPr/>
            <p:nvPr/>
          </p:nvSpPr>
          <p:spPr>
            <a:xfrm>
              <a:off x="0" y="0"/>
              <a:ext cx="2211578" cy="1163066"/>
            </a:xfrm>
            <a:custGeom>
              <a:avLst/>
              <a:gdLst/>
              <a:ahLst/>
              <a:cxnLst/>
              <a:rect l="l" t="t" r="r" b="b"/>
              <a:pathLst>
                <a:path w="2211578" h="1163066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1154557"/>
                  </a:lnTo>
                  <a:cubicBezTo>
                    <a:pt x="2211578" y="1159256"/>
                    <a:pt x="2207768" y="1163066"/>
                    <a:pt x="2203069" y="1163066"/>
                  </a:cubicBezTo>
                  <a:lnTo>
                    <a:pt x="8509" y="1163066"/>
                  </a:lnTo>
                  <a:cubicBezTo>
                    <a:pt x="3810" y="1163066"/>
                    <a:pt x="0" y="1159256"/>
                    <a:pt x="0" y="1154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54557"/>
                  </a:lnTo>
                  <a:lnTo>
                    <a:pt x="8509" y="1154557"/>
                  </a:lnTo>
                  <a:lnTo>
                    <a:pt x="8509" y="1146048"/>
                  </a:lnTo>
                  <a:lnTo>
                    <a:pt x="2203069" y="1146048"/>
                  </a:lnTo>
                  <a:lnTo>
                    <a:pt x="2203069" y="1154557"/>
                  </a:lnTo>
                  <a:lnTo>
                    <a:pt x="2194560" y="11545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4" name="Group 154"/>
          <p:cNvGrpSpPr/>
          <p:nvPr/>
        </p:nvGrpSpPr>
        <p:grpSpPr>
          <a:xfrm>
            <a:off x="7424928" y="7772400"/>
            <a:ext cx="1426464" cy="859536"/>
            <a:chOff x="0" y="0"/>
            <a:chExt cx="1901952" cy="1146048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901952" cy="1146048"/>
            </a:xfrm>
            <a:custGeom>
              <a:avLst/>
              <a:gdLst/>
              <a:ahLst/>
              <a:cxnLst/>
              <a:rect l="l" t="t" r="r" b="b"/>
              <a:pathLst>
                <a:path w="1901952" h="1146048">
                  <a:moveTo>
                    <a:pt x="0" y="0"/>
                  </a:moveTo>
                  <a:lnTo>
                    <a:pt x="1901952" y="0"/>
                  </a:lnTo>
                  <a:lnTo>
                    <a:pt x="1901952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311" r="-27311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38100"/>
              <a:ext cx="1901952" cy="1184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₹0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535943" y="8619239"/>
            <a:ext cx="3683003" cy="830075"/>
            <a:chOff x="0" y="0"/>
            <a:chExt cx="4910671" cy="1106767"/>
          </a:xfrm>
        </p:grpSpPr>
        <p:sp>
          <p:nvSpPr>
            <p:cNvPr id="158" name="Freeform 158"/>
            <p:cNvSpPr/>
            <p:nvPr/>
          </p:nvSpPr>
          <p:spPr>
            <a:xfrm>
              <a:off x="16891" y="16891"/>
              <a:ext cx="4876800" cy="1072896"/>
            </a:xfrm>
            <a:custGeom>
              <a:avLst/>
              <a:gdLst/>
              <a:ahLst/>
              <a:cxnLst/>
              <a:rect l="l" t="t" r="r" b="b"/>
              <a:pathLst>
                <a:path w="4876800" h="1072896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59" name="Freeform 159"/>
            <p:cNvSpPr/>
            <p:nvPr/>
          </p:nvSpPr>
          <p:spPr>
            <a:xfrm>
              <a:off x="0" y="0"/>
              <a:ext cx="4910582" cy="1106680"/>
            </a:xfrm>
            <a:custGeom>
              <a:avLst/>
              <a:gdLst/>
              <a:ahLst/>
              <a:cxnLst/>
              <a:rect l="l" t="t" r="r" b="b"/>
              <a:pathLst>
                <a:path w="4910582" h="1106680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089787"/>
                  </a:lnTo>
                  <a:cubicBezTo>
                    <a:pt x="4910582" y="1099185"/>
                    <a:pt x="4902962" y="1106678"/>
                    <a:pt x="489369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4893691" y="1072896"/>
                  </a:lnTo>
                  <a:lnTo>
                    <a:pt x="4893691" y="1089787"/>
                  </a:lnTo>
                  <a:lnTo>
                    <a:pt x="4876800" y="108978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60" name="Group 160"/>
          <p:cNvGrpSpPr/>
          <p:nvPr/>
        </p:nvGrpSpPr>
        <p:grpSpPr>
          <a:xfrm>
            <a:off x="4193543" y="8619239"/>
            <a:ext cx="3134363" cy="830075"/>
            <a:chOff x="0" y="0"/>
            <a:chExt cx="4179151" cy="1106767"/>
          </a:xfrm>
        </p:grpSpPr>
        <p:sp>
          <p:nvSpPr>
            <p:cNvPr id="161" name="Freeform 161"/>
            <p:cNvSpPr/>
            <p:nvPr/>
          </p:nvSpPr>
          <p:spPr>
            <a:xfrm>
              <a:off x="16891" y="16891"/>
              <a:ext cx="4145280" cy="1072896"/>
            </a:xfrm>
            <a:custGeom>
              <a:avLst/>
              <a:gdLst/>
              <a:ahLst/>
              <a:cxnLst/>
              <a:rect l="l" t="t" r="r" b="b"/>
              <a:pathLst>
                <a:path w="4145280" h="1072896">
                  <a:moveTo>
                    <a:pt x="0" y="0"/>
                  </a:moveTo>
                  <a:lnTo>
                    <a:pt x="4145280" y="0"/>
                  </a:lnTo>
                  <a:lnTo>
                    <a:pt x="4145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62" name="Freeform 162"/>
            <p:cNvSpPr/>
            <p:nvPr/>
          </p:nvSpPr>
          <p:spPr>
            <a:xfrm>
              <a:off x="0" y="0"/>
              <a:ext cx="4179062" cy="1106680"/>
            </a:xfrm>
            <a:custGeom>
              <a:avLst/>
              <a:gdLst/>
              <a:ahLst/>
              <a:cxnLst/>
              <a:rect l="l" t="t" r="r" b="b"/>
              <a:pathLst>
                <a:path w="4179062" h="1106680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089787"/>
                  </a:lnTo>
                  <a:cubicBezTo>
                    <a:pt x="4179062" y="1099185"/>
                    <a:pt x="4171442" y="1106678"/>
                    <a:pt x="416217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4162171" y="1072896"/>
                  </a:lnTo>
                  <a:lnTo>
                    <a:pt x="4162171" y="1089787"/>
                  </a:lnTo>
                  <a:lnTo>
                    <a:pt x="4145280" y="1089787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63" name="Group 163"/>
          <p:cNvGrpSpPr/>
          <p:nvPr/>
        </p:nvGrpSpPr>
        <p:grpSpPr>
          <a:xfrm>
            <a:off x="7302503" y="8619239"/>
            <a:ext cx="1671323" cy="830075"/>
            <a:chOff x="0" y="0"/>
            <a:chExt cx="2228431" cy="1106767"/>
          </a:xfrm>
        </p:grpSpPr>
        <p:sp>
          <p:nvSpPr>
            <p:cNvPr id="164" name="Freeform 164"/>
            <p:cNvSpPr/>
            <p:nvPr/>
          </p:nvSpPr>
          <p:spPr>
            <a:xfrm>
              <a:off x="16891" y="16891"/>
              <a:ext cx="2194560" cy="1072896"/>
            </a:xfrm>
            <a:custGeom>
              <a:avLst/>
              <a:gdLst/>
              <a:ahLst/>
              <a:cxnLst/>
              <a:rect l="l" t="t" r="r" b="b"/>
              <a:pathLst>
                <a:path w="2194560" h="1072896">
                  <a:moveTo>
                    <a:pt x="0" y="0"/>
                  </a:moveTo>
                  <a:lnTo>
                    <a:pt x="2194560" y="0"/>
                  </a:lnTo>
                  <a:lnTo>
                    <a:pt x="2194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65" name="Freeform 165"/>
            <p:cNvSpPr/>
            <p:nvPr/>
          </p:nvSpPr>
          <p:spPr>
            <a:xfrm>
              <a:off x="0" y="0"/>
              <a:ext cx="2228342" cy="1106680"/>
            </a:xfrm>
            <a:custGeom>
              <a:avLst/>
              <a:gdLst/>
              <a:ahLst/>
              <a:cxnLst/>
              <a:rect l="l" t="t" r="r" b="b"/>
              <a:pathLst>
                <a:path w="2228342" h="1106680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1089787"/>
                  </a:lnTo>
                  <a:cubicBezTo>
                    <a:pt x="2228342" y="1099185"/>
                    <a:pt x="2220722" y="1106678"/>
                    <a:pt x="2211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211451" y="1072896"/>
                  </a:lnTo>
                  <a:lnTo>
                    <a:pt x="2211451" y="1089787"/>
                  </a:lnTo>
                  <a:lnTo>
                    <a:pt x="2194560" y="1089787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66" name="Group 166"/>
          <p:cNvGrpSpPr/>
          <p:nvPr/>
        </p:nvGrpSpPr>
        <p:grpSpPr>
          <a:xfrm>
            <a:off x="810263" y="8644642"/>
            <a:ext cx="6766560" cy="804672"/>
            <a:chOff x="0" y="0"/>
            <a:chExt cx="9022080" cy="1072896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9022080" cy="1072896"/>
            </a:xfrm>
            <a:custGeom>
              <a:avLst/>
              <a:gdLst/>
              <a:ahLst/>
              <a:cxnLst/>
              <a:rect l="l" t="t" r="r" b="b"/>
              <a:pathLst>
                <a:path w="9022080" h="1072896">
                  <a:moveTo>
                    <a:pt x="0" y="0"/>
                  </a:moveTo>
                  <a:lnTo>
                    <a:pt x="9022080" y="0"/>
                  </a:lnTo>
                  <a:lnTo>
                    <a:pt x="90220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-19050"/>
              <a:ext cx="902208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TOTAL ESTIMATED COST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7315200" y="8631936"/>
            <a:ext cx="1645920" cy="804672"/>
            <a:chOff x="0" y="0"/>
            <a:chExt cx="2194560" cy="1072896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2194560" cy="1072896"/>
            </a:xfrm>
            <a:custGeom>
              <a:avLst/>
              <a:gdLst/>
              <a:ahLst/>
              <a:cxnLst/>
              <a:rect l="l" t="t" r="r" b="b"/>
              <a:pathLst>
                <a:path w="2194560" h="1072896">
                  <a:moveTo>
                    <a:pt x="0" y="0"/>
                  </a:moveTo>
                  <a:lnTo>
                    <a:pt x="2194560" y="0"/>
                  </a:lnTo>
                  <a:lnTo>
                    <a:pt x="21945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r="-12726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19050"/>
              <a:ext cx="219456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dirty="0">
                  <a:solidFill>
                    <a:srgbClr val="E7E6E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~₹1,950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9326880" y="1920240"/>
            <a:ext cx="8595360" cy="658368"/>
            <a:chOff x="0" y="0"/>
            <a:chExt cx="11460480" cy="877824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11460480" cy="877824"/>
            </a:xfrm>
            <a:custGeom>
              <a:avLst/>
              <a:gdLst/>
              <a:ahLst/>
              <a:cxnLst/>
              <a:rect l="l" t="t" r="r" b="b"/>
              <a:pathLst>
                <a:path w="11460480" h="877824">
                  <a:moveTo>
                    <a:pt x="0" y="0"/>
                  </a:moveTo>
                  <a:lnTo>
                    <a:pt x="11460480" y="0"/>
                  </a:lnTo>
                  <a:lnTo>
                    <a:pt x="11460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387" b="-204387"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0" y="-9525"/>
              <a:ext cx="1146048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Cost Comparison vs. Alternatives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9326880" y="2834640"/>
            <a:ext cx="4572000" cy="548640"/>
            <a:chOff x="0" y="0"/>
            <a:chExt cx="6096000" cy="731520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77" name="TextBox 177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Vicon Motion Capture</a:t>
              </a:r>
            </a:p>
          </p:txBody>
        </p:sp>
      </p:grpSp>
      <p:grpSp>
        <p:nvGrpSpPr>
          <p:cNvPr id="178" name="Group 178"/>
          <p:cNvGrpSpPr/>
          <p:nvPr/>
        </p:nvGrpSpPr>
        <p:grpSpPr>
          <a:xfrm>
            <a:off x="9314183" y="3370583"/>
            <a:ext cx="7706363" cy="610619"/>
            <a:chOff x="0" y="0"/>
            <a:chExt cx="10275151" cy="814159"/>
          </a:xfrm>
        </p:grpSpPr>
        <p:sp>
          <p:nvSpPr>
            <p:cNvPr id="179" name="Freeform 179"/>
            <p:cNvSpPr/>
            <p:nvPr/>
          </p:nvSpPr>
          <p:spPr>
            <a:xfrm>
              <a:off x="16891" y="16891"/>
              <a:ext cx="10241281" cy="780288"/>
            </a:xfrm>
            <a:custGeom>
              <a:avLst/>
              <a:gdLst/>
              <a:ahLst/>
              <a:cxnLst/>
              <a:rect l="l" t="t" r="r" b="b"/>
              <a:pathLst>
                <a:path w="10241281" h="780288">
                  <a:moveTo>
                    <a:pt x="0" y="0"/>
                  </a:moveTo>
                  <a:lnTo>
                    <a:pt x="10241281" y="0"/>
                  </a:lnTo>
                  <a:lnTo>
                    <a:pt x="102412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80" name="Freeform 180"/>
            <p:cNvSpPr/>
            <p:nvPr/>
          </p:nvSpPr>
          <p:spPr>
            <a:xfrm>
              <a:off x="0" y="0"/>
              <a:ext cx="10275062" cy="814072"/>
            </a:xfrm>
            <a:custGeom>
              <a:avLst/>
              <a:gdLst/>
              <a:ahLst/>
              <a:cxnLst/>
              <a:rect l="l" t="t" r="r" b="b"/>
              <a:pathLst>
                <a:path w="10275062" h="81407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797179"/>
                  </a:lnTo>
                  <a:cubicBezTo>
                    <a:pt x="10275062" y="806577"/>
                    <a:pt x="10267442" y="814070"/>
                    <a:pt x="102581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258172" y="780288"/>
                  </a:lnTo>
                  <a:lnTo>
                    <a:pt x="10258172" y="797179"/>
                  </a:lnTo>
                  <a:lnTo>
                    <a:pt x="10241280" y="79717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81" name="Group 181"/>
          <p:cNvGrpSpPr/>
          <p:nvPr/>
        </p:nvGrpSpPr>
        <p:grpSpPr>
          <a:xfrm>
            <a:off x="9314183" y="3370583"/>
            <a:ext cx="7706363" cy="610619"/>
            <a:chOff x="0" y="0"/>
            <a:chExt cx="10275151" cy="814159"/>
          </a:xfrm>
        </p:grpSpPr>
        <p:sp>
          <p:nvSpPr>
            <p:cNvPr id="182" name="Freeform 182"/>
            <p:cNvSpPr/>
            <p:nvPr/>
          </p:nvSpPr>
          <p:spPr>
            <a:xfrm>
              <a:off x="16891" y="16891"/>
              <a:ext cx="10241281" cy="780288"/>
            </a:xfrm>
            <a:custGeom>
              <a:avLst/>
              <a:gdLst/>
              <a:ahLst/>
              <a:cxnLst/>
              <a:rect l="l" t="t" r="r" b="b"/>
              <a:pathLst>
                <a:path w="10241281" h="780288">
                  <a:moveTo>
                    <a:pt x="0" y="0"/>
                  </a:moveTo>
                  <a:lnTo>
                    <a:pt x="10241281" y="0"/>
                  </a:lnTo>
                  <a:lnTo>
                    <a:pt x="102412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183" name="Freeform 183"/>
            <p:cNvSpPr/>
            <p:nvPr/>
          </p:nvSpPr>
          <p:spPr>
            <a:xfrm>
              <a:off x="0" y="0"/>
              <a:ext cx="10275062" cy="814072"/>
            </a:xfrm>
            <a:custGeom>
              <a:avLst/>
              <a:gdLst/>
              <a:ahLst/>
              <a:cxnLst/>
              <a:rect l="l" t="t" r="r" b="b"/>
              <a:pathLst>
                <a:path w="10275062" h="81407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797179"/>
                  </a:lnTo>
                  <a:cubicBezTo>
                    <a:pt x="10275062" y="806577"/>
                    <a:pt x="10267442" y="814070"/>
                    <a:pt x="102581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258172" y="780288"/>
                  </a:lnTo>
                  <a:lnTo>
                    <a:pt x="10258172" y="797179"/>
                  </a:lnTo>
                  <a:lnTo>
                    <a:pt x="10241280" y="79717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84" name="Group 184"/>
          <p:cNvGrpSpPr/>
          <p:nvPr/>
        </p:nvGrpSpPr>
        <p:grpSpPr>
          <a:xfrm>
            <a:off x="17154144" y="3383280"/>
            <a:ext cx="2743200" cy="585216"/>
            <a:chOff x="0" y="0"/>
            <a:chExt cx="3657600" cy="780288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3657600" cy="780288"/>
            </a:xfrm>
            <a:custGeom>
              <a:avLst/>
              <a:gdLst/>
              <a:ahLst/>
              <a:cxnLst/>
              <a:rect l="l" t="t" r="r" b="b"/>
              <a:pathLst>
                <a:path w="3657600" h="780288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336" b="-41336"/>
              </a:stretch>
            </a:blipFill>
          </p:spPr>
        </p:sp>
        <p:sp>
          <p:nvSpPr>
            <p:cNvPr id="186" name="TextBox 186"/>
            <p:cNvSpPr txBox="1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₹20–50 Lakh</a:t>
              </a:r>
            </a:p>
          </p:txBody>
        </p:sp>
      </p:grpSp>
      <p:grpSp>
        <p:nvGrpSpPr>
          <p:cNvPr id="187" name="Group 187"/>
          <p:cNvGrpSpPr/>
          <p:nvPr/>
        </p:nvGrpSpPr>
        <p:grpSpPr>
          <a:xfrm>
            <a:off x="9326880" y="4443984"/>
            <a:ext cx="4572000" cy="548640"/>
            <a:chOff x="0" y="0"/>
            <a:chExt cx="6096000" cy="731520"/>
          </a:xfrm>
        </p:grpSpPr>
        <p:sp>
          <p:nvSpPr>
            <p:cNvPr id="188" name="Freeform 188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89" name="TextBox 189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DonJoy Brace</a:t>
              </a:r>
            </a:p>
          </p:txBody>
        </p:sp>
      </p:grpSp>
      <p:grpSp>
        <p:nvGrpSpPr>
          <p:cNvPr id="190" name="Group 190"/>
          <p:cNvGrpSpPr/>
          <p:nvPr/>
        </p:nvGrpSpPr>
        <p:grpSpPr>
          <a:xfrm>
            <a:off x="9314183" y="4979927"/>
            <a:ext cx="7706363" cy="610619"/>
            <a:chOff x="0" y="0"/>
            <a:chExt cx="10275151" cy="814159"/>
          </a:xfrm>
        </p:grpSpPr>
        <p:sp>
          <p:nvSpPr>
            <p:cNvPr id="191" name="Freeform 191"/>
            <p:cNvSpPr/>
            <p:nvPr/>
          </p:nvSpPr>
          <p:spPr>
            <a:xfrm>
              <a:off x="16891" y="16891"/>
              <a:ext cx="10241281" cy="780288"/>
            </a:xfrm>
            <a:custGeom>
              <a:avLst/>
              <a:gdLst/>
              <a:ahLst/>
              <a:cxnLst/>
              <a:rect l="l" t="t" r="r" b="b"/>
              <a:pathLst>
                <a:path w="10241281" h="780288">
                  <a:moveTo>
                    <a:pt x="0" y="0"/>
                  </a:moveTo>
                  <a:lnTo>
                    <a:pt x="10241281" y="0"/>
                  </a:lnTo>
                  <a:lnTo>
                    <a:pt x="102412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92" name="Freeform 192"/>
            <p:cNvSpPr/>
            <p:nvPr/>
          </p:nvSpPr>
          <p:spPr>
            <a:xfrm>
              <a:off x="0" y="0"/>
              <a:ext cx="10275062" cy="814072"/>
            </a:xfrm>
            <a:custGeom>
              <a:avLst/>
              <a:gdLst/>
              <a:ahLst/>
              <a:cxnLst/>
              <a:rect l="l" t="t" r="r" b="b"/>
              <a:pathLst>
                <a:path w="10275062" h="81407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797179"/>
                  </a:lnTo>
                  <a:cubicBezTo>
                    <a:pt x="10275062" y="806577"/>
                    <a:pt x="10267442" y="814070"/>
                    <a:pt x="102581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258172" y="780288"/>
                  </a:lnTo>
                  <a:lnTo>
                    <a:pt x="10258172" y="797179"/>
                  </a:lnTo>
                  <a:lnTo>
                    <a:pt x="10241280" y="79717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3" name="Group 193"/>
          <p:cNvGrpSpPr/>
          <p:nvPr/>
        </p:nvGrpSpPr>
        <p:grpSpPr>
          <a:xfrm>
            <a:off x="9314183" y="4979927"/>
            <a:ext cx="947118" cy="610619"/>
            <a:chOff x="0" y="0"/>
            <a:chExt cx="1262824" cy="814159"/>
          </a:xfrm>
        </p:grpSpPr>
        <p:sp>
          <p:nvSpPr>
            <p:cNvPr id="194" name="Freeform 194"/>
            <p:cNvSpPr/>
            <p:nvPr/>
          </p:nvSpPr>
          <p:spPr>
            <a:xfrm>
              <a:off x="16891" y="16891"/>
              <a:ext cx="1228979" cy="780288"/>
            </a:xfrm>
            <a:custGeom>
              <a:avLst/>
              <a:gdLst/>
              <a:ahLst/>
              <a:cxnLst/>
              <a:rect l="l" t="t" r="r" b="b"/>
              <a:pathLst>
                <a:path w="1228979" h="780288">
                  <a:moveTo>
                    <a:pt x="0" y="0"/>
                  </a:moveTo>
                  <a:lnTo>
                    <a:pt x="1228979" y="0"/>
                  </a:lnTo>
                  <a:lnTo>
                    <a:pt x="1228979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95" name="Freeform 195"/>
            <p:cNvSpPr/>
            <p:nvPr/>
          </p:nvSpPr>
          <p:spPr>
            <a:xfrm>
              <a:off x="0" y="0"/>
              <a:ext cx="1262761" cy="814072"/>
            </a:xfrm>
            <a:custGeom>
              <a:avLst/>
              <a:gdLst/>
              <a:ahLst/>
              <a:cxnLst/>
              <a:rect l="l" t="t" r="r" b="b"/>
              <a:pathLst>
                <a:path w="1262761" h="814072">
                  <a:moveTo>
                    <a:pt x="16891" y="0"/>
                  </a:moveTo>
                  <a:lnTo>
                    <a:pt x="1245870" y="0"/>
                  </a:lnTo>
                  <a:cubicBezTo>
                    <a:pt x="1255268" y="0"/>
                    <a:pt x="1262761" y="7620"/>
                    <a:pt x="1262761" y="16891"/>
                  </a:cubicBezTo>
                  <a:lnTo>
                    <a:pt x="1262761" y="797179"/>
                  </a:lnTo>
                  <a:cubicBezTo>
                    <a:pt x="1262761" y="806577"/>
                    <a:pt x="1255141" y="814070"/>
                    <a:pt x="1245870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245870" y="780288"/>
                  </a:lnTo>
                  <a:lnTo>
                    <a:pt x="1245870" y="797179"/>
                  </a:lnTo>
                  <a:lnTo>
                    <a:pt x="1228979" y="797179"/>
                  </a:lnTo>
                  <a:lnTo>
                    <a:pt x="1228979" y="16891"/>
                  </a:lnTo>
                  <a:lnTo>
                    <a:pt x="1245870" y="16891"/>
                  </a:lnTo>
                  <a:lnTo>
                    <a:pt x="124587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96" name="Group 196"/>
          <p:cNvGrpSpPr/>
          <p:nvPr/>
        </p:nvGrpSpPr>
        <p:grpSpPr>
          <a:xfrm>
            <a:off x="10394899" y="4992624"/>
            <a:ext cx="2743200" cy="585216"/>
            <a:chOff x="0" y="0"/>
            <a:chExt cx="3657600" cy="780288"/>
          </a:xfrm>
        </p:grpSpPr>
        <p:sp>
          <p:nvSpPr>
            <p:cNvPr id="197" name="Freeform 197"/>
            <p:cNvSpPr/>
            <p:nvPr/>
          </p:nvSpPr>
          <p:spPr>
            <a:xfrm>
              <a:off x="0" y="0"/>
              <a:ext cx="3657600" cy="780288"/>
            </a:xfrm>
            <a:custGeom>
              <a:avLst/>
              <a:gdLst/>
              <a:ahLst/>
              <a:cxnLst/>
              <a:rect l="l" t="t" r="r" b="b"/>
              <a:pathLst>
                <a:path w="3657600" h="780288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336" b="-41336"/>
              </a:stretch>
            </a:blipFill>
          </p:spPr>
        </p:sp>
        <p:sp>
          <p:nvSpPr>
            <p:cNvPr id="198" name="TextBox 198"/>
            <p:cNvSpPr txBox="1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₹5,000–15,000</a:t>
              </a:r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9326880" y="6053328"/>
            <a:ext cx="4572000" cy="548640"/>
            <a:chOff x="0" y="0"/>
            <a:chExt cx="6096000" cy="731520"/>
          </a:xfrm>
        </p:grpSpPr>
        <p:sp>
          <p:nvSpPr>
            <p:cNvPr id="200" name="Freeform 200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201" name="TextBox 201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Sleeves</a:t>
              </a:r>
            </a:p>
          </p:txBody>
        </p:sp>
      </p:grpSp>
      <p:grpSp>
        <p:nvGrpSpPr>
          <p:cNvPr id="202" name="Group 202"/>
          <p:cNvGrpSpPr/>
          <p:nvPr/>
        </p:nvGrpSpPr>
        <p:grpSpPr>
          <a:xfrm>
            <a:off x="9314183" y="6589271"/>
            <a:ext cx="7706363" cy="610619"/>
            <a:chOff x="0" y="0"/>
            <a:chExt cx="10275151" cy="814159"/>
          </a:xfrm>
        </p:grpSpPr>
        <p:sp>
          <p:nvSpPr>
            <p:cNvPr id="203" name="Freeform 203"/>
            <p:cNvSpPr/>
            <p:nvPr/>
          </p:nvSpPr>
          <p:spPr>
            <a:xfrm>
              <a:off x="16891" y="16891"/>
              <a:ext cx="10241281" cy="780288"/>
            </a:xfrm>
            <a:custGeom>
              <a:avLst/>
              <a:gdLst/>
              <a:ahLst/>
              <a:cxnLst/>
              <a:rect l="l" t="t" r="r" b="b"/>
              <a:pathLst>
                <a:path w="10241281" h="780288">
                  <a:moveTo>
                    <a:pt x="0" y="0"/>
                  </a:moveTo>
                  <a:lnTo>
                    <a:pt x="10241281" y="0"/>
                  </a:lnTo>
                  <a:lnTo>
                    <a:pt x="102412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204" name="Freeform 204"/>
            <p:cNvSpPr/>
            <p:nvPr/>
          </p:nvSpPr>
          <p:spPr>
            <a:xfrm>
              <a:off x="0" y="0"/>
              <a:ext cx="10275062" cy="814072"/>
            </a:xfrm>
            <a:custGeom>
              <a:avLst/>
              <a:gdLst/>
              <a:ahLst/>
              <a:cxnLst/>
              <a:rect l="l" t="t" r="r" b="b"/>
              <a:pathLst>
                <a:path w="10275062" h="81407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797179"/>
                  </a:lnTo>
                  <a:cubicBezTo>
                    <a:pt x="10275062" y="806577"/>
                    <a:pt x="10267442" y="814070"/>
                    <a:pt x="102581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258172" y="780288"/>
                  </a:lnTo>
                  <a:lnTo>
                    <a:pt x="10258172" y="797179"/>
                  </a:lnTo>
                  <a:lnTo>
                    <a:pt x="10241280" y="79717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05" name="Group 205"/>
          <p:cNvGrpSpPr/>
          <p:nvPr/>
        </p:nvGrpSpPr>
        <p:grpSpPr>
          <a:xfrm>
            <a:off x="9314183" y="6589271"/>
            <a:ext cx="639880" cy="610619"/>
            <a:chOff x="0" y="0"/>
            <a:chExt cx="853173" cy="814159"/>
          </a:xfrm>
        </p:grpSpPr>
        <p:sp>
          <p:nvSpPr>
            <p:cNvPr id="206" name="Freeform 206"/>
            <p:cNvSpPr/>
            <p:nvPr/>
          </p:nvSpPr>
          <p:spPr>
            <a:xfrm>
              <a:off x="16891" y="16891"/>
              <a:ext cx="819404" cy="780288"/>
            </a:xfrm>
            <a:custGeom>
              <a:avLst/>
              <a:gdLst/>
              <a:ahLst/>
              <a:cxnLst/>
              <a:rect l="l" t="t" r="r" b="b"/>
              <a:pathLst>
                <a:path w="819404" h="780288">
                  <a:moveTo>
                    <a:pt x="0" y="0"/>
                  </a:moveTo>
                  <a:lnTo>
                    <a:pt x="819404" y="0"/>
                  </a:lnTo>
                  <a:lnTo>
                    <a:pt x="81940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207" name="Freeform 207"/>
            <p:cNvSpPr/>
            <p:nvPr/>
          </p:nvSpPr>
          <p:spPr>
            <a:xfrm>
              <a:off x="0" y="0"/>
              <a:ext cx="853186" cy="814072"/>
            </a:xfrm>
            <a:custGeom>
              <a:avLst/>
              <a:gdLst/>
              <a:ahLst/>
              <a:cxnLst/>
              <a:rect l="l" t="t" r="r" b="b"/>
              <a:pathLst>
                <a:path w="853186" h="814072">
                  <a:moveTo>
                    <a:pt x="16891" y="0"/>
                  </a:moveTo>
                  <a:lnTo>
                    <a:pt x="836295" y="0"/>
                  </a:lnTo>
                  <a:cubicBezTo>
                    <a:pt x="845693" y="0"/>
                    <a:pt x="853186" y="7620"/>
                    <a:pt x="853186" y="16891"/>
                  </a:cubicBezTo>
                  <a:lnTo>
                    <a:pt x="853186" y="797179"/>
                  </a:lnTo>
                  <a:cubicBezTo>
                    <a:pt x="853186" y="806577"/>
                    <a:pt x="845566" y="814070"/>
                    <a:pt x="836295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836295" y="780288"/>
                  </a:lnTo>
                  <a:lnTo>
                    <a:pt x="836295" y="797179"/>
                  </a:lnTo>
                  <a:lnTo>
                    <a:pt x="819277" y="797179"/>
                  </a:lnTo>
                  <a:lnTo>
                    <a:pt x="819277" y="16891"/>
                  </a:lnTo>
                  <a:lnTo>
                    <a:pt x="836168" y="16891"/>
                  </a:lnTo>
                  <a:lnTo>
                    <a:pt x="83616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208" name="Group 208"/>
          <p:cNvGrpSpPr/>
          <p:nvPr/>
        </p:nvGrpSpPr>
        <p:grpSpPr>
          <a:xfrm>
            <a:off x="10087661" y="6601968"/>
            <a:ext cx="2743200" cy="585216"/>
            <a:chOff x="0" y="0"/>
            <a:chExt cx="3657600" cy="780288"/>
          </a:xfrm>
        </p:grpSpPr>
        <p:sp>
          <p:nvSpPr>
            <p:cNvPr id="209" name="Freeform 209"/>
            <p:cNvSpPr/>
            <p:nvPr/>
          </p:nvSpPr>
          <p:spPr>
            <a:xfrm>
              <a:off x="0" y="0"/>
              <a:ext cx="3657600" cy="780288"/>
            </a:xfrm>
            <a:custGeom>
              <a:avLst/>
              <a:gdLst/>
              <a:ahLst/>
              <a:cxnLst/>
              <a:rect l="l" t="t" r="r" b="b"/>
              <a:pathLst>
                <a:path w="3657600" h="780288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336" b="-41336"/>
              </a:stretch>
            </a:blipFill>
          </p:spPr>
        </p:sp>
        <p:sp>
          <p:nvSpPr>
            <p:cNvPr id="210" name="TextBox 210"/>
            <p:cNvSpPr txBox="1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₹3,000–8,000</a:t>
              </a:r>
            </a:p>
          </p:txBody>
        </p:sp>
      </p:grpSp>
      <p:grpSp>
        <p:nvGrpSpPr>
          <p:cNvPr id="211" name="Group 211"/>
          <p:cNvGrpSpPr/>
          <p:nvPr/>
        </p:nvGrpSpPr>
        <p:grpSpPr>
          <a:xfrm>
            <a:off x="9326880" y="7662672"/>
            <a:ext cx="4572000" cy="548640"/>
            <a:chOff x="0" y="0"/>
            <a:chExt cx="6096000" cy="731520"/>
          </a:xfrm>
        </p:grpSpPr>
        <p:sp>
          <p:nvSpPr>
            <p:cNvPr id="212" name="Freeform 212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213" name="TextBox 213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id="214" name="Group 214"/>
          <p:cNvGrpSpPr/>
          <p:nvPr/>
        </p:nvGrpSpPr>
        <p:grpSpPr>
          <a:xfrm>
            <a:off x="9314183" y="8198615"/>
            <a:ext cx="7706363" cy="610619"/>
            <a:chOff x="0" y="0"/>
            <a:chExt cx="10275151" cy="814159"/>
          </a:xfrm>
        </p:grpSpPr>
        <p:sp>
          <p:nvSpPr>
            <p:cNvPr id="215" name="Freeform 215"/>
            <p:cNvSpPr/>
            <p:nvPr/>
          </p:nvSpPr>
          <p:spPr>
            <a:xfrm>
              <a:off x="16891" y="16891"/>
              <a:ext cx="10241281" cy="780288"/>
            </a:xfrm>
            <a:custGeom>
              <a:avLst/>
              <a:gdLst/>
              <a:ahLst/>
              <a:cxnLst/>
              <a:rect l="l" t="t" r="r" b="b"/>
              <a:pathLst>
                <a:path w="10241281" h="780288">
                  <a:moveTo>
                    <a:pt x="0" y="0"/>
                  </a:moveTo>
                  <a:lnTo>
                    <a:pt x="10241281" y="0"/>
                  </a:lnTo>
                  <a:lnTo>
                    <a:pt x="102412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216" name="Freeform 216"/>
            <p:cNvSpPr/>
            <p:nvPr/>
          </p:nvSpPr>
          <p:spPr>
            <a:xfrm>
              <a:off x="0" y="0"/>
              <a:ext cx="10275062" cy="814072"/>
            </a:xfrm>
            <a:custGeom>
              <a:avLst/>
              <a:gdLst/>
              <a:ahLst/>
              <a:cxnLst/>
              <a:rect l="l" t="t" r="r" b="b"/>
              <a:pathLst>
                <a:path w="10275062" h="81407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797179"/>
                  </a:lnTo>
                  <a:cubicBezTo>
                    <a:pt x="10275062" y="806577"/>
                    <a:pt x="10267442" y="814070"/>
                    <a:pt x="102581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258172" y="780288"/>
                  </a:lnTo>
                  <a:lnTo>
                    <a:pt x="10258172" y="797179"/>
                  </a:lnTo>
                  <a:lnTo>
                    <a:pt x="10241280" y="79717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17" name="Group 217"/>
          <p:cNvGrpSpPr/>
          <p:nvPr/>
        </p:nvGrpSpPr>
        <p:grpSpPr>
          <a:xfrm>
            <a:off x="9314183" y="8198615"/>
            <a:ext cx="391163" cy="610619"/>
            <a:chOff x="0" y="0"/>
            <a:chExt cx="521551" cy="814159"/>
          </a:xfrm>
        </p:grpSpPr>
        <p:sp>
          <p:nvSpPr>
            <p:cNvPr id="218" name="Freeform 218"/>
            <p:cNvSpPr/>
            <p:nvPr/>
          </p:nvSpPr>
          <p:spPr>
            <a:xfrm>
              <a:off x="16891" y="16891"/>
              <a:ext cx="487680" cy="780288"/>
            </a:xfrm>
            <a:custGeom>
              <a:avLst/>
              <a:gdLst/>
              <a:ahLst/>
              <a:cxnLst/>
              <a:rect l="l" t="t" r="r" b="b"/>
              <a:pathLst>
                <a:path w="487680" h="780288">
                  <a:moveTo>
                    <a:pt x="0" y="0"/>
                  </a:moveTo>
                  <a:lnTo>
                    <a:pt x="487680" y="0"/>
                  </a:lnTo>
                  <a:lnTo>
                    <a:pt x="487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219" name="Freeform 219"/>
            <p:cNvSpPr/>
            <p:nvPr/>
          </p:nvSpPr>
          <p:spPr>
            <a:xfrm>
              <a:off x="0" y="0"/>
              <a:ext cx="521462" cy="814072"/>
            </a:xfrm>
            <a:custGeom>
              <a:avLst/>
              <a:gdLst/>
              <a:ahLst/>
              <a:cxnLst/>
              <a:rect l="l" t="t" r="r" b="b"/>
              <a:pathLst>
                <a:path w="521462" h="81407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797179"/>
                  </a:lnTo>
                  <a:cubicBezTo>
                    <a:pt x="521462" y="806577"/>
                    <a:pt x="513842" y="814070"/>
                    <a:pt x="5045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4571" y="780288"/>
                  </a:lnTo>
                  <a:lnTo>
                    <a:pt x="504571" y="797179"/>
                  </a:lnTo>
                  <a:lnTo>
                    <a:pt x="487680" y="797179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20" name="Group 220"/>
          <p:cNvGrpSpPr/>
          <p:nvPr/>
        </p:nvGrpSpPr>
        <p:grpSpPr>
          <a:xfrm>
            <a:off x="9838944" y="8211312"/>
            <a:ext cx="2743200" cy="585216"/>
            <a:chOff x="0" y="0"/>
            <a:chExt cx="3657600" cy="780288"/>
          </a:xfrm>
        </p:grpSpPr>
        <p:sp>
          <p:nvSpPr>
            <p:cNvPr id="221" name="Freeform 221"/>
            <p:cNvSpPr/>
            <p:nvPr/>
          </p:nvSpPr>
          <p:spPr>
            <a:xfrm>
              <a:off x="0" y="0"/>
              <a:ext cx="3657600" cy="780288"/>
            </a:xfrm>
            <a:custGeom>
              <a:avLst/>
              <a:gdLst/>
              <a:ahLst/>
              <a:cxnLst/>
              <a:rect l="l" t="t" r="r" b="b"/>
              <a:pathLst>
                <a:path w="3657600" h="780288">
                  <a:moveTo>
                    <a:pt x="0" y="0"/>
                  </a:moveTo>
                  <a:lnTo>
                    <a:pt x="3657600" y="0"/>
                  </a:lnTo>
                  <a:lnTo>
                    <a:pt x="3657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336" b="-41336"/>
              </a:stretch>
            </a:blipFill>
          </p:spPr>
        </p:sp>
        <p:sp>
          <p:nvSpPr>
            <p:cNvPr id="222" name="TextBox 222"/>
            <p:cNvSpPr txBox="1"/>
            <p:nvPr/>
          </p:nvSpPr>
          <p:spPr>
            <a:xfrm>
              <a:off x="0" y="-38100"/>
              <a:ext cx="36576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₹1,950</a:t>
              </a:r>
            </a:p>
          </p:txBody>
        </p:sp>
      </p:grpSp>
      <p:grpSp>
        <p:nvGrpSpPr>
          <p:cNvPr id="223" name="Group 223"/>
          <p:cNvGrpSpPr/>
          <p:nvPr/>
        </p:nvGrpSpPr>
        <p:grpSpPr>
          <a:xfrm>
            <a:off x="9314183" y="9314183"/>
            <a:ext cx="8620763" cy="720347"/>
            <a:chOff x="0" y="0"/>
            <a:chExt cx="11494351" cy="960463"/>
          </a:xfrm>
        </p:grpSpPr>
        <p:sp>
          <p:nvSpPr>
            <p:cNvPr id="224" name="Freeform 224"/>
            <p:cNvSpPr/>
            <p:nvPr/>
          </p:nvSpPr>
          <p:spPr>
            <a:xfrm>
              <a:off x="16891" y="16891"/>
              <a:ext cx="11460481" cy="926592"/>
            </a:xfrm>
            <a:custGeom>
              <a:avLst/>
              <a:gdLst/>
              <a:ahLst/>
              <a:cxnLst/>
              <a:rect l="l" t="t" r="r" b="b"/>
              <a:pathLst>
                <a:path w="11460481" h="926592">
                  <a:moveTo>
                    <a:pt x="0" y="0"/>
                  </a:moveTo>
                  <a:lnTo>
                    <a:pt x="11460481" y="0"/>
                  </a:lnTo>
                  <a:lnTo>
                    <a:pt x="1146048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id="225" name="Freeform 225"/>
            <p:cNvSpPr/>
            <p:nvPr/>
          </p:nvSpPr>
          <p:spPr>
            <a:xfrm>
              <a:off x="0" y="0"/>
              <a:ext cx="11494262" cy="960376"/>
            </a:xfrm>
            <a:custGeom>
              <a:avLst/>
              <a:gdLst/>
              <a:ahLst/>
              <a:cxnLst/>
              <a:rect l="l" t="t" r="r" b="b"/>
              <a:pathLst>
                <a:path w="11494262" h="960376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943483"/>
                  </a:lnTo>
                  <a:cubicBezTo>
                    <a:pt x="11494262" y="952881"/>
                    <a:pt x="11486642" y="960374"/>
                    <a:pt x="11477372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477372" y="926592"/>
                  </a:lnTo>
                  <a:lnTo>
                    <a:pt x="11477372" y="943483"/>
                  </a:lnTo>
                  <a:lnTo>
                    <a:pt x="11460480" y="94348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26" name="Group 226"/>
          <p:cNvGrpSpPr/>
          <p:nvPr/>
        </p:nvGrpSpPr>
        <p:grpSpPr>
          <a:xfrm>
            <a:off x="9473184" y="9326880"/>
            <a:ext cx="8302752" cy="694944"/>
            <a:chOff x="0" y="0"/>
            <a:chExt cx="11070336" cy="926592"/>
          </a:xfrm>
        </p:grpSpPr>
        <p:sp>
          <p:nvSpPr>
            <p:cNvPr id="227" name="Freeform 227"/>
            <p:cNvSpPr/>
            <p:nvPr/>
          </p:nvSpPr>
          <p:spPr>
            <a:xfrm>
              <a:off x="0" y="0"/>
              <a:ext cx="11070336" cy="926592"/>
            </a:xfrm>
            <a:custGeom>
              <a:avLst/>
              <a:gdLst/>
              <a:ahLst/>
              <a:cxnLst/>
              <a:rect l="l" t="t" r="r" b="b"/>
              <a:pathLst>
                <a:path w="11070336" h="926592">
                  <a:moveTo>
                    <a:pt x="0" y="0"/>
                  </a:moveTo>
                  <a:lnTo>
                    <a:pt x="11070336" y="0"/>
                  </a:lnTo>
                  <a:lnTo>
                    <a:pt x="1107033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794" b="-182794"/>
              </a:stretch>
            </a:blipFill>
          </p:spPr>
        </p:sp>
        <p:sp>
          <p:nvSpPr>
            <p:cNvPr id="228" name="TextBox 228"/>
            <p:cNvSpPr txBox="1"/>
            <p:nvPr/>
          </p:nvSpPr>
          <p:spPr>
            <a:xfrm>
              <a:off x="0" y="-38100"/>
              <a:ext cx="11070336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 ₹1,950, our device is 2.5–8× cheaper than passive-only braces, and over 1,000× cheaper than lab systems.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TARGET MARKET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multi-tier addressable market from grassroots sports to professional rehabilitation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8477" y="1928365"/>
            <a:ext cx="5506717" cy="7884157"/>
            <a:chOff x="0" y="0"/>
            <a:chExt cx="7342289" cy="10512209"/>
          </a:xfrm>
        </p:grpSpPr>
        <p:sp>
          <p:nvSpPr>
            <p:cNvPr id="12" name="Freeform 12"/>
            <p:cNvSpPr/>
            <p:nvPr/>
          </p:nvSpPr>
          <p:spPr>
            <a:xfrm>
              <a:off x="13589" y="13589"/>
              <a:ext cx="7315200" cy="10485120"/>
            </a:xfrm>
            <a:custGeom>
              <a:avLst/>
              <a:gdLst/>
              <a:ahLst/>
              <a:cxnLst/>
              <a:rect l="l" t="t" r="r" b="b"/>
              <a:pathLst>
                <a:path w="7315200" h="1048512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42378" cy="10512298"/>
            </a:xfrm>
            <a:custGeom>
              <a:avLst/>
              <a:gdLst/>
              <a:ahLst/>
              <a:cxnLst/>
              <a:rect l="l" t="t" r="r" b="b"/>
              <a:pathLst>
                <a:path w="7342378" h="10512298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10498709"/>
                  </a:lnTo>
                  <a:cubicBezTo>
                    <a:pt x="7342378" y="10506201"/>
                    <a:pt x="7336282" y="10512298"/>
                    <a:pt x="7328789" y="10512298"/>
                  </a:cubicBezTo>
                  <a:lnTo>
                    <a:pt x="13589" y="10512298"/>
                  </a:lnTo>
                  <a:cubicBezTo>
                    <a:pt x="6096" y="10512298"/>
                    <a:pt x="0" y="10506201"/>
                    <a:pt x="0" y="104987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498709"/>
                  </a:lnTo>
                  <a:lnTo>
                    <a:pt x="13589" y="10498709"/>
                  </a:lnTo>
                  <a:lnTo>
                    <a:pt x="13589" y="10485120"/>
                  </a:lnTo>
                  <a:lnTo>
                    <a:pt x="7328789" y="10485120"/>
                  </a:lnTo>
                  <a:lnTo>
                    <a:pt x="7328789" y="10498709"/>
                  </a:lnTo>
                  <a:lnTo>
                    <a:pt x="7315200" y="10498709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5943" y="1925831"/>
            <a:ext cx="5511803" cy="1342139"/>
            <a:chOff x="0" y="0"/>
            <a:chExt cx="7349071" cy="178951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348982" cy="1789430"/>
            </a:xfrm>
            <a:custGeom>
              <a:avLst/>
              <a:gdLst/>
              <a:ahLst/>
              <a:cxnLst/>
              <a:rect l="l" t="t" r="r" b="b"/>
              <a:pathLst>
                <a:path w="7348982" h="1789430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68096" y="2011680"/>
            <a:ext cx="4572000" cy="548640"/>
            <a:chOff x="0" y="0"/>
            <a:chExt cx="60960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096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PRIMARY MARKET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8096" y="2560320"/>
            <a:ext cx="585216" cy="585216"/>
            <a:chOff x="0" y="0"/>
            <a:chExt cx="780288" cy="780288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463040" y="2523744"/>
            <a:ext cx="4389120" cy="694944"/>
            <a:chOff x="0" y="0"/>
            <a:chExt cx="5852160" cy="926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52160" cy="926592"/>
            </a:xfrm>
            <a:custGeom>
              <a:avLst/>
              <a:gdLst/>
              <a:ahLst/>
              <a:cxnLst/>
              <a:rect l="l" t="t" r="r" b="b"/>
              <a:pathLst>
                <a:path w="5852160" h="926592">
                  <a:moveTo>
                    <a:pt x="0" y="0"/>
                  </a:moveTo>
                  <a:lnTo>
                    <a:pt x="5852160" y="0"/>
                  </a:lnTo>
                  <a:lnTo>
                    <a:pt x="5852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063" b="-7306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85216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Athletes — College &amp; Professional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399" y="3370583"/>
            <a:ext cx="5072891" cy="80267"/>
            <a:chOff x="0" y="0"/>
            <a:chExt cx="6763855" cy="107023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6729984" cy="73152"/>
            </a:xfrm>
            <a:custGeom>
              <a:avLst/>
              <a:gdLst/>
              <a:ahLst/>
              <a:cxnLst/>
              <a:rect l="l" t="t" r="r" b="b"/>
              <a:pathLst>
                <a:path w="6729984" h="73152">
                  <a:moveTo>
                    <a:pt x="0" y="0"/>
                  </a:moveTo>
                  <a:lnTo>
                    <a:pt x="6729984" y="0"/>
                  </a:lnTo>
                  <a:lnTo>
                    <a:pt x="672998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6763766" cy="106936"/>
            </a:xfrm>
            <a:custGeom>
              <a:avLst/>
              <a:gdLst/>
              <a:ahLst/>
              <a:cxnLst/>
              <a:rect l="l" t="t" r="r" b="b"/>
              <a:pathLst>
                <a:path w="6763766" h="106936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90043"/>
                  </a:lnTo>
                  <a:cubicBezTo>
                    <a:pt x="6763766" y="99441"/>
                    <a:pt x="6756146" y="106934"/>
                    <a:pt x="674687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746875" y="73152"/>
                  </a:lnTo>
                  <a:lnTo>
                    <a:pt x="6746875" y="90043"/>
                  </a:lnTo>
                  <a:lnTo>
                    <a:pt x="6729984" y="90043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68096" y="3547872"/>
            <a:ext cx="5047488" cy="438912"/>
            <a:chOff x="0" y="0"/>
            <a:chExt cx="6729984" cy="5852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29984" cy="585216"/>
            </a:xfrm>
            <a:custGeom>
              <a:avLst/>
              <a:gdLst/>
              <a:ahLst/>
              <a:cxnLst/>
              <a:rect l="l" t="t" r="r" b="b"/>
              <a:pathLst>
                <a:path w="6729984" h="585216">
                  <a:moveTo>
                    <a:pt x="0" y="0"/>
                  </a:moveTo>
                  <a:lnTo>
                    <a:pt x="6729984" y="0"/>
                  </a:lnTo>
                  <a:lnTo>
                    <a:pt x="6729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729984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4755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Channels: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8096" y="3986784"/>
            <a:ext cx="5047488" cy="1005840"/>
            <a:chOff x="0" y="0"/>
            <a:chExt cx="6729984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729984" cy="1341120"/>
            </a:xfrm>
            <a:custGeom>
              <a:avLst/>
              <a:gdLst/>
              <a:ahLst/>
              <a:cxnLst/>
              <a:rect l="l" t="t" r="r" b="b"/>
              <a:pathLst>
                <a:path w="6729984" h="1341120">
                  <a:moveTo>
                    <a:pt x="0" y="0"/>
                  </a:moveTo>
                  <a:lnTo>
                    <a:pt x="6729984" y="0"/>
                  </a:lnTo>
                  <a:lnTo>
                    <a:pt x="672998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779" b="-4777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729984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Football  •  Basketball  •  Badminton  •  Volleyball  •  Wrestling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5399" y="5034791"/>
            <a:ext cx="5072891" cy="80267"/>
            <a:chOff x="0" y="0"/>
            <a:chExt cx="6763855" cy="107023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6729984" cy="73152"/>
            </a:xfrm>
            <a:custGeom>
              <a:avLst/>
              <a:gdLst/>
              <a:ahLst/>
              <a:cxnLst/>
              <a:rect l="l" t="t" r="r" b="b"/>
              <a:pathLst>
                <a:path w="6729984" h="73152">
                  <a:moveTo>
                    <a:pt x="0" y="0"/>
                  </a:moveTo>
                  <a:lnTo>
                    <a:pt x="6729984" y="0"/>
                  </a:lnTo>
                  <a:lnTo>
                    <a:pt x="672998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6763766" cy="106936"/>
            </a:xfrm>
            <a:custGeom>
              <a:avLst/>
              <a:gdLst/>
              <a:ahLst/>
              <a:cxnLst/>
              <a:rect l="l" t="t" r="r" b="b"/>
              <a:pathLst>
                <a:path w="6763766" h="106936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90043"/>
                  </a:lnTo>
                  <a:cubicBezTo>
                    <a:pt x="6763766" y="99441"/>
                    <a:pt x="6756146" y="106934"/>
                    <a:pt x="674687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746875" y="73152"/>
                  </a:lnTo>
                  <a:lnTo>
                    <a:pt x="6746875" y="90043"/>
                  </a:lnTo>
                  <a:lnTo>
                    <a:pt x="6729984" y="90043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68096" y="5212080"/>
            <a:ext cx="5047488" cy="438912"/>
            <a:chOff x="0" y="0"/>
            <a:chExt cx="6729984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729984" cy="585216"/>
            </a:xfrm>
            <a:custGeom>
              <a:avLst/>
              <a:gdLst/>
              <a:ahLst/>
              <a:cxnLst/>
              <a:rect l="l" t="t" r="r" b="b"/>
              <a:pathLst>
                <a:path w="6729984" h="585216">
                  <a:moveTo>
                    <a:pt x="0" y="0"/>
                  </a:moveTo>
                  <a:lnTo>
                    <a:pt x="6729984" y="0"/>
                  </a:lnTo>
                  <a:lnTo>
                    <a:pt x="6729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729984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4755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they need us: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8096" y="5669280"/>
            <a:ext cx="5047488" cy="1737360"/>
            <a:chOff x="0" y="0"/>
            <a:chExt cx="6729984" cy="23164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High-ACL-risk sports with frequent pivot, cut, and landing movements. First adopters who directly benefit from real-time injury prevention.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5399" y="7485383"/>
            <a:ext cx="5072891" cy="793499"/>
            <a:chOff x="0" y="0"/>
            <a:chExt cx="6763855" cy="1057999"/>
          </a:xfrm>
        </p:grpSpPr>
        <p:sp>
          <p:nvSpPr>
            <p:cNvPr id="44" name="Freeform 44"/>
            <p:cNvSpPr/>
            <p:nvPr/>
          </p:nvSpPr>
          <p:spPr>
            <a:xfrm>
              <a:off x="16891" y="16891"/>
              <a:ext cx="6729984" cy="1024128"/>
            </a:xfrm>
            <a:custGeom>
              <a:avLst/>
              <a:gdLst/>
              <a:ahLst/>
              <a:cxnLst/>
              <a:rect l="l" t="t" r="r" b="b"/>
              <a:pathLst>
                <a:path w="6729984" h="1024128">
                  <a:moveTo>
                    <a:pt x="0" y="0"/>
                  </a:moveTo>
                  <a:lnTo>
                    <a:pt x="6729984" y="0"/>
                  </a:lnTo>
                  <a:lnTo>
                    <a:pt x="6729984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6763766" cy="1057912"/>
            </a:xfrm>
            <a:custGeom>
              <a:avLst/>
              <a:gdLst/>
              <a:ahLst/>
              <a:cxnLst/>
              <a:rect l="l" t="t" r="r" b="b"/>
              <a:pathLst>
                <a:path w="6763766" h="1057912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1041019"/>
                  </a:lnTo>
                  <a:cubicBezTo>
                    <a:pt x="6763766" y="1050417"/>
                    <a:pt x="6756146" y="1057910"/>
                    <a:pt x="6746875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6746875" y="1024128"/>
                  </a:lnTo>
                  <a:lnTo>
                    <a:pt x="6746875" y="1041019"/>
                  </a:lnTo>
                  <a:lnTo>
                    <a:pt x="6729984" y="1041019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768096" y="7498080"/>
            <a:ext cx="5047488" cy="768096"/>
            <a:chOff x="0" y="0"/>
            <a:chExt cx="6729984" cy="10241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29984" cy="1024128"/>
            </a:xfrm>
            <a:custGeom>
              <a:avLst/>
              <a:gdLst/>
              <a:ahLst/>
              <a:cxnLst/>
              <a:rect l="l" t="t" r="r" b="b"/>
              <a:pathLst>
                <a:path w="6729984" h="1024128">
                  <a:moveTo>
                    <a:pt x="0" y="0"/>
                  </a:moveTo>
                  <a:lnTo>
                    <a:pt x="6729984" y="0"/>
                  </a:lnTo>
                  <a:lnTo>
                    <a:pt x="672998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044" b="-7804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672998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68.6 ACL tears per 100,000 population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354061" y="1928365"/>
            <a:ext cx="5506717" cy="7884157"/>
            <a:chOff x="0" y="0"/>
            <a:chExt cx="7342289" cy="10512209"/>
          </a:xfrm>
        </p:grpSpPr>
        <p:sp>
          <p:nvSpPr>
            <p:cNvPr id="50" name="Freeform 50"/>
            <p:cNvSpPr/>
            <p:nvPr/>
          </p:nvSpPr>
          <p:spPr>
            <a:xfrm>
              <a:off x="13589" y="13589"/>
              <a:ext cx="7315200" cy="10485120"/>
            </a:xfrm>
            <a:custGeom>
              <a:avLst/>
              <a:gdLst/>
              <a:ahLst/>
              <a:cxnLst/>
              <a:rect l="l" t="t" r="r" b="b"/>
              <a:pathLst>
                <a:path w="7315200" h="1048512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7342378" cy="10512298"/>
            </a:xfrm>
            <a:custGeom>
              <a:avLst/>
              <a:gdLst/>
              <a:ahLst/>
              <a:cxnLst/>
              <a:rect l="l" t="t" r="r" b="b"/>
              <a:pathLst>
                <a:path w="7342378" h="10512298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10498709"/>
                  </a:lnTo>
                  <a:cubicBezTo>
                    <a:pt x="7342378" y="10506201"/>
                    <a:pt x="7336282" y="10512298"/>
                    <a:pt x="7328789" y="10512298"/>
                  </a:cubicBezTo>
                  <a:lnTo>
                    <a:pt x="13589" y="10512298"/>
                  </a:lnTo>
                  <a:cubicBezTo>
                    <a:pt x="6096" y="10512298"/>
                    <a:pt x="0" y="10506201"/>
                    <a:pt x="0" y="104987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498709"/>
                  </a:lnTo>
                  <a:lnTo>
                    <a:pt x="13589" y="10498709"/>
                  </a:lnTo>
                  <a:lnTo>
                    <a:pt x="13589" y="10485120"/>
                  </a:lnTo>
                  <a:lnTo>
                    <a:pt x="7328789" y="10485120"/>
                  </a:lnTo>
                  <a:lnTo>
                    <a:pt x="7328789" y="10498709"/>
                  </a:lnTo>
                  <a:lnTo>
                    <a:pt x="7315200" y="10498709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6351527" y="1925831"/>
            <a:ext cx="5511803" cy="1342139"/>
            <a:chOff x="0" y="0"/>
            <a:chExt cx="7349071" cy="1789519"/>
          </a:xfrm>
        </p:grpSpPr>
        <p:sp>
          <p:nvSpPr>
            <p:cNvPr id="53" name="Freeform 53"/>
            <p:cNvSpPr/>
            <p:nvPr/>
          </p:nvSpPr>
          <p:spPr>
            <a:xfrm>
              <a:off x="16891" y="16891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7348982" cy="1789430"/>
            </a:xfrm>
            <a:custGeom>
              <a:avLst/>
              <a:gdLst/>
              <a:ahLst/>
              <a:cxnLst/>
              <a:rect l="l" t="t" r="r" b="b"/>
              <a:pathLst>
                <a:path w="7348982" h="1789430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6583680" y="2011680"/>
            <a:ext cx="4572000" cy="548640"/>
            <a:chOff x="0" y="0"/>
            <a:chExt cx="609600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096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SECONDARY MARKET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83680" y="2560320"/>
            <a:ext cx="585216" cy="585216"/>
            <a:chOff x="0" y="0"/>
            <a:chExt cx="780288" cy="780288"/>
          </a:xfrm>
        </p:grpSpPr>
        <p:sp>
          <p:nvSpPr>
            <p:cNvPr id="59" name="Freeform 59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7278624" y="2523744"/>
            <a:ext cx="4389120" cy="694944"/>
            <a:chOff x="0" y="0"/>
            <a:chExt cx="5852160" cy="9265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852160" cy="926592"/>
            </a:xfrm>
            <a:custGeom>
              <a:avLst/>
              <a:gdLst/>
              <a:ahLst/>
              <a:cxnLst/>
              <a:rect l="l" t="t" r="r" b="b"/>
              <a:pathLst>
                <a:path w="5852160" h="926592">
                  <a:moveTo>
                    <a:pt x="0" y="0"/>
                  </a:moveTo>
                  <a:lnTo>
                    <a:pt x="5852160" y="0"/>
                  </a:lnTo>
                  <a:lnTo>
                    <a:pt x="5852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063" b="-7306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585216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Post-Surgical Rehab Patients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570983" y="3370583"/>
            <a:ext cx="5072891" cy="80267"/>
            <a:chOff x="0" y="0"/>
            <a:chExt cx="6763855" cy="107023"/>
          </a:xfrm>
        </p:grpSpPr>
        <p:sp>
          <p:nvSpPr>
            <p:cNvPr id="64" name="Freeform 64"/>
            <p:cNvSpPr/>
            <p:nvPr/>
          </p:nvSpPr>
          <p:spPr>
            <a:xfrm>
              <a:off x="16891" y="16891"/>
              <a:ext cx="6729984" cy="73152"/>
            </a:xfrm>
            <a:custGeom>
              <a:avLst/>
              <a:gdLst/>
              <a:ahLst/>
              <a:cxnLst/>
              <a:rect l="l" t="t" r="r" b="b"/>
              <a:pathLst>
                <a:path w="6729984" h="73152">
                  <a:moveTo>
                    <a:pt x="0" y="0"/>
                  </a:moveTo>
                  <a:lnTo>
                    <a:pt x="6729984" y="0"/>
                  </a:lnTo>
                  <a:lnTo>
                    <a:pt x="672998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0"/>
              <a:ext cx="6763766" cy="106936"/>
            </a:xfrm>
            <a:custGeom>
              <a:avLst/>
              <a:gdLst/>
              <a:ahLst/>
              <a:cxnLst/>
              <a:rect l="l" t="t" r="r" b="b"/>
              <a:pathLst>
                <a:path w="6763766" h="106936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90043"/>
                  </a:lnTo>
                  <a:cubicBezTo>
                    <a:pt x="6763766" y="99441"/>
                    <a:pt x="6756146" y="106934"/>
                    <a:pt x="674687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746875" y="73152"/>
                  </a:lnTo>
                  <a:lnTo>
                    <a:pt x="6746875" y="90043"/>
                  </a:lnTo>
                  <a:lnTo>
                    <a:pt x="6729984" y="90043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6583680" y="3547872"/>
            <a:ext cx="5047488" cy="438912"/>
            <a:chOff x="0" y="0"/>
            <a:chExt cx="6729984" cy="58521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729984" cy="585216"/>
            </a:xfrm>
            <a:custGeom>
              <a:avLst/>
              <a:gdLst/>
              <a:ahLst/>
              <a:cxnLst/>
              <a:rect l="l" t="t" r="r" b="b"/>
              <a:pathLst>
                <a:path w="6729984" h="585216">
                  <a:moveTo>
                    <a:pt x="0" y="0"/>
                  </a:moveTo>
                  <a:lnTo>
                    <a:pt x="6729984" y="0"/>
                  </a:lnTo>
                  <a:lnTo>
                    <a:pt x="6729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6729984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4755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Channels: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583680" y="3986784"/>
            <a:ext cx="5047488" cy="1005840"/>
            <a:chOff x="0" y="0"/>
            <a:chExt cx="6729984" cy="13411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729984" cy="1341120"/>
            </a:xfrm>
            <a:custGeom>
              <a:avLst/>
              <a:gdLst/>
              <a:ahLst/>
              <a:cxnLst/>
              <a:rect l="l" t="t" r="r" b="b"/>
              <a:pathLst>
                <a:path w="6729984" h="1341120">
                  <a:moveTo>
                    <a:pt x="0" y="0"/>
                  </a:moveTo>
                  <a:lnTo>
                    <a:pt x="6729984" y="0"/>
                  </a:lnTo>
                  <a:lnTo>
                    <a:pt x="672998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779" b="-47779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6729984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Physiotherapy clinics  •  Orthopaedic hospitals  •  Sports medicine centres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570983" y="5034791"/>
            <a:ext cx="5072891" cy="80267"/>
            <a:chOff x="0" y="0"/>
            <a:chExt cx="6763855" cy="107023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6729984" cy="73152"/>
            </a:xfrm>
            <a:custGeom>
              <a:avLst/>
              <a:gdLst/>
              <a:ahLst/>
              <a:cxnLst/>
              <a:rect l="l" t="t" r="r" b="b"/>
              <a:pathLst>
                <a:path w="6729984" h="73152">
                  <a:moveTo>
                    <a:pt x="0" y="0"/>
                  </a:moveTo>
                  <a:lnTo>
                    <a:pt x="6729984" y="0"/>
                  </a:lnTo>
                  <a:lnTo>
                    <a:pt x="672998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6763766" cy="106936"/>
            </a:xfrm>
            <a:custGeom>
              <a:avLst/>
              <a:gdLst/>
              <a:ahLst/>
              <a:cxnLst/>
              <a:rect l="l" t="t" r="r" b="b"/>
              <a:pathLst>
                <a:path w="6763766" h="106936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90043"/>
                  </a:lnTo>
                  <a:cubicBezTo>
                    <a:pt x="6763766" y="99441"/>
                    <a:pt x="6756146" y="106934"/>
                    <a:pt x="674687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746875" y="73152"/>
                  </a:lnTo>
                  <a:lnTo>
                    <a:pt x="6746875" y="90043"/>
                  </a:lnTo>
                  <a:lnTo>
                    <a:pt x="6729984" y="90043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6583680" y="5212080"/>
            <a:ext cx="5047488" cy="438912"/>
            <a:chOff x="0" y="0"/>
            <a:chExt cx="6729984" cy="58521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729984" cy="585216"/>
            </a:xfrm>
            <a:custGeom>
              <a:avLst/>
              <a:gdLst/>
              <a:ahLst/>
              <a:cxnLst/>
              <a:rect l="l" t="t" r="r" b="b"/>
              <a:pathLst>
                <a:path w="6729984" h="585216">
                  <a:moveTo>
                    <a:pt x="0" y="0"/>
                  </a:moveTo>
                  <a:lnTo>
                    <a:pt x="6729984" y="0"/>
                  </a:lnTo>
                  <a:lnTo>
                    <a:pt x="6729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6729984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4755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they need us: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583680" y="5669280"/>
            <a:ext cx="5047488" cy="1737360"/>
            <a:chOff x="0" y="0"/>
            <a:chExt cx="6729984" cy="23164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Recovering athletes need biomechanical monitoring to avoid re-injury. Our device provides data-driven rehab with haptic correction for safe return-to-sport.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570983" y="7485383"/>
            <a:ext cx="5072891" cy="793499"/>
            <a:chOff x="0" y="0"/>
            <a:chExt cx="6763855" cy="1057999"/>
          </a:xfrm>
        </p:grpSpPr>
        <p:sp>
          <p:nvSpPr>
            <p:cNvPr id="82" name="Freeform 82"/>
            <p:cNvSpPr/>
            <p:nvPr/>
          </p:nvSpPr>
          <p:spPr>
            <a:xfrm>
              <a:off x="16891" y="16891"/>
              <a:ext cx="6729984" cy="1024128"/>
            </a:xfrm>
            <a:custGeom>
              <a:avLst/>
              <a:gdLst/>
              <a:ahLst/>
              <a:cxnLst/>
              <a:rect l="l" t="t" r="r" b="b"/>
              <a:pathLst>
                <a:path w="6729984" h="1024128">
                  <a:moveTo>
                    <a:pt x="0" y="0"/>
                  </a:moveTo>
                  <a:lnTo>
                    <a:pt x="6729984" y="0"/>
                  </a:lnTo>
                  <a:lnTo>
                    <a:pt x="6729984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6763766" cy="1057912"/>
            </a:xfrm>
            <a:custGeom>
              <a:avLst/>
              <a:gdLst/>
              <a:ahLst/>
              <a:cxnLst/>
              <a:rect l="l" t="t" r="r" b="b"/>
              <a:pathLst>
                <a:path w="6763766" h="1057912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1041019"/>
                  </a:lnTo>
                  <a:cubicBezTo>
                    <a:pt x="6763766" y="1050417"/>
                    <a:pt x="6756146" y="1057910"/>
                    <a:pt x="6746875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6746875" y="1024128"/>
                  </a:lnTo>
                  <a:lnTo>
                    <a:pt x="6746875" y="1041019"/>
                  </a:lnTo>
                  <a:lnTo>
                    <a:pt x="6729984" y="1041019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6583680" y="7498080"/>
            <a:ext cx="5047488" cy="768096"/>
            <a:chOff x="0" y="0"/>
            <a:chExt cx="6729984" cy="102412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729984" cy="1024128"/>
            </a:xfrm>
            <a:custGeom>
              <a:avLst/>
              <a:gdLst/>
              <a:ahLst/>
              <a:cxnLst/>
              <a:rect l="l" t="t" r="r" b="b"/>
              <a:pathLst>
                <a:path w="6729984" h="1024128">
                  <a:moveTo>
                    <a:pt x="0" y="0"/>
                  </a:moveTo>
                  <a:lnTo>
                    <a:pt x="6729984" y="0"/>
                  </a:lnTo>
                  <a:lnTo>
                    <a:pt x="672998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044" b="-78044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672998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15–25% re-injury rate post-ACL reconstruction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169645" y="1928365"/>
            <a:ext cx="5506717" cy="7884157"/>
            <a:chOff x="0" y="0"/>
            <a:chExt cx="7342289" cy="10512209"/>
          </a:xfrm>
        </p:grpSpPr>
        <p:sp>
          <p:nvSpPr>
            <p:cNvPr id="88" name="Freeform 88"/>
            <p:cNvSpPr/>
            <p:nvPr/>
          </p:nvSpPr>
          <p:spPr>
            <a:xfrm>
              <a:off x="13589" y="13589"/>
              <a:ext cx="7315200" cy="10485120"/>
            </a:xfrm>
            <a:custGeom>
              <a:avLst/>
              <a:gdLst/>
              <a:ahLst/>
              <a:cxnLst/>
              <a:rect l="l" t="t" r="r" b="b"/>
              <a:pathLst>
                <a:path w="7315200" h="1048512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9" name="Freeform 89"/>
            <p:cNvSpPr/>
            <p:nvPr/>
          </p:nvSpPr>
          <p:spPr>
            <a:xfrm>
              <a:off x="0" y="0"/>
              <a:ext cx="7342378" cy="10512298"/>
            </a:xfrm>
            <a:custGeom>
              <a:avLst/>
              <a:gdLst/>
              <a:ahLst/>
              <a:cxnLst/>
              <a:rect l="l" t="t" r="r" b="b"/>
              <a:pathLst>
                <a:path w="7342378" h="10512298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10498709"/>
                  </a:lnTo>
                  <a:cubicBezTo>
                    <a:pt x="7342378" y="10506201"/>
                    <a:pt x="7336282" y="10512298"/>
                    <a:pt x="7328789" y="10512298"/>
                  </a:cubicBezTo>
                  <a:lnTo>
                    <a:pt x="13589" y="10512298"/>
                  </a:lnTo>
                  <a:cubicBezTo>
                    <a:pt x="6096" y="10512298"/>
                    <a:pt x="0" y="10506201"/>
                    <a:pt x="0" y="104987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498709"/>
                  </a:lnTo>
                  <a:lnTo>
                    <a:pt x="13589" y="10498709"/>
                  </a:lnTo>
                  <a:lnTo>
                    <a:pt x="13589" y="10485120"/>
                  </a:lnTo>
                  <a:lnTo>
                    <a:pt x="7328789" y="10485120"/>
                  </a:lnTo>
                  <a:lnTo>
                    <a:pt x="7328789" y="10498709"/>
                  </a:lnTo>
                  <a:lnTo>
                    <a:pt x="7315200" y="10498709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12167111" y="1925831"/>
            <a:ext cx="5511803" cy="1342139"/>
            <a:chOff x="0" y="0"/>
            <a:chExt cx="7349071" cy="1789519"/>
          </a:xfrm>
        </p:grpSpPr>
        <p:sp>
          <p:nvSpPr>
            <p:cNvPr id="91" name="Freeform 91"/>
            <p:cNvSpPr/>
            <p:nvPr/>
          </p:nvSpPr>
          <p:spPr>
            <a:xfrm>
              <a:off x="16891" y="16891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92" name="Freeform 92"/>
            <p:cNvSpPr/>
            <p:nvPr/>
          </p:nvSpPr>
          <p:spPr>
            <a:xfrm>
              <a:off x="0" y="0"/>
              <a:ext cx="7348982" cy="1789430"/>
            </a:xfrm>
            <a:custGeom>
              <a:avLst/>
              <a:gdLst/>
              <a:ahLst/>
              <a:cxnLst/>
              <a:rect l="l" t="t" r="r" b="b"/>
              <a:pathLst>
                <a:path w="7348982" h="1789430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12399264" y="2011680"/>
            <a:ext cx="4572000" cy="548640"/>
            <a:chOff x="0" y="0"/>
            <a:chExt cx="6096000" cy="73152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6096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TERTIARY MARKET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2399264" y="2560320"/>
            <a:ext cx="585216" cy="585216"/>
            <a:chOff x="0" y="0"/>
            <a:chExt cx="780288" cy="780288"/>
          </a:xfrm>
        </p:grpSpPr>
        <p:sp>
          <p:nvSpPr>
            <p:cNvPr id="97" name="Freeform 97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3094208" y="2523744"/>
            <a:ext cx="4389120" cy="694944"/>
            <a:chOff x="0" y="0"/>
            <a:chExt cx="5852160" cy="92659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852160" cy="926592"/>
            </a:xfrm>
            <a:custGeom>
              <a:avLst/>
              <a:gdLst/>
              <a:ahLst/>
              <a:cxnLst/>
              <a:rect l="l" t="t" r="r" b="b"/>
              <a:pathLst>
                <a:path w="5852160" h="926592">
                  <a:moveTo>
                    <a:pt x="0" y="0"/>
                  </a:moveTo>
                  <a:lnTo>
                    <a:pt x="5852160" y="0"/>
                  </a:lnTo>
                  <a:lnTo>
                    <a:pt x="5852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063" b="-73063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585216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Institutions &amp; Training Bodies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2386567" y="3370583"/>
            <a:ext cx="5072891" cy="80267"/>
            <a:chOff x="0" y="0"/>
            <a:chExt cx="6763855" cy="107023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6729984" cy="73152"/>
            </a:xfrm>
            <a:custGeom>
              <a:avLst/>
              <a:gdLst/>
              <a:ahLst/>
              <a:cxnLst/>
              <a:rect l="l" t="t" r="r" b="b"/>
              <a:pathLst>
                <a:path w="6729984" h="73152">
                  <a:moveTo>
                    <a:pt x="0" y="0"/>
                  </a:moveTo>
                  <a:lnTo>
                    <a:pt x="6729984" y="0"/>
                  </a:lnTo>
                  <a:lnTo>
                    <a:pt x="672998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6763766" cy="106936"/>
            </a:xfrm>
            <a:custGeom>
              <a:avLst/>
              <a:gdLst/>
              <a:ahLst/>
              <a:cxnLst/>
              <a:rect l="l" t="t" r="r" b="b"/>
              <a:pathLst>
                <a:path w="6763766" h="106936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90043"/>
                  </a:lnTo>
                  <a:cubicBezTo>
                    <a:pt x="6763766" y="99441"/>
                    <a:pt x="6756146" y="106934"/>
                    <a:pt x="674687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746875" y="73152"/>
                  </a:lnTo>
                  <a:lnTo>
                    <a:pt x="6746875" y="90043"/>
                  </a:lnTo>
                  <a:lnTo>
                    <a:pt x="6729984" y="90043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12399264" y="3547872"/>
            <a:ext cx="5047488" cy="438912"/>
            <a:chOff x="0" y="0"/>
            <a:chExt cx="6729984" cy="58521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729984" cy="585216"/>
            </a:xfrm>
            <a:custGeom>
              <a:avLst/>
              <a:gdLst/>
              <a:ahLst/>
              <a:cxnLst/>
              <a:rect l="l" t="t" r="r" b="b"/>
              <a:pathLst>
                <a:path w="6729984" h="585216">
                  <a:moveTo>
                    <a:pt x="0" y="0"/>
                  </a:moveTo>
                  <a:lnTo>
                    <a:pt x="6729984" y="0"/>
                  </a:lnTo>
                  <a:lnTo>
                    <a:pt x="6729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19050"/>
              <a:ext cx="6729984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4755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Channels: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399264" y="3986784"/>
            <a:ext cx="5047488" cy="1005840"/>
            <a:chOff x="0" y="0"/>
            <a:chExt cx="6729984" cy="134112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6729984" cy="1341120"/>
            </a:xfrm>
            <a:custGeom>
              <a:avLst/>
              <a:gdLst/>
              <a:ahLst/>
              <a:cxnLst/>
              <a:rect l="l" t="t" r="r" b="b"/>
              <a:pathLst>
                <a:path w="6729984" h="1341120">
                  <a:moveTo>
                    <a:pt x="0" y="0"/>
                  </a:moveTo>
                  <a:lnTo>
                    <a:pt x="6729984" y="0"/>
                  </a:lnTo>
                  <a:lnTo>
                    <a:pt x="672998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779" b="-47779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6729984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Sports academies  </a:t>
              </a:r>
              <a:endParaRPr lang="en-US" dirty="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School/college sports programs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386567" y="5034791"/>
            <a:ext cx="5072891" cy="80267"/>
            <a:chOff x="0" y="0"/>
            <a:chExt cx="6763855" cy="107023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6729984" cy="73152"/>
            </a:xfrm>
            <a:custGeom>
              <a:avLst/>
              <a:gdLst/>
              <a:ahLst/>
              <a:cxnLst/>
              <a:rect l="l" t="t" r="r" b="b"/>
              <a:pathLst>
                <a:path w="6729984" h="73152">
                  <a:moveTo>
                    <a:pt x="0" y="0"/>
                  </a:moveTo>
                  <a:lnTo>
                    <a:pt x="6729984" y="0"/>
                  </a:lnTo>
                  <a:lnTo>
                    <a:pt x="672998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6763766" cy="106936"/>
            </a:xfrm>
            <a:custGeom>
              <a:avLst/>
              <a:gdLst/>
              <a:ahLst/>
              <a:cxnLst/>
              <a:rect l="l" t="t" r="r" b="b"/>
              <a:pathLst>
                <a:path w="6763766" h="106936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90043"/>
                  </a:lnTo>
                  <a:cubicBezTo>
                    <a:pt x="6763766" y="99441"/>
                    <a:pt x="6756146" y="106934"/>
                    <a:pt x="674687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746875" y="73152"/>
                  </a:lnTo>
                  <a:lnTo>
                    <a:pt x="6746875" y="90043"/>
                  </a:lnTo>
                  <a:lnTo>
                    <a:pt x="6729984" y="90043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12399264" y="5212080"/>
            <a:ext cx="5047488" cy="438912"/>
            <a:chOff x="0" y="0"/>
            <a:chExt cx="6729984" cy="58521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6729984" cy="585216"/>
            </a:xfrm>
            <a:custGeom>
              <a:avLst/>
              <a:gdLst/>
              <a:ahLst/>
              <a:cxnLst/>
              <a:rect l="l" t="t" r="r" b="b"/>
              <a:pathLst>
                <a:path w="6729984" h="585216">
                  <a:moveTo>
                    <a:pt x="0" y="0"/>
                  </a:moveTo>
                  <a:lnTo>
                    <a:pt x="6729984" y="0"/>
                  </a:lnTo>
                  <a:lnTo>
                    <a:pt x="6729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19050"/>
              <a:ext cx="6729984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475569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they need us: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399264" y="5669280"/>
            <a:ext cx="5047488" cy="1737360"/>
            <a:chOff x="0" y="0"/>
            <a:chExt cx="6729984" cy="231648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Institutional procurement for injury prevention monitoring across squads. Coach dashboards and data analytics create ongoing subscription value.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2386567" y="7485383"/>
            <a:ext cx="5072891" cy="793499"/>
            <a:chOff x="0" y="0"/>
            <a:chExt cx="6763855" cy="1057999"/>
          </a:xfrm>
        </p:grpSpPr>
        <p:sp>
          <p:nvSpPr>
            <p:cNvPr id="120" name="Freeform 120"/>
            <p:cNvSpPr/>
            <p:nvPr/>
          </p:nvSpPr>
          <p:spPr>
            <a:xfrm>
              <a:off x="16891" y="16891"/>
              <a:ext cx="6729984" cy="1024128"/>
            </a:xfrm>
            <a:custGeom>
              <a:avLst/>
              <a:gdLst/>
              <a:ahLst/>
              <a:cxnLst/>
              <a:rect l="l" t="t" r="r" b="b"/>
              <a:pathLst>
                <a:path w="6729984" h="1024128">
                  <a:moveTo>
                    <a:pt x="0" y="0"/>
                  </a:moveTo>
                  <a:lnTo>
                    <a:pt x="6729984" y="0"/>
                  </a:lnTo>
                  <a:lnTo>
                    <a:pt x="6729984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21" name="Freeform 121"/>
            <p:cNvSpPr/>
            <p:nvPr/>
          </p:nvSpPr>
          <p:spPr>
            <a:xfrm>
              <a:off x="0" y="0"/>
              <a:ext cx="6763766" cy="1057912"/>
            </a:xfrm>
            <a:custGeom>
              <a:avLst/>
              <a:gdLst/>
              <a:ahLst/>
              <a:cxnLst/>
              <a:rect l="l" t="t" r="r" b="b"/>
              <a:pathLst>
                <a:path w="6763766" h="1057912">
                  <a:moveTo>
                    <a:pt x="16891" y="0"/>
                  </a:moveTo>
                  <a:lnTo>
                    <a:pt x="6746875" y="0"/>
                  </a:lnTo>
                  <a:cubicBezTo>
                    <a:pt x="6756273" y="0"/>
                    <a:pt x="6763766" y="7620"/>
                    <a:pt x="6763766" y="16891"/>
                  </a:cubicBezTo>
                  <a:lnTo>
                    <a:pt x="6763766" y="1041019"/>
                  </a:lnTo>
                  <a:cubicBezTo>
                    <a:pt x="6763766" y="1050417"/>
                    <a:pt x="6756146" y="1057910"/>
                    <a:pt x="6746875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6746875" y="1024128"/>
                  </a:lnTo>
                  <a:lnTo>
                    <a:pt x="6746875" y="1041019"/>
                  </a:lnTo>
                  <a:lnTo>
                    <a:pt x="6729984" y="1041019"/>
                  </a:lnTo>
                  <a:lnTo>
                    <a:pt x="6729984" y="16891"/>
                  </a:lnTo>
                  <a:lnTo>
                    <a:pt x="6746875" y="16891"/>
                  </a:lnTo>
                  <a:lnTo>
                    <a:pt x="67468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22" name="Group 122"/>
          <p:cNvGrpSpPr/>
          <p:nvPr/>
        </p:nvGrpSpPr>
        <p:grpSpPr>
          <a:xfrm>
            <a:off x="12399264" y="7498080"/>
            <a:ext cx="5047488" cy="768096"/>
            <a:chOff x="0" y="0"/>
            <a:chExt cx="6729984" cy="1024128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6729984" cy="1024128"/>
            </a:xfrm>
            <a:custGeom>
              <a:avLst/>
              <a:gdLst/>
              <a:ahLst/>
              <a:cxnLst/>
              <a:rect l="l" t="t" r="r" b="b"/>
              <a:pathLst>
                <a:path w="6729984" h="1024128">
                  <a:moveTo>
                    <a:pt x="0" y="0"/>
                  </a:moveTo>
                  <a:lnTo>
                    <a:pt x="6729984" y="0"/>
                  </a:lnTo>
                  <a:lnTo>
                    <a:pt x="672998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044" b="-78044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672998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Global sports medicine market: $9.2B (2024)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535938" y="9486900"/>
            <a:ext cx="17216123" cy="80267"/>
            <a:chOff x="0" y="0"/>
            <a:chExt cx="22954831" cy="107023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22920960" cy="73152"/>
            </a:xfrm>
            <a:custGeom>
              <a:avLst/>
              <a:gdLst/>
              <a:ahLst/>
              <a:cxnLst/>
              <a:rect l="l" t="t" r="r" b="b"/>
              <a:pathLst>
                <a:path w="22920960" h="73152">
                  <a:moveTo>
                    <a:pt x="0" y="0"/>
                  </a:moveTo>
                  <a:lnTo>
                    <a:pt x="22920960" y="0"/>
                  </a:lnTo>
                  <a:lnTo>
                    <a:pt x="229209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22954743" cy="106936"/>
            </a:xfrm>
            <a:custGeom>
              <a:avLst/>
              <a:gdLst/>
              <a:ahLst/>
              <a:cxnLst/>
              <a:rect l="l" t="t" r="r" b="b"/>
              <a:pathLst>
                <a:path w="22954743" h="106936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0043"/>
                  </a:lnTo>
                  <a:cubicBezTo>
                    <a:pt x="22954743" y="99441"/>
                    <a:pt x="22947123" y="106934"/>
                    <a:pt x="2293785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2937851" y="73152"/>
                  </a:lnTo>
                  <a:lnTo>
                    <a:pt x="22937851" y="90043"/>
                  </a:lnTo>
                  <a:lnTo>
                    <a:pt x="22920961" y="900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8" name="Group 128"/>
          <p:cNvGrpSpPr/>
          <p:nvPr/>
        </p:nvGrpSpPr>
        <p:grpSpPr>
          <a:xfrm>
            <a:off x="548640" y="9639300"/>
            <a:ext cx="17190720" cy="402336"/>
            <a:chOff x="0" y="0"/>
            <a:chExt cx="22920960" cy="536448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2920961" cy="536448"/>
            </a:xfrm>
            <a:custGeom>
              <a:avLst/>
              <a:gdLst/>
              <a:ahLst/>
              <a:cxnLst/>
              <a:rect l="l" t="t" r="r" b="b"/>
              <a:pathLst>
                <a:path w="22920961" h="536448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542" b="-782542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38100"/>
              <a:ext cx="229209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 dirty="0">
                  <a:solidFill>
                    <a:srgbClr val="1B2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Global sports medicine market projected to reach $15.3B by 2030 — growing at 6.5% CAGR (Grand View Research)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RISKS &amp; LIMITATIONS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 dirty="0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Transparent risk assessment  - and our mitigation roadmap for each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8477" y="1928365"/>
            <a:ext cx="5506717" cy="3787645"/>
            <a:chOff x="0" y="0"/>
            <a:chExt cx="7342289" cy="5050193"/>
          </a:xfrm>
        </p:grpSpPr>
        <p:sp>
          <p:nvSpPr>
            <p:cNvPr id="12" name="Freeform 12"/>
            <p:cNvSpPr/>
            <p:nvPr/>
          </p:nvSpPr>
          <p:spPr>
            <a:xfrm>
              <a:off x="13589" y="13589"/>
              <a:ext cx="7315200" cy="5023104"/>
            </a:xfrm>
            <a:custGeom>
              <a:avLst/>
              <a:gdLst/>
              <a:ahLst/>
              <a:cxnLst/>
              <a:rect l="l" t="t" r="r" b="b"/>
              <a:pathLst>
                <a:path w="7315200" h="5023104">
                  <a:moveTo>
                    <a:pt x="0" y="0"/>
                  </a:moveTo>
                  <a:lnTo>
                    <a:pt x="7315200" y="0"/>
                  </a:lnTo>
                  <a:lnTo>
                    <a:pt x="7315200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42378" cy="5050282"/>
            </a:xfrm>
            <a:custGeom>
              <a:avLst/>
              <a:gdLst/>
              <a:ahLst/>
              <a:cxnLst/>
              <a:rect l="l" t="t" r="r" b="b"/>
              <a:pathLst>
                <a:path w="7342378" h="5050282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036693"/>
                  </a:lnTo>
                  <a:cubicBezTo>
                    <a:pt x="7342378" y="5044186"/>
                    <a:pt x="7336282" y="5050282"/>
                    <a:pt x="7328789" y="5050282"/>
                  </a:cubicBezTo>
                  <a:lnTo>
                    <a:pt x="13589" y="5050282"/>
                  </a:lnTo>
                  <a:cubicBezTo>
                    <a:pt x="6096" y="5050282"/>
                    <a:pt x="0" y="5044186"/>
                    <a:pt x="0" y="503669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036693"/>
                  </a:lnTo>
                  <a:lnTo>
                    <a:pt x="13589" y="5036693"/>
                  </a:lnTo>
                  <a:lnTo>
                    <a:pt x="13589" y="5023104"/>
                  </a:lnTo>
                  <a:lnTo>
                    <a:pt x="7328789" y="5023104"/>
                  </a:lnTo>
                  <a:lnTo>
                    <a:pt x="7328789" y="5036693"/>
                  </a:lnTo>
                  <a:lnTo>
                    <a:pt x="7315200" y="5036693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5943" y="1925831"/>
            <a:ext cx="135131" cy="3792731"/>
            <a:chOff x="0" y="0"/>
            <a:chExt cx="180175" cy="505697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46304" cy="5023104"/>
            </a:xfrm>
            <a:custGeom>
              <a:avLst/>
              <a:gdLst/>
              <a:ahLst/>
              <a:cxnLst/>
              <a:rect l="l" t="t" r="r" b="b"/>
              <a:pathLst>
                <a:path w="146304" h="5023104">
                  <a:moveTo>
                    <a:pt x="0" y="0"/>
                  </a:moveTo>
                  <a:lnTo>
                    <a:pt x="146304" y="0"/>
                  </a:lnTo>
                  <a:lnTo>
                    <a:pt x="146304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80086" cy="5056886"/>
            </a:xfrm>
            <a:custGeom>
              <a:avLst/>
              <a:gdLst/>
              <a:ahLst/>
              <a:cxnLst/>
              <a:rect l="l" t="t" r="r" b="b"/>
              <a:pathLst>
                <a:path w="180086" h="50568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039995"/>
                  </a:lnTo>
                  <a:cubicBezTo>
                    <a:pt x="180086" y="5049393"/>
                    <a:pt x="172466" y="5056886"/>
                    <a:pt x="163195" y="5056886"/>
                  </a:cubicBezTo>
                  <a:lnTo>
                    <a:pt x="16891" y="5056886"/>
                  </a:lnTo>
                  <a:cubicBezTo>
                    <a:pt x="7493" y="5056886"/>
                    <a:pt x="0" y="5049266"/>
                    <a:pt x="0" y="50399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39995"/>
                  </a:lnTo>
                  <a:lnTo>
                    <a:pt x="16891" y="5039995"/>
                  </a:lnTo>
                  <a:lnTo>
                    <a:pt x="16891" y="5023104"/>
                  </a:lnTo>
                  <a:lnTo>
                    <a:pt x="163195" y="5023104"/>
                  </a:lnTo>
                  <a:lnTo>
                    <a:pt x="163195" y="5039995"/>
                  </a:lnTo>
                  <a:lnTo>
                    <a:pt x="146304" y="50399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77824" y="2157984"/>
            <a:ext cx="585216" cy="585216"/>
            <a:chOff x="0" y="0"/>
            <a:chExt cx="780288" cy="780288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609344" y="2121408"/>
            <a:ext cx="4242816" cy="658368"/>
            <a:chOff x="0" y="0"/>
            <a:chExt cx="5657088" cy="8778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57088" cy="877824"/>
            </a:xfrm>
            <a:custGeom>
              <a:avLst/>
              <a:gdLst/>
              <a:ahLst/>
              <a:cxnLst/>
              <a:rect l="l" t="t" r="r" b="b"/>
              <a:pathLst>
                <a:path w="5657088" h="877824">
                  <a:moveTo>
                    <a:pt x="0" y="0"/>
                  </a:moveTo>
                  <a:lnTo>
                    <a:pt x="5657088" y="0"/>
                  </a:lnTo>
                  <a:lnTo>
                    <a:pt x="565708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657088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Sensor Drift Over Time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77824" y="2889504"/>
            <a:ext cx="731520" cy="402336"/>
            <a:chOff x="0" y="0"/>
            <a:chExt cx="975360" cy="5364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5360" cy="536448"/>
            </a:xfrm>
            <a:custGeom>
              <a:avLst/>
              <a:gdLst/>
              <a:ahLst/>
              <a:cxnLst/>
              <a:rect l="l" t="t" r="r" b="b"/>
              <a:pathLst>
                <a:path w="975360" h="536448">
                  <a:moveTo>
                    <a:pt x="0" y="0"/>
                  </a:moveTo>
                  <a:lnTo>
                    <a:pt x="975360" y="0"/>
                  </a:lnTo>
                  <a:lnTo>
                    <a:pt x="975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75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Risk: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7824" y="3291840"/>
            <a:ext cx="4974336" cy="1097280"/>
            <a:chOff x="0" y="0"/>
            <a:chExt cx="6632448" cy="14630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632448" cy="1463040"/>
            </a:xfrm>
            <a:custGeom>
              <a:avLst/>
              <a:gdLst/>
              <a:ahLst/>
              <a:cxnLst/>
              <a:rect l="l" t="t" r="r" b="b"/>
              <a:pathLst>
                <a:path w="6632448" h="1463040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32" b="-3833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632448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Gyroscope bias accumulates → angle readings become inaccurate after extended use.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7824" y="4425696"/>
            <a:ext cx="1280160" cy="402336"/>
            <a:chOff x="0" y="0"/>
            <a:chExt cx="1706880" cy="53644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06880" cy="536448"/>
            </a:xfrm>
            <a:custGeom>
              <a:avLst/>
              <a:gdLst/>
              <a:ahLst/>
              <a:cxnLst/>
              <a:rect l="l" t="t" r="r" b="b"/>
              <a:pathLst>
                <a:path w="1706880" h="536448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7824" y="4828032"/>
            <a:ext cx="4974336" cy="768096"/>
            <a:chOff x="0" y="0"/>
            <a:chExt cx="6632448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632448" cy="1024128"/>
            </a:xfrm>
            <a:custGeom>
              <a:avLst/>
              <a:gdLst/>
              <a:ahLst/>
              <a:cxnLst/>
              <a:rect l="l" t="t" r="r" b="b"/>
              <a:pathLst>
                <a:path w="6632448" h="102412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188" b="-7618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63244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596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Periodic re-calibration protocol + drift-correction algorithm in firmware.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54061" y="1928365"/>
            <a:ext cx="5506717" cy="3787645"/>
            <a:chOff x="0" y="0"/>
            <a:chExt cx="7342289" cy="5050193"/>
          </a:xfrm>
        </p:grpSpPr>
        <p:sp>
          <p:nvSpPr>
            <p:cNvPr id="35" name="Freeform 35"/>
            <p:cNvSpPr/>
            <p:nvPr/>
          </p:nvSpPr>
          <p:spPr>
            <a:xfrm>
              <a:off x="13589" y="13589"/>
              <a:ext cx="7315200" cy="5023104"/>
            </a:xfrm>
            <a:custGeom>
              <a:avLst/>
              <a:gdLst/>
              <a:ahLst/>
              <a:cxnLst/>
              <a:rect l="l" t="t" r="r" b="b"/>
              <a:pathLst>
                <a:path w="7315200" h="5023104">
                  <a:moveTo>
                    <a:pt x="0" y="0"/>
                  </a:moveTo>
                  <a:lnTo>
                    <a:pt x="7315200" y="0"/>
                  </a:lnTo>
                  <a:lnTo>
                    <a:pt x="7315200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7342378" cy="5050282"/>
            </a:xfrm>
            <a:custGeom>
              <a:avLst/>
              <a:gdLst/>
              <a:ahLst/>
              <a:cxnLst/>
              <a:rect l="l" t="t" r="r" b="b"/>
              <a:pathLst>
                <a:path w="7342378" h="5050282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036693"/>
                  </a:lnTo>
                  <a:cubicBezTo>
                    <a:pt x="7342378" y="5044186"/>
                    <a:pt x="7336282" y="5050282"/>
                    <a:pt x="7328789" y="5050282"/>
                  </a:cubicBezTo>
                  <a:lnTo>
                    <a:pt x="13589" y="5050282"/>
                  </a:lnTo>
                  <a:cubicBezTo>
                    <a:pt x="6096" y="5050282"/>
                    <a:pt x="0" y="5044186"/>
                    <a:pt x="0" y="503669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036693"/>
                  </a:lnTo>
                  <a:lnTo>
                    <a:pt x="13589" y="5036693"/>
                  </a:lnTo>
                  <a:lnTo>
                    <a:pt x="13589" y="5023104"/>
                  </a:lnTo>
                  <a:lnTo>
                    <a:pt x="7328789" y="5023104"/>
                  </a:lnTo>
                  <a:lnTo>
                    <a:pt x="7328789" y="5036693"/>
                  </a:lnTo>
                  <a:lnTo>
                    <a:pt x="7315200" y="5036693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351527" y="1925831"/>
            <a:ext cx="135131" cy="3792731"/>
            <a:chOff x="0" y="0"/>
            <a:chExt cx="180175" cy="5056975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146304" cy="5023104"/>
            </a:xfrm>
            <a:custGeom>
              <a:avLst/>
              <a:gdLst/>
              <a:ahLst/>
              <a:cxnLst/>
              <a:rect l="l" t="t" r="r" b="b"/>
              <a:pathLst>
                <a:path w="146304" h="5023104">
                  <a:moveTo>
                    <a:pt x="0" y="0"/>
                  </a:moveTo>
                  <a:lnTo>
                    <a:pt x="146304" y="0"/>
                  </a:lnTo>
                  <a:lnTo>
                    <a:pt x="146304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180086" cy="5056886"/>
            </a:xfrm>
            <a:custGeom>
              <a:avLst/>
              <a:gdLst/>
              <a:ahLst/>
              <a:cxnLst/>
              <a:rect l="l" t="t" r="r" b="b"/>
              <a:pathLst>
                <a:path w="180086" h="50568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039995"/>
                  </a:lnTo>
                  <a:cubicBezTo>
                    <a:pt x="180086" y="5049393"/>
                    <a:pt x="172466" y="5056886"/>
                    <a:pt x="163195" y="5056886"/>
                  </a:cubicBezTo>
                  <a:lnTo>
                    <a:pt x="16891" y="5056886"/>
                  </a:lnTo>
                  <a:cubicBezTo>
                    <a:pt x="7493" y="5056886"/>
                    <a:pt x="0" y="5049266"/>
                    <a:pt x="0" y="50399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39995"/>
                  </a:lnTo>
                  <a:lnTo>
                    <a:pt x="16891" y="5039995"/>
                  </a:lnTo>
                  <a:lnTo>
                    <a:pt x="16891" y="5023104"/>
                  </a:lnTo>
                  <a:lnTo>
                    <a:pt x="163195" y="5023104"/>
                  </a:lnTo>
                  <a:lnTo>
                    <a:pt x="163195" y="5039995"/>
                  </a:lnTo>
                  <a:lnTo>
                    <a:pt x="146304" y="50399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693408" y="2157984"/>
            <a:ext cx="585216" cy="585216"/>
            <a:chOff x="0" y="0"/>
            <a:chExt cx="780288" cy="780288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7424928" y="2121408"/>
            <a:ext cx="4242816" cy="658368"/>
            <a:chOff x="0" y="0"/>
            <a:chExt cx="5657088" cy="87782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657088" cy="877824"/>
            </a:xfrm>
            <a:custGeom>
              <a:avLst/>
              <a:gdLst/>
              <a:ahLst/>
              <a:cxnLst/>
              <a:rect l="l" t="t" r="r" b="b"/>
              <a:pathLst>
                <a:path w="5657088" h="877824">
                  <a:moveTo>
                    <a:pt x="0" y="0"/>
                  </a:moveTo>
                  <a:lnTo>
                    <a:pt x="5657088" y="0"/>
                  </a:lnTo>
                  <a:lnTo>
                    <a:pt x="565708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5657088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Comfort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93408" y="2889504"/>
            <a:ext cx="731520" cy="402336"/>
            <a:chOff x="0" y="0"/>
            <a:chExt cx="975360" cy="53644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75360" cy="536448"/>
            </a:xfrm>
            <a:custGeom>
              <a:avLst/>
              <a:gdLst/>
              <a:ahLst/>
              <a:cxnLst/>
              <a:rect l="l" t="t" r="r" b="b"/>
              <a:pathLst>
                <a:path w="975360" h="536448">
                  <a:moveTo>
                    <a:pt x="0" y="0"/>
                  </a:moveTo>
                  <a:lnTo>
                    <a:pt x="975360" y="0"/>
                  </a:lnTo>
                  <a:lnTo>
                    <a:pt x="975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75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Risk: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693408" y="3291840"/>
            <a:ext cx="4974336" cy="1097280"/>
            <a:chOff x="0" y="0"/>
            <a:chExt cx="6632448" cy="14630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632448" cy="1463040"/>
            </a:xfrm>
            <a:custGeom>
              <a:avLst/>
              <a:gdLst/>
              <a:ahLst/>
              <a:cxnLst/>
              <a:rect l="l" t="t" r="r" b="b"/>
              <a:pathLst>
                <a:path w="6632448" h="1463040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32" b="-3833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6632448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Rigid frame may cause discomfort in long matches; athletes may remove brace.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93408" y="4425696"/>
            <a:ext cx="1280160" cy="402336"/>
            <a:chOff x="0" y="0"/>
            <a:chExt cx="1706880" cy="5364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06880" cy="536448"/>
            </a:xfrm>
            <a:custGeom>
              <a:avLst/>
              <a:gdLst/>
              <a:ahLst/>
              <a:cxnLst/>
              <a:rect l="l" t="t" r="r" b="b"/>
              <a:pathLst>
                <a:path w="1706880" h="536448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693408" y="4828032"/>
            <a:ext cx="4974336" cy="768096"/>
            <a:chOff x="0" y="0"/>
            <a:chExt cx="6632448" cy="102412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632448" cy="1024128"/>
            </a:xfrm>
            <a:custGeom>
              <a:avLst/>
              <a:gdLst/>
              <a:ahLst/>
              <a:cxnLst/>
              <a:rect l="l" t="t" r="r" b="b"/>
              <a:pathLst>
                <a:path w="6632448" h="102412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188" b="-7618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663244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596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Comfortable padding, lightweight materials, comfort-testing iterations.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169645" y="1928365"/>
            <a:ext cx="5506717" cy="3787645"/>
            <a:chOff x="0" y="0"/>
            <a:chExt cx="7342289" cy="5050193"/>
          </a:xfrm>
        </p:grpSpPr>
        <p:sp>
          <p:nvSpPr>
            <p:cNvPr id="58" name="Freeform 58"/>
            <p:cNvSpPr/>
            <p:nvPr/>
          </p:nvSpPr>
          <p:spPr>
            <a:xfrm>
              <a:off x="13589" y="13589"/>
              <a:ext cx="7315200" cy="5023104"/>
            </a:xfrm>
            <a:custGeom>
              <a:avLst/>
              <a:gdLst/>
              <a:ahLst/>
              <a:cxnLst/>
              <a:rect l="l" t="t" r="r" b="b"/>
              <a:pathLst>
                <a:path w="7315200" h="5023104">
                  <a:moveTo>
                    <a:pt x="0" y="0"/>
                  </a:moveTo>
                  <a:lnTo>
                    <a:pt x="7315200" y="0"/>
                  </a:lnTo>
                  <a:lnTo>
                    <a:pt x="7315200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7342378" cy="5050282"/>
            </a:xfrm>
            <a:custGeom>
              <a:avLst/>
              <a:gdLst/>
              <a:ahLst/>
              <a:cxnLst/>
              <a:rect l="l" t="t" r="r" b="b"/>
              <a:pathLst>
                <a:path w="7342378" h="5050282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036693"/>
                  </a:lnTo>
                  <a:cubicBezTo>
                    <a:pt x="7342378" y="5044186"/>
                    <a:pt x="7336282" y="5050282"/>
                    <a:pt x="7328789" y="5050282"/>
                  </a:cubicBezTo>
                  <a:lnTo>
                    <a:pt x="13589" y="5050282"/>
                  </a:lnTo>
                  <a:cubicBezTo>
                    <a:pt x="6096" y="5050282"/>
                    <a:pt x="0" y="5044186"/>
                    <a:pt x="0" y="503669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036693"/>
                  </a:lnTo>
                  <a:lnTo>
                    <a:pt x="13589" y="5036693"/>
                  </a:lnTo>
                  <a:lnTo>
                    <a:pt x="13589" y="5023104"/>
                  </a:lnTo>
                  <a:lnTo>
                    <a:pt x="7328789" y="5023104"/>
                  </a:lnTo>
                  <a:lnTo>
                    <a:pt x="7328789" y="5036693"/>
                  </a:lnTo>
                  <a:lnTo>
                    <a:pt x="7315200" y="5036693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2167111" y="1925831"/>
            <a:ext cx="135131" cy="3792731"/>
            <a:chOff x="0" y="0"/>
            <a:chExt cx="180175" cy="5056975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146304" cy="5023104"/>
            </a:xfrm>
            <a:custGeom>
              <a:avLst/>
              <a:gdLst/>
              <a:ahLst/>
              <a:cxnLst/>
              <a:rect l="l" t="t" r="r" b="b"/>
              <a:pathLst>
                <a:path w="146304" h="5023104">
                  <a:moveTo>
                    <a:pt x="0" y="0"/>
                  </a:moveTo>
                  <a:lnTo>
                    <a:pt x="146304" y="0"/>
                  </a:lnTo>
                  <a:lnTo>
                    <a:pt x="146304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180086" cy="5056886"/>
            </a:xfrm>
            <a:custGeom>
              <a:avLst/>
              <a:gdLst/>
              <a:ahLst/>
              <a:cxnLst/>
              <a:rect l="l" t="t" r="r" b="b"/>
              <a:pathLst>
                <a:path w="180086" h="50568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039995"/>
                  </a:lnTo>
                  <a:cubicBezTo>
                    <a:pt x="180086" y="5049393"/>
                    <a:pt x="172466" y="5056886"/>
                    <a:pt x="163195" y="5056886"/>
                  </a:cubicBezTo>
                  <a:lnTo>
                    <a:pt x="16891" y="5056886"/>
                  </a:lnTo>
                  <a:cubicBezTo>
                    <a:pt x="7493" y="5056886"/>
                    <a:pt x="0" y="5049266"/>
                    <a:pt x="0" y="50399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39995"/>
                  </a:lnTo>
                  <a:lnTo>
                    <a:pt x="16891" y="5039995"/>
                  </a:lnTo>
                  <a:lnTo>
                    <a:pt x="16891" y="5023104"/>
                  </a:lnTo>
                  <a:lnTo>
                    <a:pt x="163195" y="5023104"/>
                  </a:lnTo>
                  <a:lnTo>
                    <a:pt x="163195" y="5039995"/>
                  </a:lnTo>
                  <a:lnTo>
                    <a:pt x="146304" y="50399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2508992" y="2157984"/>
            <a:ext cx="585216" cy="585216"/>
            <a:chOff x="0" y="0"/>
            <a:chExt cx="780288" cy="780288"/>
          </a:xfrm>
        </p:grpSpPr>
        <p:sp>
          <p:nvSpPr>
            <p:cNvPr id="64" name="Freeform 64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3240512" y="2121408"/>
            <a:ext cx="4242816" cy="658368"/>
            <a:chOff x="0" y="0"/>
            <a:chExt cx="5657088" cy="87782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657088" cy="877824"/>
            </a:xfrm>
            <a:custGeom>
              <a:avLst/>
              <a:gdLst/>
              <a:ahLst/>
              <a:cxnLst/>
              <a:rect l="l" t="t" r="r" b="b"/>
              <a:pathLst>
                <a:path w="5657088" h="877824">
                  <a:moveTo>
                    <a:pt x="0" y="0"/>
                  </a:moveTo>
                  <a:lnTo>
                    <a:pt x="5657088" y="0"/>
                  </a:lnTo>
                  <a:lnTo>
                    <a:pt x="565708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5657088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Per-Athlete Calibration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508992" y="2889504"/>
            <a:ext cx="731520" cy="402336"/>
            <a:chOff x="0" y="0"/>
            <a:chExt cx="975360" cy="5364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75360" cy="536448"/>
            </a:xfrm>
            <a:custGeom>
              <a:avLst/>
              <a:gdLst/>
              <a:ahLst/>
              <a:cxnLst/>
              <a:rect l="l" t="t" r="r" b="b"/>
              <a:pathLst>
                <a:path w="975360" h="536448">
                  <a:moveTo>
                    <a:pt x="0" y="0"/>
                  </a:moveTo>
                  <a:lnTo>
                    <a:pt x="975360" y="0"/>
                  </a:lnTo>
                  <a:lnTo>
                    <a:pt x="975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975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Risk: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508992" y="3291840"/>
            <a:ext cx="4974336" cy="1097280"/>
            <a:chOff x="0" y="0"/>
            <a:chExt cx="6632448" cy="14630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632448" cy="1463040"/>
            </a:xfrm>
            <a:custGeom>
              <a:avLst/>
              <a:gdLst/>
              <a:ahLst/>
              <a:cxnLst/>
              <a:rect l="l" t="t" r="r" b="b"/>
              <a:pathLst>
                <a:path w="6632448" h="1463040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32" b="-3833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632448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user requires individual calibration for accurate Red Zone thresholds.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508992" y="4425696"/>
            <a:ext cx="1280160" cy="402336"/>
            <a:chOff x="0" y="0"/>
            <a:chExt cx="170688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706880" cy="536448"/>
            </a:xfrm>
            <a:custGeom>
              <a:avLst/>
              <a:gdLst/>
              <a:ahLst/>
              <a:cxnLst/>
              <a:rect l="l" t="t" r="r" b="b"/>
              <a:pathLst>
                <a:path w="1706880" h="536448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508992" y="4828032"/>
            <a:ext cx="4974336" cy="768096"/>
            <a:chOff x="0" y="0"/>
            <a:chExt cx="6632448" cy="102412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632448" cy="1024128"/>
            </a:xfrm>
            <a:custGeom>
              <a:avLst/>
              <a:gdLst/>
              <a:ahLst/>
              <a:cxnLst/>
              <a:rect l="l" t="t" r="r" b="b"/>
              <a:pathLst>
                <a:path w="6632448" h="102412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188" b="-76188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663244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596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Auto-calibration routine on first use; ML-based adaptive baseline.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38477" y="5988301"/>
            <a:ext cx="5506717" cy="3787645"/>
            <a:chOff x="0" y="0"/>
            <a:chExt cx="7342289" cy="5050193"/>
          </a:xfrm>
        </p:grpSpPr>
        <p:sp>
          <p:nvSpPr>
            <p:cNvPr id="81" name="Freeform 81"/>
            <p:cNvSpPr/>
            <p:nvPr/>
          </p:nvSpPr>
          <p:spPr>
            <a:xfrm>
              <a:off x="13589" y="13589"/>
              <a:ext cx="7315200" cy="5023104"/>
            </a:xfrm>
            <a:custGeom>
              <a:avLst/>
              <a:gdLst/>
              <a:ahLst/>
              <a:cxnLst/>
              <a:rect l="l" t="t" r="r" b="b"/>
              <a:pathLst>
                <a:path w="7315200" h="5023104">
                  <a:moveTo>
                    <a:pt x="0" y="0"/>
                  </a:moveTo>
                  <a:lnTo>
                    <a:pt x="7315200" y="0"/>
                  </a:lnTo>
                  <a:lnTo>
                    <a:pt x="7315200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7342378" cy="5050282"/>
            </a:xfrm>
            <a:custGeom>
              <a:avLst/>
              <a:gdLst/>
              <a:ahLst/>
              <a:cxnLst/>
              <a:rect l="l" t="t" r="r" b="b"/>
              <a:pathLst>
                <a:path w="7342378" h="5050282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036693"/>
                  </a:lnTo>
                  <a:cubicBezTo>
                    <a:pt x="7342378" y="5044186"/>
                    <a:pt x="7336282" y="5050282"/>
                    <a:pt x="7328789" y="5050282"/>
                  </a:cubicBezTo>
                  <a:lnTo>
                    <a:pt x="13589" y="5050282"/>
                  </a:lnTo>
                  <a:cubicBezTo>
                    <a:pt x="6096" y="5050282"/>
                    <a:pt x="0" y="5044186"/>
                    <a:pt x="0" y="503669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036693"/>
                  </a:lnTo>
                  <a:lnTo>
                    <a:pt x="13589" y="5036693"/>
                  </a:lnTo>
                  <a:lnTo>
                    <a:pt x="13589" y="5023104"/>
                  </a:lnTo>
                  <a:lnTo>
                    <a:pt x="7328789" y="5023104"/>
                  </a:lnTo>
                  <a:lnTo>
                    <a:pt x="7328789" y="5036693"/>
                  </a:lnTo>
                  <a:lnTo>
                    <a:pt x="7315200" y="5036693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535943" y="5985767"/>
            <a:ext cx="135131" cy="3792731"/>
            <a:chOff x="0" y="0"/>
            <a:chExt cx="180175" cy="5056975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146304" cy="5023104"/>
            </a:xfrm>
            <a:custGeom>
              <a:avLst/>
              <a:gdLst/>
              <a:ahLst/>
              <a:cxnLst/>
              <a:rect l="l" t="t" r="r" b="b"/>
              <a:pathLst>
                <a:path w="146304" h="5023104">
                  <a:moveTo>
                    <a:pt x="0" y="0"/>
                  </a:moveTo>
                  <a:lnTo>
                    <a:pt x="146304" y="0"/>
                  </a:lnTo>
                  <a:lnTo>
                    <a:pt x="146304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180086" cy="5056886"/>
            </a:xfrm>
            <a:custGeom>
              <a:avLst/>
              <a:gdLst/>
              <a:ahLst/>
              <a:cxnLst/>
              <a:rect l="l" t="t" r="r" b="b"/>
              <a:pathLst>
                <a:path w="180086" h="50568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039995"/>
                  </a:lnTo>
                  <a:cubicBezTo>
                    <a:pt x="180086" y="5049393"/>
                    <a:pt x="172466" y="5056886"/>
                    <a:pt x="163195" y="5056886"/>
                  </a:cubicBezTo>
                  <a:lnTo>
                    <a:pt x="16891" y="5056886"/>
                  </a:lnTo>
                  <a:cubicBezTo>
                    <a:pt x="7493" y="5056886"/>
                    <a:pt x="0" y="5049266"/>
                    <a:pt x="0" y="50399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39995"/>
                  </a:lnTo>
                  <a:lnTo>
                    <a:pt x="16891" y="5039995"/>
                  </a:lnTo>
                  <a:lnTo>
                    <a:pt x="16891" y="5023104"/>
                  </a:lnTo>
                  <a:lnTo>
                    <a:pt x="163195" y="5023104"/>
                  </a:lnTo>
                  <a:lnTo>
                    <a:pt x="163195" y="5039995"/>
                  </a:lnTo>
                  <a:lnTo>
                    <a:pt x="146304" y="50399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877824" y="6217920"/>
            <a:ext cx="585216" cy="585216"/>
            <a:chOff x="0" y="0"/>
            <a:chExt cx="780288" cy="780288"/>
          </a:xfrm>
        </p:grpSpPr>
        <p:sp>
          <p:nvSpPr>
            <p:cNvPr id="87" name="Freeform 87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1609344" y="6181344"/>
            <a:ext cx="4242816" cy="658368"/>
            <a:chOff x="0" y="0"/>
            <a:chExt cx="5657088" cy="87782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657088" cy="877824"/>
            </a:xfrm>
            <a:custGeom>
              <a:avLst/>
              <a:gdLst/>
              <a:ahLst/>
              <a:cxnLst/>
              <a:rect l="l" t="t" r="r" b="b"/>
              <a:pathLst>
                <a:path w="5657088" h="877824">
                  <a:moveTo>
                    <a:pt x="0" y="0"/>
                  </a:moveTo>
                  <a:lnTo>
                    <a:pt x="5657088" y="0"/>
                  </a:lnTo>
                  <a:lnTo>
                    <a:pt x="565708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5657088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Not a Medical Replacement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77824" y="6949440"/>
            <a:ext cx="731520" cy="402336"/>
            <a:chOff x="0" y="0"/>
            <a:chExt cx="975360" cy="53644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975360" cy="536448"/>
            </a:xfrm>
            <a:custGeom>
              <a:avLst/>
              <a:gdLst/>
              <a:ahLst/>
              <a:cxnLst/>
              <a:rect l="l" t="t" r="r" b="b"/>
              <a:pathLst>
                <a:path w="975360" h="536448">
                  <a:moveTo>
                    <a:pt x="0" y="0"/>
                  </a:moveTo>
                  <a:lnTo>
                    <a:pt x="975360" y="0"/>
                  </a:lnTo>
                  <a:lnTo>
                    <a:pt x="975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975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Risk: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77824" y="7351776"/>
            <a:ext cx="4974336" cy="1097280"/>
            <a:chOff x="0" y="0"/>
            <a:chExt cx="6632448" cy="146304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6632448" cy="1463040"/>
            </a:xfrm>
            <a:custGeom>
              <a:avLst/>
              <a:gdLst/>
              <a:ahLst/>
              <a:cxnLst/>
              <a:rect l="l" t="t" r="r" b="b"/>
              <a:pathLst>
                <a:path w="6632448" h="1463040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32" b="-38332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6632448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Device is a warning system — cannot prevent all injuries or replace clinical assessment.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77824" y="8485632"/>
            <a:ext cx="1280160" cy="402336"/>
            <a:chOff x="0" y="0"/>
            <a:chExt cx="1706880" cy="53644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706880" cy="536448"/>
            </a:xfrm>
            <a:custGeom>
              <a:avLst/>
              <a:gdLst/>
              <a:ahLst/>
              <a:cxnLst/>
              <a:rect l="l" t="t" r="r" b="b"/>
              <a:pathLst>
                <a:path w="1706880" h="536448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77824" y="8887968"/>
            <a:ext cx="4974336" cy="768096"/>
            <a:chOff x="0" y="0"/>
            <a:chExt cx="6632448" cy="1024128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6632448" cy="1024128"/>
            </a:xfrm>
            <a:custGeom>
              <a:avLst/>
              <a:gdLst/>
              <a:ahLst/>
              <a:cxnLst/>
              <a:rect l="l" t="t" r="r" b="b"/>
              <a:pathLst>
                <a:path w="6632448" h="102412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188" b="-76188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663244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596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 usage guidelines + medical professional integration in dashboard.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6354061" y="5988301"/>
            <a:ext cx="5506717" cy="3787645"/>
            <a:chOff x="0" y="0"/>
            <a:chExt cx="7342289" cy="5050193"/>
          </a:xfrm>
        </p:grpSpPr>
        <p:sp>
          <p:nvSpPr>
            <p:cNvPr id="104" name="Freeform 104"/>
            <p:cNvSpPr/>
            <p:nvPr/>
          </p:nvSpPr>
          <p:spPr>
            <a:xfrm>
              <a:off x="13589" y="13589"/>
              <a:ext cx="7315200" cy="5023104"/>
            </a:xfrm>
            <a:custGeom>
              <a:avLst/>
              <a:gdLst/>
              <a:ahLst/>
              <a:cxnLst/>
              <a:rect l="l" t="t" r="r" b="b"/>
              <a:pathLst>
                <a:path w="7315200" h="5023104">
                  <a:moveTo>
                    <a:pt x="0" y="0"/>
                  </a:moveTo>
                  <a:lnTo>
                    <a:pt x="7315200" y="0"/>
                  </a:lnTo>
                  <a:lnTo>
                    <a:pt x="7315200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7342378" cy="5050282"/>
            </a:xfrm>
            <a:custGeom>
              <a:avLst/>
              <a:gdLst/>
              <a:ahLst/>
              <a:cxnLst/>
              <a:rect l="l" t="t" r="r" b="b"/>
              <a:pathLst>
                <a:path w="7342378" h="5050282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036693"/>
                  </a:lnTo>
                  <a:cubicBezTo>
                    <a:pt x="7342378" y="5044186"/>
                    <a:pt x="7336282" y="5050282"/>
                    <a:pt x="7328789" y="5050282"/>
                  </a:cubicBezTo>
                  <a:lnTo>
                    <a:pt x="13589" y="5050282"/>
                  </a:lnTo>
                  <a:cubicBezTo>
                    <a:pt x="6096" y="5050282"/>
                    <a:pt x="0" y="5044186"/>
                    <a:pt x="0" y="503669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036693"/>
                  </a:lnTo>
                  <a:lnTo>
                    <a:pt x="13589" y="5036693"/>
                  </a:lnTo>
                  <a:lnTo>
                    <a:pt x="13589" y="5023104"/>
                  </a:lnTo>
                  <a:lnTo>
                    <a:pt x="7328789" y="5023104"/>
                  </a:lnTo>
                  <a:lnTo>
                    <a:pt x="7328789" y="5036693"/>
                  </a:lnTo>
                  <a:lnTo>
                    <a:pt x="7315200" y="5036693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6351527" y="5985767"/>
            <a:ext cx="135131" cy="3792731"/>
            <a:chOff x="0" y="0"/>
            <a:chExt cx="180175" cy="5056975"/>
          </a:xfrm>
        </p:grpSpPr>
        <p:sp>
          <p:nvSpPr>
            <p:cNvPr id="107" name="Freeform 107"/>
            <p:cNvSpPr/>
            <p:nvPr/>
          </p:nvSpPr>
          <p:spPr>
            <a:xfrm>
              <a:off x="16891" y="16891"/>
              <a:ext cx="146304" cy="5023104"/>
            </a:xfrm>
            <a:custGeom>
              <a:avLst/>
              <a:gdLst/>
              <a:ahLst/>
              <a:cxnLst/>
              <a:rect l="l" t="t" r="r" b="b"/>
              <a:pathLst>
                <a:path w="146304" h="5023104">
                  <a:moveTo>
                    <a:pt x="0" y="0"/>
                  </a:moveTo>
                  <a:lnTo>
                    <a:pt x="146304" y="0"/>
                  </a:lnTo>
                  <a:lnTo>
                    <a:pt x="146304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108" name="Freeform 108"/>
            <p:cNvSpPr/>
            <p:nvPr/>
          </p:nvSpPr>
          <p:spPr>
            <a:xfrm>
              <a:off x="0" y="0"/>
              <a:ext cx="180086" cy="5056886"/>
            </a:xfrm>
            <a:custGeom>
              <a:avLst/>
              <a:gdLst/>
              <a:ahLst/>
              <a:cxnLst/>
              <a:rect l="l" t="t" r="r" b="b"/>
              <a:pathLst>
                <a:path w="180086" h="50568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039995"/>
                  </a:lnTo>
                  <a:cubicBezTo>
                    <a:pt x="180086" y="5049393"/>
                    <a:pt x="172466" y="5056886"/>
                    <a:pt x="163195" y="5056886"/>
                  </a:cubicBezTo>
                  <a:lnTo>
                    <a:pt x="16891" y="5056886"/>
                  </a:lnTo>
                  <a:cubicBezTo>
                    <a:pt x="7493" y="5056886"/>
                    <a:pt x="0" y="5049266"/>
                    <a:pt x="0" y="50399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39995"/>
                  </a:lnTo>
                  <a:lnTo>
                    <a:pt x="16891" y="5039995"/>
                  </a:lnTo>
                  <a:lnTo>
                    <a:pt x="16891" y="5023104"/>
                  </a:lnTo>
                  <a:lnTo>
                    <a:pt x="163195" y="5023104"/>
                  </a:lnTo>
                  <a:lnTo>
                    <a:pt x="163195" y="5039995"/>
                  </a:lnTo>
                  <a:lnTo>
                    <a:pt x="146304" y="50399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6693408" y="6217920"/>
            <a:ext cx="585216" cy="585216"/>
            <a:chOff x="0" y="0"/>
            <a:chExt cx="780288" cy="780288"/>
          </a:xfrm>
        </p:grpSpPr>
        <p:sp>
          <p:nvSpPr>
            <p:cNvPr id="110" name="Freeform 110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11" name="Group 111"/>
          <p:cNvGrpSpPr/>
          <p:nvPr/>
        </p:nvGrpSpPr>
        <p:grpSpPr>
          <a:xfrm>
            <a:off x="7424928" y="6181344"/>
            <a:ext cx="4242816" cy="658368"/>
            <a:chOff x="0" y="0"/>
            <a:chExt cx="5657088" cy="87782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657088" cy="877824"/>
            </a:xfrm>
            <a:custGeom>
              <a:avLst/>
              <a:gdLst/>
              <a:ahLst/>
              <a:cxnLst/>
              <a:rect l="l" t="t" r="r" b="b"/>
              <a:pathLst>
                <a:path w="5657088" h="877824">
                  <a:moveTo>
                    <a:pt x="0" y="0"/>
                  </a:moveTo>
                  <a:lnTo>
                    <a:pt x="5657088" y="0"/>
                  </a:lnTo>
                  <a:lnTo>
                    <a:pt x="565708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5657088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dirty="0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Regulatory Pathway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693408" y="6949440"/>
            <a:ext cx="731520" cy="402336"/>
            <a:chOff x="0" y="0"/>
            <a:chExt cx="975360" cy="536448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975360" cy="536448"/>
            </a:xfrm>
            <a:custGeom>
              <a:avLst/>
              <a:gdLst/>
              <a:ahLst/>
              <a:cxnLst/>
              <a:rect l="l" t="t" r="r" b="b"/>
              <a:pathLst>
                <a:path w="975360" h="536448">
                  <a:moveTo>
                    <a:pt x="0" y="0"/>
                  </a:moveTo>
                  <a:lnTo>
                    <a:pt x="975360" y="0"/>
                  </a:lnTo>
                  <a:lnTo>
                    <a:pt x="975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38100"/>
              <a:ext cx="975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Risk: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693408" y="7351776"/>
            <a:ext cx="4974336" cy="1097280"/>
            <a:chOff x="0" y="0"/>
            <a:chExt cx="6632448" cy="146304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6632448" cy="1463040"/>
            </a:xfrm>
            <a:custGeom>
              <a:avLst/>
              <a:gdLst/>
              <a:ahLst/>
              <a:cxnLst/>
              <a:rect l="l" t="t" r="r" b="b"/>
              <a:pathLst>
                <a:path w="6632448" h="1463040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32" b="-38332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38100"/>
              <a:ext cx="6632448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18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edical device clearance required before clinical or commercial deployment.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6693408" y="8485632"/>
            <a:ext cx="1280160" cy="402336"/>
            <a:chOff x="0" y="0"/>
            <a:chExt cx="1706880" cy="536448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706880" cy="536448"/>
            </a:xfrm>
            <a:custGeom>
              <a:avLst/>
              <a:gdLst/>
              <a:ahLst/>
              <a:cxnLst/>
              <a:rect l="l" t="t" r="r" b="b"/>
              <a:pathLst>
                <a:path w="1706880" h="536448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6693408" y="8887968"/>
            <a:ext cx="4974336" cy="768096"/>
            <a:chOff x="0" y="0"/>
            <a:chExt cx="6632448" cy="1024128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6632448" cy="1024128"/>
            </a:xfrm>
            <a:custGeom>
              <a:avLst/>
              <a:gdLst/>
              <a:ahLst/>
              <a:cxnLst/>
              <a:rect l="l" t="t" r="r" b="b"/>
              <a:pathLst>
                <a:path w="6632448" h="102412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188" b="-76188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38100"/>
              <a:ext cx="663244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596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Plan: Start as sports training aid 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2169645" y="5988301"/>
            <a:ext cx="5506717" cy="3787645"/>
            <a:chOff x="0" y="0"/>
            <a:chExt cx="7342289" cy="5050193"/>
          </a:xfrm>
        </p:grpSpPr>
        <p:sp>
          <p:nvSpPr>
            <p:cNvPr id="127" name="Freeform 127"/>
            <p:cNvSpPr/>
            <p:nvPr/>
          </p:nvSpPr>
          <p:spPr>
            <a:xfrm>
              <a:off x="13589" y="13589"/>
              <a:ext cx="7315200" cy="5023104"/>
            </a:xfrm>
            <a:custGeom>
              <a:avLst/>
              <a:gdLst/>
              <a:ahLst/>
              <a:cxnLst/>
              <a:rect l="l" t="t" r="r" b="b"/>
              <a:pathLst>
                <a:path w="7315200" h="5023104">
                  <a:moveTo>
                    <a:pt x="0" y="0"/>
                  </a:moveTo>
                  <a:lnTo>
                    <a:pt x="7315200" y="0"/>
                  </a:lnTo>
                  <a:lnTo>
                    <a:pt x="7315200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8" name="Freeform 128"/>
            <p:cNvSpPr/>
            <p:nvPr/>
          </p:nvSpPr>
          <p:spPr>
            <a:xfrm>
              <a:off x="0" y="0"/>
              <a:ext cx="7342378" cy="5050282"/>
            </a:xfrm>
            <a:custGeom>
              <a:avLst/>
              <a:gdLst/>
              <a:ahLst/>
              <a:cxnLst/>
              <a:rect l="l" t="t" r="r" b="b"/>
              <a:pathLst>
                <a:path w="7342378" h="5050282">
                  <a:moveTo>
                    <a:pt x="13589" y="0"/>
                  </a:moveTo>
                  <a:lnTo>
                    <a:pt x="7328789" y="0"/>
                  </a:lnTo>
                  <a:cubicBezTo>
                    <a:pt x="7336282" y="0"/>
                    <a:pt x="7342378" y="6096"/>
                    <a:pt x="7342378" y="13589"/>
                  </a:cubicBezTo>
                  <a:lnTo>
                    <a:pt x="7342378" y="5036693"/>
                  </a:lnTo>
                  <a:cubicBezTo>
                    <a:pt x="7342378" y="5044186"/>
                    <a:pt x="7336282" y="5050282"/>
                    <a:pt x="7328789" y="5050282"/>
                  </a:cubicBezTo>
                  <a:lnTo>
                    <a:pt x="13589" y="5050282"/>
                  </a:lnTo>
                  <a:cubicBezTo>
                    <a:pt x="6096" y="5050282"/>
                    <a:pt x="0" y="5044186"/>
                    <a:pt x="0" y="503669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036693"/>
                  </a:lnTo>
                  <a:lnTo>
                    <a:pt x="13589" y="5036693"/>
                  </a:lnTo>
                  <a:lnTo>
                    <a:pt x="13589" y="5023104"/>
                  </a:lnTo>
                  <a:lnTo>
                    <a:pt x="7328789" y="5023104"/>
                  </a:lnTo>
                  <a:lnTo>
                    <a:pt x="7328789" y="5036693"/>
                  </a:lnTo>
                  <a:lnTo>
                    <a:pt x="7315200" y="5036693"/>
                  </a:lnTo>
                  <a:lnTo>
                    <a:pt x="7315200" y="13589"/>
                  </a:lnTo>
                  <a:lnTo>
                    <a:pt x="7328789" y="13589"/>
                  </a:lnTo>
                  <a:lnTo>
                    <a:pt x="7328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9" name="Group 129"/>
          <p:cNvGrpSpPr/>
          <p:nvPr/>
        </p:nvGrpSpPr>
        <p:grpSpPr>
          <a:xfrm>
            <a:off x="12167111" y="5985767"/>
            <a:ext cx="135131" cy="3792731"/>
            <a:chOff x="0" y="0"/>
            <a:chExt cx="180175" cy="5056975"/>
          </a:xfrm>
        </p:grpSpPr>
        <p:sp>
          <p:nvSpPr>
            <p:cNvPr id="130" name="Freeform 130"/>
            <p:cNvSpPr/>
            <p:nvPr/>
          </p:nvSpPr>
          <p:spPr>
            <a:xfrm>
              <a:off x="16891" y="16891"/>
              <a:ext cx="146304" cy="5023104"/>
            </a:xfrm>
            <a:custGeom>
              <a:avLst/>
              <a:gdLst/>
              <a:ahLst/>
              <a:cxnLst/>
              <a:rect l="l" t="t" r="r" b="b"/>
              <a:pathLst>
                <a:path w="146304" h="5023104">
                  <a:moveTo>
                    <a:pt x="0" y="0"/>
                  </a:moveTo>
                  <a:lnTo>
                    <a:pt x="146304" y="0"/>
                  </a:lnTo>
                  <a:lnTo>
                    <a:pt x="146304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94A3B8"/>
            </a:solidFill>
          </p:spPr>
        </p:sp>
        <p:sp>
          <p:nvSpPr>
            <p:cNvPr id="131" name="Freeform 131"/>
            <p:cNvSpPr/>
            <p:nvPr/>
          </p:nvSpPr>
          <p:spPr>
            <a:xfrm>
              <a:off x="0" y="0"/>
              <a:ext cx="180086" cy="5056886"/>
            </a:xfrm>
            <a:custGeom>
              <a:avLst/>
              <a:gdLst/>
              <a:ahLst/>
              <a:cxnLst/>
              <a:rect l="l" t="t" r="r" b="b"/>
              <a:pathLst>
                <a:path w="180086" h="50568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5039995"/>
                  </a:lnTo>
                  <a:cubicBezTo>
                    <a:pt x="180086" y="5049393"/>
                    <a:pt x="172466" y="5056886"/>
                    <a:pt x="163195" y="5056886"/>
                  </a:cubicBezTo>
                  <a:lnTo>
                    <a:pt x="16891" y="5056886"/>
                  </a:lnTo>
                  <a:cubicBezTo>
                    <a:pt x="7493" y="5056886"/>
                    <a:pt x="0" y="5049266"/>
                    <a:pt x="0" y="50399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39995"/>
                  </a:lnTo>
                  <a:lnTo>
                    <a:pt x="16891" y="5039995"/>
                  </a:lnTo>
                  <a:lnTo>
                    <a:pt x="16891" y="5023104"/>
                  </a:lnTo>
                  <a:lnTo>
                    <a:pt x="163195" y="5023104"/>
                  </a:lnTo>
                  <a:lnTo>
                    <a:pt x="163195" y="5039995"/>
                  </a:lnTo>
                  <a:lnTo>
                    <a:pt x="146304" y="50399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id="132" name="Group 132"/>
          <p:cNvGrpSpPr/>
          <p:nvPr/>
        </p:nvGrpSpPr>
        <p:grpSpPr>
          <a:xfrm>
            <a:off x="12508992" y="6217920"/>
            <a:ext cx="585216" cy="585216"/>
            <a:chOff x="0" y="0"/>
            <a:chExt cx="780288" cy="780288"/>
          </a:xfrm>
        </p:grpSpPr>
        <p:sp>
          <p:nvSpPr>
            <p:cNvPr id="133" name="Freeform 133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34" name="Group 134"/>
          <p:cNvGrpSpPr/>
          <p:nvPr/>
        </p:nvGrpSpPr>
        <p:grpSpPr>
          <a:xfrm>
            <a:off x="13240512" y="6181344"/>
            <a:ext cx="4242816" cy="658368"/>
            <a:chOff x="0" y="0"/>
            <a:chExt cx="5657088" cy="877824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5657088" cy="877824"/>
            </a:xfrm>
            <a:custGeom>
              <a:avLst/>
              <a:gdLst/>
              <a:ahLst/>
              <a:cxnLst/>
              <a:rect l="l" t="t" r="r" b="b"/>
              <a:pathLst>
                <a:path w="5657088" h="877824">
                  <a:moveTo>
                    <a:pt x="0" y="0"/>
                  </a:moveTo>
                  <a:lnTo>
                    <a:pt x="5657088" y="0"/>
                  </a:lnTo>
                  <a:lnTo>
                    <a:pt x="565708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19050"/>
              <a:ext cx="5657088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Battery Life Constraints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2508992" y="6949440"/>
            <a:ext cx="731520" cy="402336"/>
            <a:chOff x="0" y="0"/>
            <a:chExt cx="975360" cy="536448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975360" cy="536448"/>
            </a:xfrm>
            <a:custGeom>
              <a:avLst/>
              <a:gdLst/>
              <a:ahLst/>
              <a:cxnLst/>
              <a:rect l="l" t="t" r="r" b="b"/>
              <a:pathLst>
                <a:path w="975360" h="536448">
                  <a:moveTo>
                    <a:pt x="0" y="0"/>
                  </a:moveTo>
                  <a:lnTo>
                    <a:pt x="975360" y="0"/>
                  </a:lnTo>
                  <a:lnTo>
                    <a:pt x="975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38100"/>
              <a:ext cx="975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Risk: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2508992" y="7351776"/>
            <a:ext cx="4974336" cy="1097280"/>
            <a:chOff x="0" y="0"/>
            <a:chExt cx="6632448" cy="146304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6632448" cy="1463040"/>
            </a:xfrm>
            <a:custGeom>
              <a:avLst/>
              <a:gdLst/>
              <a:ahLst/>
              <a:cxnLst/>
              <a:rect l="l" t="t" r="r" b="b"/>
              <a:pathLst>
                <a:path w="6632448" h="1463040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32" b="-38332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38100"/>
              <a:ext cx="6632448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3.3V Li-ion battery limits continuous operation — replacement/recharging during matches.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2508992" y="8485632"/>
            <a:ext cx="1280160" cy="402336"/>
            <a:chOff x="0" y="0"/>
            <a:chExt cx="1706880" cy="536448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706880" cy="536448"/>
            </a:xfrm>
            <a:custGeom>
              <a:avLst/>
              <a:gdLst/>
              <a:ahLst/>
              <a:cxnLst/>
              <a:rect l="l" t="t" r="r" b="b"/>
              <a:pathLst>
                <a:path w="1706880" h="536448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Mitigation: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2508992" y="8887968"/>
            <a:ext cx="4974336" cy="768096"/>
            <a:chOff x="0" y="0"/>
            <a:chExt cx="6632448" cy="1024128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6632448" cy="1024128"/>
            </a:xfrm>
            <a:custGeom>
              <a:avLst/>
              <a:gdLst/>
              <a:ahLst/>
              <a:cxnLst/>
              <a:rect l="l" t="t" r="r" b="b"/>
              <a:pathLst>
                <a:path w="6632448" h="102412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188" b="-76188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663244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596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Low-power ESP32 sleep modes; wireless charging coil integration planned.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87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787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spc="4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FUTURE PROSPECTS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1520" y="1133856"/>
            <a:ext cx="16824960" cy="585216"/>
            <a:chOff x="0" y="0"/>
            <a:chExt cx="2243328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roadmap from prototype to AI-powered sports safety platform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5943" y="1925831"/>
            <a:ext cx="8437883" cy="3756155"/>
            <a:chOff x="0" y="0"/>
            <a:chExt cx="11250511" cy="500820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1216640" cy="4974336"/>
            </a:xfrm>
            <a:custGeom>
              <a:avLst/>
              <a:gdLst/>
              <a:ahLst/>
              <a:cxnLst/>
              <a:rect l="l" t="t" r="r" b="b"/>
              <a:pathLst>
                <a:path w="11216640" h="4974336">
                  <a:moveTo>
                    <a:pt x="0" y="0"/>
                  </a:moveTo>
                  <a:lnTo>
                    <a:pt x="11216640" y="0"/>
                  </a:lnTo>
                  <a:lnTo>
                    <a:pt x="11216640" y="4974336"/>
                  </a:lnTo>
                  <a:lnTo>
                    <a:pt x="0" y="4974336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1250422" cy="5008118"/>
            </a:xfrm>
            <a:custGeom>
              <a:avLst/>
              <a:gdLst/>
              <a:ahLst/>
              <a:cxnLst/>
              <a:rect l="l" t="t" r="r" b="b"/>
              <a:pathLst>
                <a:path w="11250422" h="500811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991227"/>
                  </a:lnTo>
                  <a:cubicBezTo>
                    <a:pt x="11250422" y="5000625"/>
                    <a:pt x="11242802" y="5008118"/>
                    <a:pt x="11233531" y="5008118"/>
                  </a:cubicBezTo>
                  <a:lnTo>
                    <a:pt x="16891" y="5008118"/>
                  </a:lnTo>
                  <a:cubicBezTo>
                    <a:pt x="7493" y="5008118"/>
                    <a:pt x="0" y="5000498"/>
                    <a:pt x="0" y="4991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991227"/>
                  </a:lnTo>
                  <a:lnTo>
                    <a:pt x="16891" y="4991227"/>
                  </a:lnTo>
                  <a:lnTo>
                    <a:pt x="16891" y="4974336"/>
                  </a:lnTo>
                  <a:lnTo>
                    <a:pt x="11233531" y="4974336"/>
                  </a:lnTo>
                  <a:lnTo>
                    <a:pt x="11233531" y="4991227"/>
                  </a:lnTo>
                  <a:lnTo>
                    <a:pt x="11216640" y="49912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5943" y="1925831"/>
            <a:ext cx="8437883" cy="135131"/>
            <a:chOff x="0" y="0"/>
            <a:chExt cx="11250511" cy="18017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1216640" cy="146304"/>
            </a:xfrm>
            <a:custGeom>
              <a:avLst/>
              <a:gdLst/>
              <a:ahLst/>
              <a:cxnLst/>
              <a:rect l="l" t="t" r="r" b="b"/>
              <a:pathLst>
                <a:path w="11216640" h="146304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1250422" cy="180088"/>
            </a:xfrm>
            <a:custGeom>
              <a:avLst/>
              <a:gdLst/>
              <a:ahLst/>
              <a:cxnLst/>
              <a:rect l="l" t="t" r="r" b="b"/>
              <a:pathLst>
                <a:path w="11250422" h="18008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22960" y="2267712"/>
            <a:ext cx="694944" cy="694944"/>
            <a:chOff x="0" y="0"/>
            <a:chExt cx="926592" cy="92659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645920" y="2487168"/>
            <a:ext cx="7040880" cy="585216"/>
            <a:chOff x="0" y="0"/>
            <a:chExt cx="9387840" cy="7802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87840" cy="780288"/>
            </a:xfrm>
            <a:custGeom>
              <a:avLst/>
              <a:gdLst/>
              <a:ahLst/>
              <a:cxnLst/>
              <a:rect l="l" t="t" r="r" b="b"/>
              <a:pathLst>
                <a:path w="9387840" h="780288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429" b="-18442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ML &amp; Predictive Analytics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" y="3218688"/>
            <a:ext cx="7863840" cy="1554480"/>
            <a:chOff x="0" y="0"/>
            <a:chExt cx="10485120" cy="2072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85120" cy="2072640"/>
            </a:xfrm>
            <a:custGeom>
              <a:avLst/>
              <a:gdLst/>
              <a:ahLst/>
              <a:cxnLst/>
              <a:rect l="l" t="t" r="r" b="b"/>
              <a:pathLst>
                <a:path w="10485120" h="2072640">
                  <a:moveTo>
                    <a:pt x="0" y="0"/>
                  </a:moveTo>
                  <a:lnTo>
                    <a:pt x="10485120" y="0"/>
                  </a:lnTo>
                  <a:lnTo>
                    <a:pt x="10485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71" b="-4857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485120" cy="2110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Leveraging Bluetooth-logged biomechanical data, machine learning models will learn each athlete's unique movement patterns and establish personalized baselines. The system will predict fatigue-related injury risk BEFORE kinematics enter the danger zone.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6607" y="4894831"/>
            <a:ext cx="2512057" cy="524761"/>
            <a:chOff x="0" y="0"/>
            <a:chExt cx="3349409" cy="699681"/>
          </a:xfrm>
        </p:grpSpPr>
        <p:sp>
          <p:nvSpPr>
            <p:cNvPr id="26" name="Freeform 26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9488">
                <a:alpha val="8627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22960" y="4901184"/>
            <a:ext cx="2499360" cy="512064"/>
            <a:chOff x="0" y="0"/>
            <a:chExt cx="3332480" cy="68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0D94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on ESP32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443983" y="4894831"/>
            <a:ext cx="2512057" cy="524761"/>
            <a:chOff x="0" y="0"/>
            <a:chExt cx="3349409" cy="699681"/>
          </a:xfrm>
        </p:grpSpPr>
        <p:sp>
          <p:nvSpPr>
            <p:cNvPr id="32" name="Freeform 32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9488">
                <a:alpha val="8627"/>
              </a:srgbClr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3450336" y="4901184"/>
            <a:ext cx="2499360" cy="512064"/>
            <a:chOff x="0" y="0"/>
            <a:chExt cx="3332480" cy="68275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0D94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Anomaly detection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71359" y="4894831"/>
            <a:ext cx="2512057" cy="524761"/>
            <a:chOff x="0" y="0"/>
            <a:chExt cx="3349409" cy="699681"/>
          </a:xfrm>
        </p:grpSpPr>
        <p:sp>
          <p:nvSpPr>
            <p:cNvPr id="38" name="Freeform 38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9488">
                <a:alpha val="8627"/>
              </a:srgbClr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077712" y="4901184"/>
            <a:ext cx="2499360" cy="512064"/>
            <a:chOff x="0" y="0"/>
            <a:chExt cx="3332480" cy="6827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D94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Long-term pattern learning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14183" y="1925831"/>
            <a:ext cx="8437883" cy="3756155"/>
            <a:chOff x="0" y="0"/>
            <a:chExt cx="11250511" cy="5008207"/>
          </a:xfrm>
        </p:grpSpPr>
        <p:sp>
          <p:nvSpPr>
            <p:cNvPr id="44" name="Freeform 44"/>
            <p:cNvSpPr/>
            <p:nvPr/>
          </p:nvSpPr>
          <p:spPr>
            <a:xfrm>
              <a:off x="16891" y="16891"/>
              <a:ext cx="11216640" cy="4974336"/>
            </a:xfrm>
            <a:custGeom>
              <a:avLst/>
              <a:gdLst/>
              <a:ahLst/>
              <a:cxnLst/>
              <a:rect l="l" t="t" r="r" b="b"/>
              <a:pathLst>
                <a:path w="11216640" h="4974336">
                  <a:moveTo>
                    <a:pt x="0" y="0"/>
                  </a:moveTo>
                  <a:lnTo>
                    <a:pt x="11216640" y="0"/>
                  </a:lnTo>
                  <a:lnTo>
                    <a:pt x="11216640" y="4974336"/>
                  </a:lnTo>
                  <a:lnTo>
                    <a:pt x="0" y="4974336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11250422" cy="5008118"/>
            </a:xfrm>
            <a:custGeom>
              <a:avLst/>
              <a:gdLst/>
              <a:ahLst/>
              <a:cxnLst/>
              <a:rect l="l" t="t" r="r" b="b"/>
              <a:pathLst>
                <a:path w="11250422" h="500811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991227"/>
                  </a:lnTo>
                  <a:cubicBezTo>
                    <a:pt x="11250422" y="5000625"/>
                    <a:pt x="11242802" y="5008118"/>
                    <a:pt x="11233531" y="5008118"/>
                  </a:cubicBezTo>
                  <a:lnTo>
                    <a:pt x="16891" y="5008118"/>
                  </a:lnTo>
                  <a:cubicBezTo>
                    <a:pt x="7493" y="5008118"/>
                    <a:pt x="0" y="5000498"/>
                    <a:pt x="0" y="4991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991227"/>
                  </a:lnTo>
                  <a:lnTo>
                    <a:pt x="16891" y="4991227"/>
                  </a:lnTo>
                  <a:lnTo>
                    <a:pt x="16891" y="4974336"/>
                  </a:lnTo>
                  <a:lnTo>
                    <a:pt x="11233531" y="4974336"/>
                  </a:lnTo>
                  <a:lnTo>
                    <a:pt x="11233531" y="4991227"/>
                  </a:lnTo>
                  <a:lnTo>
                    <a:pt x="11216640" y="49912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314183" y="1925831"/>
            <a:ext cx="8437883" cy="135131"/>
            <a:chOff x="0" y="0"/>
            <a:chExt cx="11250511" cy="180175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11216640" cy="146304"/>
            </a:xfrm>
            <a:custGeom>
              <a:avLst/>
              <a:gdLst/>
              <a:ahLst/>
              <a:cxnLst/>
              <a:rect l="l" t="t" r="r" b="b"/>
              <a:pathLst>
                <a:path w="11216640" h="146304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11250422" cy="180088"/>
            </a:xfrm>
            <a:custGeom>
              <a:avLst/>
              <a:gdLst/>
              <a:ahLst/>
              <a:cxnLst/>
              <a:rect l="l" t="t" r="r" b="b"/>
              <a:pathLst>
                <a:path w="11250422" h="18008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601200" y="2267712"/>
            <a:ext cx="694944" cy="694944"/>
            <a:chOff x="0" y="0"/>
            <a:chExt cx="926592" cy="926592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10424160" y="2487168"/>
            <a:ext cx="7040880" cy="585216"/>
            <a:chOff x="0" y="0"/>
            <a:chExt cx="9387840" cy="78028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387840" cy="780288"/>
            </a:xfrm>
            <a:custGeom>
              <a:avLst/>
              <a:gdLst/>
              <a:ahLst/>
              <a:cxnLst/>
              <a:rect l="l" t="t" r="r" b="b"/>
              <a:pathLst>
                <a:path w="9387840" h="780288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429" b="-18442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Personalized Fatigue-Risk Baselines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601200" y="3218688"/>
            <a:ext cx="7863840" cy="1554480"/>
            <a:chOff x="0" y="0"/>
            <a:chExt cx="10485120" cy="2072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485120" cy="2072640"/>
            </a:xfrm>
            <a:custGeom>
              <a:avLst/>
              <a:gdLst/>
              <a:ahLst/>
              <a:cxnLst/>
              <a:rect l="l" t="t" r="r" b="b"/>
              <a:pathLst>
                <a:path w="10485120" h="2072640">
                  <a:moveTo>
                    <a:pt x="0" y="0"/>
                  </a:moveTo>
                  <a:lnTo>
                    <a:pt x="10485120" y="0"/>
                  </a:lnTo>
                  <a:lnTo>
                    <a:pt x="10485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71" b="-4857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0485120" cy="2110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athlete's 'normal' rotation profile varies. Adaptive calibration will auto-adjust Red Zone thresholds based on individual biomechanics, sport type, and real-time fatigue levels detected from gait pattern degradation.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594847" y="4894831"/>
            <a:ext cx="2512057" cy="524761"/>
            <a:chOff x="0" y="0"/>
            <a:chExt cx="3349409" cy="699681"/>
          </a:xfrm>
        </p:grpSpPr>
        <p:sp>
          <p:nvSpPr>
            <p:cNvPr id="58" name="Freeform 58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9601200" y="4901184"/>
            <a:ext cx="2499360" cy="512064"/>
            <a:chOff x="0" y="0"/>
            <a:chExt cx="3332480" cy="6827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Adaptive thresholds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222223" y="4894831"/>
            <a:ext cx="2512057" cy="524761"/>
            <a:chOff x="0" y="0"/>
            <a:chExt cx="3349409" cy="699681"/>
          </a:xfrm>
        </p:grpSpPr>
        <p:sp>
          <p:nvSpPr>
            <p:cNvPr id="64" name="Freeform 64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228576" y="4901184"/>
            <a:ext cx="2499360" cy="512064"/>
            <a:chOff x="0" y="0"/>
            <a:chExt cx="3332480" cy="68275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Fatigue modelling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849599" y="4894831"/>
            <a:ext cx="2512057" cy="524761"/>
            <a:chOff x="0" y="0"/>
            <a:chExt cx="3349409" cy="699681"/>
          </a:xfrm>
        </p:grpSpPr>
        <p:sp>
          <p:nvSpPr>
            <p:cNvPr id="70" name="Freeform 70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4855952" y="4901184"/>
            <a:ext cx="2499360" cy="512064"/>
            <a:chOff x="0" y="0"/>
            <a:chExt cx="3332480" cy="68275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Sport-specific profiles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35943" y="5949191"/>
            <a:ext cx="8437883" cy="3756155"/>
            <a:chOff x="0" y="0"/>
            <a:chExt cx="11250511" cy="5008207"/>
          </a:xfrm>
        </p:grpSpPr>
        <p:sp>
          <p:nvSpPr>
            <p:cNvPr id="76" name="Freeform 76"/>
            <p:cNvSpPr/>
            <p:nvPr/>
          </p:nvSpPr>
          <p:spPr>
            <a:xfrm>
              <a:off x="16891" y="16891"/>
              <a:ext cx="11216640" cy="4974336"/>
            </a:xfrm>
            <a:custGeom>
              <a:avLst/>
              <a:gdLst/>
              <a:ahLst/>
              <a:cxnLst/>
              <a:rect l="l" t="t" r="r" b="b"/>
              <a:pathLst>
                <a:path w="11216640" h="4974336">
                  <a:moveTo>
                    <a:pt x="0" y="0"/>
                  </a:moveTo>
                  <a:lnTo>
                    <a:pt x="11216640" y="0"/>
                  </a:lnTo>
                  <a:lnTo>
                    <a:pt x="11216640" y="4974336"/>
                  </a:lnTo>
                  <a:lnTo>
                    <a:pt x="0" y="4974336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0"/>
              <a:ext cx="11250422" cy="5008118"/>
            </a:xfrm>
            <a:custGeom>
              <a:avLst/>
              <a:gdLst/>
              <a:ahLst/>
              <a:cxnLst/>
              <a:rect l="l" t="t" r="r" b="b"/>
              <a:pathLst>
                <a:path w="11250422" h="500811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991227"/>
                  </a:lnTo>
                  <a:cubicBezTo>
                    <a:pt x="11250422" y="5000625"/>
                    <a:pt x="11242802" y="5008118"/>
                    <a:pt x="11233531" y="5008118"/>
                  </a:cubicBezTo>
                  <a:lnTo>
                    <a:pt x="16891" y="5008118"/>
                  </a:lnTo>
                  <a:cubicBezTo>
                    <a:pt x="7493" y="5008118"/>
                    <a:pt x="0" y="5000498"/>
                    <a:pt x="0" y="4991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991227"/>
                  </a:lnTo>
                  <a:lnTo>
                    <a:pt x="16891" y="4991227"/>
                  </a:lnTo>
                  <a:lnTo>
                    <a:pt x="16891" y="4974336"/>
                  </a:lnTo>
                  <a:lnTo>
                    <a:pt x="11233531" y="4974336"/>
                  </a:lnTo>
                  <a:lnTo>
                    <a:pt x="11233531" y="4991227"/>
                  </a:lnTo>
                  <a:lnTo>
                    <a:pt x="11216640" y="49912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535943" y="5949191"/>
            <a:ext cx="8437883" cy="135131"/>
            <a:chOff x="0" y="0"/>
            <a:chExt cx="11250511" cy="180175"/>
          </a:xfrm>
        </p:grpSpPr>
        <p:sp>
          <p:nvSpPr>
            <p:cNvPr id="79" name="Freeform 79"/>
            <p:cNvSpPr/>
            <p:nvPr/>
          </p:nvSpPr>
          <p:spPr>
            <a:xfrm>
              <a:off x="16891" y="16891"/>
              <a:ext cx="11216640" cy="146304"/>
            </a:xfrm>
            <a:custGeom>
              <a:avLst/>
              <a:gdLst/>
              <a:ahLst/>
              <a:cxnLst/>
              <a:rect l="l" t="t" r="r" b="b"/>
              <a:pathLst>
                <a:path w="11216640" h="146304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id="80" name="Freeform 80"/>
            <p:cNvSpPr/>
            <p:nvPr/>
          </p:nvSpPr>
          <p:spPr>
            <a:xfrm>
              <a:off x="0" y="0"/>
              <a:ext cx="11250422" cy="180088"/>
            </a:xfrm>
            <a:custGeom>
              <a:avLst/>
              <a:gdLst/>
              <a:ahLst/>
              <a:cxnLst/>
              <a:rect l="l" t="t" r="r" b="b"/>
              <a:pathLst>
                <a:path w="11250422" h="18008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822960" y="6291072"/>
            <a:ext cx="694944" cy="694944"/>
            <a:chOff x="0" y="0"/>
            <a:chExt cx="926592" cy="926592"/>
          </a:xfrm>
        </p:grpSpPr>
        <p:sp>
          <p:nvSpPr>
            <p:cNvPr id="82" name="Freeform 82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1645920" y="6510528"/>
            <a:ext cx="7040880" cy="585216"/>
            <a:chOff x="0" y="0"/>
            <a:chExt cx="9387840" cy="78028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387840" cy="780288"/>
            </a:xfrm>
            <a:custGeom>
              <a:avLst/>
              <a:gdLst/>
              <a:ahLst/>
              <a:cxnLst/>
              <a:rect l="l" t="t" r="r" b="b"/>
              <a:pathLst>
                <a:path w="9387840" h="780288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429" b="-184429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Miniaturisation &amp; Wireless Charging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22960" y="7242048"/>
            <a:ext cx="7863840" cy="1554480"/>
            <a:chOff x="0" y="0"/>
            <a:chExt cx="10485120" cy="20726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485120" cy="2072640"/>
            </a:xfrm>
            <a:custGeom>
              <a:avLst/>
              <a:gdLst/>
              <a:ahLst/>
              <a:cxnLst/>
              <a:rect l="l" t="t" r="r" b="b"/>
              <a:pathLst>
                <a:path w="10485120" h="2072640">
                  <a:moveTo>
                    <a:pt x="0" y="0"/>
                  </a:moveTo>
                  <a:lnTo>
                    <a:pt x="10485120" y="0"/>
                  </a:lnTo>
                  <a:lnTo>
                    <a:pt x="10485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71" b="-4857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10485120" cy="2110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Replacing current components with miniaturized alternatives and integrating a wireless charging coil will reduce device weight by 40%+. Form factor will shrink to a discreet sensor patch worn beneath athletic gear.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16607" y="8918191"/>
            <a:ext cx="2512057" cy="524761"/>
            <a:chOff x="0" y="0"/>
            <a:chExt cx="3349409" cy="699681"/>
          </a:xfrm>
        </p:grpSpPr>
        <p:sp>
          <p:nvSpPr>
            <p:cNvPr id="90" name="Freeform 90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366F1">
                <a:alpha val="8627"/>
              </a:srgbClr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822960" y="8924544"/>
            <a:ext cx="2499360" cy="512064"/>
            <a:chOff x="0" y="0"/>
            <a:chExt cx="3332480" cy="68275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miniaturization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3443983" y="8918191"/>
            <a:ext cx="2512057" cy="524761"/>
            <a:chOff x="0" y="0"/>
            <a:chExt cx="3349409" cy="699681"/>
          </a:xfrm>
        </p:grpSpPr>
        <p:sp>
          <p:nvSpPr>
            <p:cNvPr id="96" name="Freeform 96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366F1">
                <a:alpha val="8627"/>
              </a:srgbClr>
            </a:solidFill>
          </p:spPr>
        </p:sp>
        <p:sp>
          <p:nvSpPr>
            <p:cNvPr id="97" name="Freeform 97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3450336" y="8924544"/>
            <a:ext cx="2499360" cy="512064"/>
            <a:chOff x="0" y="0"/>
            <a:chExt cx="3332480" cy="68275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wireless charging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071359" y="8918191"/>
            <a:ext cx="2512057" cy="524761"/>
            <a:chOff x="0" y="0"/>
            <a:chExt cx="3349409" cy="699681"/>
          </a:xfrm>
        </p:grpSpPr>
        <p:sp>
          <p:nvSpPr>
            <p:cNvPr id="102" name="Freeform 102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366F1">
                <a:alpha val="8627"/>
              </a:srgbClr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6077712" y="8924544"/>
            <a:ext cx="2499360" cy="512064"/>
            <a:chOff x="0" y="0"/>
            <a:chExt cx="3332480" cy="68275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636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 weight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314183" y="5949191"/>
            <a:ext cx="8437883" cy="3756155"/>
            <a:chOff x="0" y="0"/>
            <a:chExt cx="11250511" cy="5008207"/>
          </a:xfrm>
        </p:grpSpPr>
        <p:sp>
          <p:nvSpPr>
            <p:cNvPr id="108" name="Freeform 108"/>
            <p:cNvSpPr/>
            <p:nvPr/>
          </p:nvSpPr>
          <p:spPr>
            <a:xfrm>
              <a:off x="16891" y="16891"/>
              <a:ext cx="11216640" cy="4974336"/>
            </a:xfrm>
            <a:custGeom>
              <a:avLst/>
              <a:gdLst/>
              <a:ahLst/>
              <a:cxnLst/>
              <a:rect l="l" t="t" r="r" b="b"/>
              <a:pathLst>
                <a:path w="11216640" h="4974336">
                  <a:moveTo>
                    <a:pt x="0" y="0"/>
                  </a:moveTo>
                  <a:lnTo>
                    <a:pt x="11216640" y="0"/>
                  </a:lnTo>
                  <a:lnTo>
                    <a:pt x="11216640" y="4974336"/>
                  </a:lnTo>
                  <a:lnTo>
                    <a:pt x="0" y="4974336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109" name="Freeform 109"/>
            <p:cNvSpPr/>
            <p:nvPr/>
          </p:nvSpPr>
          <p:spPr>
            <a:xfrm>
              <a:off x="0" y="0"/>
              <a:ext cx="11250422" cy="5008118"/>
            </a:xfrm>
            <a:custGeom>
              <a:avLst/>
              <a:gdLst/>
              <a:ahLst/>
              <a:cxnLst/>
              <a:rect l="l" t="t" r="r" b="b"/>
              <a:pathLst>
                <a:path w="11250422" h="500811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991227"/>
                  </a:lnTo>
                  <a:cubicBezTo>
                    <a:pt x="11250422" y="5000625"/>
                    <a:pt x="11242802" y="5008118"/>
                    <a:pt x="11233531" y="5008118"/>
                  </a:cubicBezTo>
                  <a:lnTo>
                    <a:pt x="16891" y="5008118"/>
                  </a:lnTo>
                  <a:cubicBezTo>
                    <a:pt x="7493" y="5008118"/>
                    <a:pt x="0" y="5000498"/>
                    <a:pt x="0" y="4991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991227"/>
                  </a:lnTo>
                  <a:lnTo>
                    <a:pt x="16891" y="4991227"/>
                  </a:lnTo>
                  <a:lnTo>
                    <a:pt x="16891" y="4974336"/>
                  </a:lnTo>
                  <a:lnTo>
                    <a:pt x="11233531" y="4974336"/>
                  </a:lnTo>
                  <a:lnTo>
                    <a:pt x="11233531" y="4991227"/>
                  </a:lnTo>
                  <a:lnTo>
                    <a:pt x="11216640" y="4991227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10" name="Group 110"/>
          <p:cNvGrpSpPr/>
          <p:nvPr/>
        </p:nvGrpSpPr>
        <p:grpSpPr>
          <a:xfrm>
            <a:off x="9314183" y="5949191"/>
            <a:ext cx="8437883" cy="135131"/>
            <a:chOff x="0" y="0"/>
            <a:chExt cx="11250511" cy="180175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11216640" cy="146304"/>
            </a:xfrm>
            <a:custGeom>
              <a:avLst/>
              <a:gdLst/>
              <a:ahLst/>
              <a:cxnLst/>
              <a:rect l="l" t="t" r="r" b="b"/>
              <a:pathLst>
                <a:path w="11216640" h="146304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11250422" cy="180088"/>
            </a:xfrm>
            <a:custGeom>
              <a:avLst/>
              <a:gdLst/>
              <a:ahLst/>
              <a:cxnLst/>
              <a:rect l="l" t="t" r="r" b="b"/>
              <a:pathLst>
                <a:path w="11250422" h="18008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9601200" y="6291072"/>
            <a:ext cx="694944" cy="694944"/>
            <a:chOff x="0" y="0"/>
            <a:chExt cx="926592" cy="926592"/>
          </a:xfrm>
        </p:grpSpPr>
        <p:sp>
          <p:nvSpPr>
            <p:cNvPr id="114" name="Freeform 114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15" name="Group 115"/>
          <p:cNvGrpSpPr/>
          <p:nvPr/>
        </p:nvGrpSpPr>
        <p:grpSpPr>
          <a:xfrm>
            <a:off x="10424160" y="6510528"/>
            <a:ext cx="7040880" cy="585216"/>
            <a:chOff x="0" y="0"/>
            <a:chExt cx="9387840" cy="780288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9387840" cy="780288"/>
            </a:xfrm>
            <a:custGeom>
              <a:avLst/>
              <a:gdLst/>
              <a:ahLst/>
              <a:cxnLst/>
              <a:rect l="l" t="t" r="r" b="b"/>
              <a:pathLst>
                <a:path w="9387840" h="780288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429" b="-184429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Coach &amp; Doctor Dashboard App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601200" y="7242048"/>
            <a:ext cx="7863840" cy="1554480"/>
            <a:chOff x="0" y="0"/>
            <a:chExt cx="10485120" cy="207264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0485120" cy="2072640"/>
            </a:xfrm>
            <a:custGeom>
              <a:avLst/>
              <a:gdLst/>
              <a:ahLst/>
              <a:cxnLst/>
              <a:rect l="l" t="t" r="r" b="b"/>
              <a:pathLst>
                <a:path w="10485120" h="2072640">
                  <a:moveTo>
                    <a:pt x="0" y="0"/>
                  </a:moveTo>
                  <a:lnTo>
                    <a:pt x="10485120" y="0"/>
                  </a:lnTo>
                  <a:lnTo>
                    <a:pt x="10485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71" b="-48571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10485120" cy="2110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cross-platform mobile/web app providing coaches and physiotherapists with real-time biomechanical dashboards, session reports, injury risk heatmaps, and long-term trend analysis for entire squads.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94847" y="8918191"/>
            <a:ext cx="2512057" cy="524761"/>
            <a:chOff x="0" y="0"/>
            <a:chExt cx="3349409" cy="699681"/>
          </a:xfrm>
        </p:grpSpPr>
        <p:sp>
          <p:nvSpPr>
            <p:cNvPr id="122" name="Freeform 122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C2626">
                <a:alpha val="8627"/>
              </a:srgbClr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9601200" y="8924544"/>
            <a:ext cx="2499360" cy="512064"/>
            <a:chOff x="0" y="0"/>
            <a:chExt cx="3332480" cy="682752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DC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2222223" y="8918191"/>
            <a:ext cx="2512057" cy="524761"/>
            <a:chOff x="0" y="0"/>
            <a:chExt cx="3349409" cy="699681"/>
          </a:xfrm>
        </p:grpSpPr>
        <p:sp>
          <p:nvSpPr>
            <p:cNvPr id="128" name="Freeform 128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C2626">
                <a:alpha val="8627"/>
              </a:srgbClr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12228576" y="8924544"/>
            <a:ext cx="2499360" cy="512064"/>
            <a:chOff x="0" y="0"/>
            <a:chExt cx="3332480" cy="682752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DC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Squad analytics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4849599" y="8918191"/>
            <a:ext cx="2512057" cy="524761"/>
            <a:chOff x="0" y="0"/>
            <a:chExt cx="3349409" cy="699681"/>
          </a:xfrm>
        </p:grpSpPr>
        <p:sp>
          <p:nvSpPr>
            <p:cNvPr id="134" name="Freeform 134"/>
            <p:cNvSpPr/>
            <p:nvPr/>
          </p:nvSpPr>
          <p:spPr>
            <a:xfrm>
              <a:off x="8509" y="8509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C2626">
                <a:alpha val="8627"/>
              </a:srgbClr>
            </a:solidFill>
          </p:spPr>
        </p:sp>
        <p:sp>
          <p:nvSpPr>
            <p:cNvPr id="135" name="Freeform 135"/>
            <p:cNvSpPr/>
            <p:nvPr/>
          </p:nvSpPr>
          <p:spPr>
            <a:xfrm>
              <a:off x="0" y="0"/>
              <a:ext cx="3349498" cy="699770"/>
            </a:xfrm>
            <a:custGeom>
              <a:avLst/>
              <a:gdLst/>
              <a:ahLst/>
              <a:cxnLst/>
              <a:rect l="l" t="t" r="r" b="b"/>
              <a:pathLst>
                <a:path w="3349498" h="699770">
                  <a:moveTo>
                    <a:pt x="8509" y="0"/>
                  </a:moveTo>
                  <a:lnTo>
                    <a:pt x="3340989" y="0"/>
                  </a:lnTo>
                  <a:cubicBezTo>
                    <a:pt x="3345688" y="0"/>
                    <a:pt x="3349498" y="3810"/>
                    <a:pt x="3349498" y="8509"/>
                  </a:cubicBezTo>
                  <a:lnTo>
                    <a:pt x="3349498" y="691261"/>
                  </a:lnTo>
                  <a:cubicBezTo>
                    <a:pt x="3349498" y="695960"/>
                    <a:pt x="3345688" y="699770"/>
                    <a:pt x="334098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3340989" y="682752"/>
                  </a:lnTo>
                  <a:lnTo>
                    <a:pt x="3340989" y="691261"/>
                  </a:lnTo>
                  <a:lnTo>
                    <a:pt x="3332480" y="691261"/>
                  </a:lnTo>
                  <a:lnTo>
                    <a:pt x="3332480" y="8509"/>
                  </a:lnTo>
                  <a:lnTo>
                    <a:pt x="3340989" y="8509"/>
                  </a:lnTo>
                  <a:lnTo>
                    <a:pt x="334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14855952" y="8924544"/>
            <a:ext cx="2499360" cy="512064"/>
            <a:chOff x="0" y="0"/>
            <a:chExt cx="3332480" cy="682752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3332480" cy="682752"/>
            </a:xfrm>
            <a:custGeom>
              <a:avLst/>
              <a:gdLst/>
              <a:ahLst/>
              <a:cxnLst/>
              <a:rect l="l" t="t" r="r" b="b"/>
              <a:pathLst>
                <a:path w="3332480" h="682752">
                  <a:moveTo>
                    <a:pt x="0" y="0"/>
                  </a:moveTo>
                  <a:lnTo>
                    <a:pt x="3332480" y="0"/>
                  </a:lnTo>
                  <a:lnTo>
                    <a:pt x="333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33324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DC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Injury risk heatmaps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427739" cy="10312403"/>
            <a:chOff x="0" y="0"/>
            <a:chExt cx="570319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536448" cy="13715999"/>
            </a:xfrm>
            <a:custGeom>
              <a:avLst/>
              <a:gdLst/>
              <a:ahLst/>
              <a:cxnLst/>
              <a:rect l="l" t="t" r="r" b="b"/>
              <a:pathLst>
                <a:path w="536448" h="13715999">
                  <a:moveTo>
                    <a:pt x="0" y="0"/>
                  </a:moveTo>
                  <a:lnTo>
                    <a:pt x="536448" y="0"/>
                  </a:lnTo>
                  <a:lnTo>
                    <a:pt x="53644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0230" cy="13749782"/>
            </a:xfrm>
            <a:custGeom>
              <a:avLst/>
              <a:gdLst/>
              <a:ahLst/>
              <a:cxnLst/>
              <a:rect l="l" t="t" r="r" b="b"/>
              <a:pathLst>
                <a:path w="570230" h="13749782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3732890"/>
                  </a:lnTo>
                  <a:cubicBezTo>
                    <a:pt x="570230" y="13742290"/>
                    <a:pt x="562610" y="13749782"/>
                    <a:pt x="55333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553339" y="13716000"/>
                  </a:lnTo>
                  <a:lnTo>
                    <a:pt x="553339" y="13732890"/>
                  </a:lnTo>
                  <a:lnTo>
                    <a:pt x="536448" y="13732890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942303" y="4441031"/>
            <a:ext cx="8403403" cy="139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 b="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THANK</a:t>
            </a:r>
            <a:r>
              <a:rPr lang="en-US" sz="8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</a:t>
            </a:r>
            <a:r>
              <a:rPr lang="en-US" sz="8400" b="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YOU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07264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APPENDIX - Circuit Diagram &amp; Visual representation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8823" y="1541783"/>
            <a:ext cx="16850363" cy="8255003"/>
            <a:chOff x="0" y="0"/>
            <a:chExt cx="22467151" cy="11006671"/>
          </a:xfrm>
        </p:grpSpPr>
        <p:sp>
          <p:nvSpPr>
            <p:cNvPr id="11" name="Freeform 11"/>
            <p:cNvSpPr/>
            <p:nvPr/>
          </p:nvSpPr>
          <p:spPr>
            <a:xfrm>
              <a:off x="16891" y="16891"/>
              <a:ext cx="22433280" cy="10972800"/>
            </a:xfrm>
            <a:custGeom>
              <a:avLst/>
              <a:gdLst/>
              <a:ahLst/>
              <a:cxnLst/>
              <a:rect l="l" t="t" r="r" b="b"/>
              <a:pathLst>
                <a:path w="22433280" h="1097280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22467063" cy="11006582"/>
            </a:xfrm>
            <a:custGeom>
              <a:avLst/>
              <a:gdLst/>
              <a:ahLst/>
              <a:cxnLst/>
              <a:rect l="l" t="t" r="r" b="b"/>
              <a:pathLst>
                <a:path w="22467063" h="11006582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0989691"/>
                  </a:lnTo>
                  <a:cubicBezTo>
                    <a:pt x="22467063" y="10999089"/>
                    <a:pt x="22459443" y="11006582"/>
                    <a:pt x="2245017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22450171" y="10972800"/>
                  </a:lnTo>
                  <a:lnTo>
                    <a:pt x="22450171" y="10989691"/>
                  </a:lnTo>
                  <a:lnTo>
                    <a:pt x="22433280" y="109896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90600" y="1813560"/>
            <a:ext cx="16306800" cy="7711440"/>
            <a:chOff x="0" y="0"/>
            <a:chExt cx="21742400" cy="10281920"/>
          </a:xfrm>
        </p:grpSpPr>
        <p:sp>
          <p:nvSpPr>
            <p:cNvPr id="14" name="Freeform 14"/>
            <p:cNvSpPr/>
            <p:nvPr/>
          </p:nvSpPr>
          <p:spPr>
            <a:xfrm>
              <a:off x="20320" y="20320"/>
              <a:ext cx="21701760" cy="10241280"/>
            </a:xfrm>
            <a:custGeom>
              <a:avLst/>
              <a:gdLst/>
              <a:ahLst/>
              <a:cxnLst/>
              <a:rect l="l" t="t" r="r" b="b"/>
              <a:pathLst>
                <a:path w="21701760" h="10241280">
                  <a:moveTo>
                    <a:pt x="0" y="0"/>
                  </a:moveTo>
                  <a:lnTo>
                    <a:pt x="21701760" y="0"/>
                  </a:lnTo>
                  <a:lnTo>
                    <a:pt x="2170176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1742400" cy="10281920"/>
            </a:xfrm>
            <a:custGeom>
              <a:avLst/>
              <a:gdLst/>
              <a:ahLst/>
              <a:cxnLst/>
              <a:rect l="l" t="t" r="r" b="b"/>
              <a:pathLst>
                <a:path w="21742400" h="10281920">
                  <a:moveTo>
                    <a:pt x="20320" y="0"/>
                  </a:moveTo>
                  <a:lnTo>
                    <a:pt x="21722080" y="0"/>
                  </a:lnTo>
                  <a:cubicBezTo>
                    <a:pt x="21733256" y="0"/>
                    <a:pt x="21742400" y="9144"/>
                    <a:pt x="21742400" y="20320"/>
                  </a:cubicBezTo>
                  <a:lnTo>
                    <a:pt x="21742400" y="10261600"/>
                  </a:lnTo>
                  <a:cubicBezTo>
                    <a:pt x="21742400" y="10272776"/>
                    <a:pt x="21733256" y="10281920"/>
                    <a:pt x="21722080" y="10281920"/>
                  </a:cubicBezTo>
                  <a:lnTo>
                    <a:pt x="20320" y="10281920"/>
                  </a:lnTo>
                  <a:cubicBezTo>
                    <a:pt x="9144" y="10281920"/>
                    <a:pt x="0" y="10272776"/>
                    <a:pt x="0" y="10261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0261600"/>
                  </a:lnTo>
                  <a:lnTo>
                    <a:pt x="20320" y="10261600"/>
                  </a:lnTo>
                  <a:lnTo>
                    <a:pt x="20320" y="10241280"/>
                  </a:lnTo>
                  <a:lnTo>
                    <a:pt x="21722080" y="10241280"/>
                  </a:lnTo>
                  <a:lnTo>
                    <a:pt x="21722080" y="10261600"/>
                  </a:lnTo>
                  <a:lnTo>
                    <a:pt x="21701761" y="10261600"/>
                  </a:lnTo>
                  <a:lnTo>
                    <a:pt x="21701761" y="20320"/>
                  </a:lnTo>
                  <a:lnTo>
                    <a:pt x="21722080" y="20320"/>
                  </a:lnTo>
                  <a:lnTo>
                    <a:pt x="217220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0601" y="1856708"/>
            <a:ext cx="16291560" cy="7680960"/>
            <a:chOff x="0" y="0"/>
            <a:chExt cx="21718689" cy="3674529"/>
          </a:xfrm>
        </p:grpSpPr>
        <p:sp>
          <p:nvSpPr>
            <p:cNvPr id="17" name="Freeform 17"/>
            <p:cNvSpPr/>
            <p:nvPr/>
          </p:nvSpPr>
          <p:spPr>
            <a:xfrm>
              <a:off x="8509" y="8509"/>
              <a:ext cx="21701761" cy="3657600"/>
            </a:xfrm>
            <a:custGeom>
              <a:avLst/>
              <a:gdLst/>
              <a:ahLst/>
              <a:cxnLst/>
              <a:rect l="l" t="t" r="r" b="b"/>
              <a:pathLst>
                <a:path w="21701761" h="3657600">
                  <a:moveTo>
                    <a:pt x="0" y="0"/>
                  </a:moveTo>
                  <a:lnTo>
                    <a:pt x="21701761" y="0"/>
                  </a:lnTo>
                  <a:lnTo>
                    <a:pt x="21701761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21718778" cy="3674618"/>
            </a:xfrm>
            <a:custGeom>
              <a:avLst/>
              <a:gdLst/>
              <a:ahLst/>
              <a:cxnLst/>
              <a:rect l="l" t="t" r="r" b="b"/>
              <a:pathLst>
                <a:path w="21718778" h="3674618">
                  <a:moveTo>
                    <a:pt x="8509" y="0"/>
                  </a:moveTo>
                  <a:lnTo>
                    <a:pt x="21710270" y="0"/>
                  </a:lnTo>
                  <a:cubicBezTo>
                    <a:pt x="21714969" y="0"/>
                    <a:pt x="21718778" y="3810"/>
                    <a:pt x="21718778" y="8509"/>
                  </a:cubicBezTo>
                  <a:lnTo>
                    <a:pt x="21718778" y="3666109"/>
                  </a:lnTo>
                  <a:cubicBezTo>
                    <a:pt x="21718778" y="3670808"/>
                    <a:pt x="21714969" y="3674618"/>
                    <a:pt x="21710270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21710270" y="3657600"/>
                  </a:lnTo>
                  <a:lnTo>
                    <a:pt x="21710270" y="3666109"/>
                  </a:lnTo>
                  <a:lnTo>
                    <a:pt x="21701761" y="3666109"/>
                  </a:lnTo>
                  <a:lnTo>
                    <a:pt x="21701761" y="8509"/>
                  </a:lnTo>
                  <a:lnTo>
                    <a:pt x="21710270" y="8509"/>
                  </a:lnTo>
                  <a:lnTo>
                    <a:pt x="217102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sp>
        <p:nvSpPr>
          <p:cNvPr id="21" name="TextBox 21"/>
          <p:cNvSpPr txBox="1"/>
          <p:nvPr/>
        </p:nvSpPr>
        <p:spPr>
          <a:xfrm rot="1170636">
            <a:off x="1377565" y="6640427"/>
            <a:ext cx="15544800" cy="241315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400"/>
              </a:lnSpc>
            </a:pPr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C38F86-B1F2-8013-E6BC-DE6401599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772" y="1994990"/>
            <a:ext cx="7994589" cy="74045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F4DB2E-8886-B0BA-75E0-B00BA87E9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5851" y="1921043"/>
            <a:ext cx="6652722" cy="7552476"/>
          </a:xfrm>
          <a:prstGeom prst="rect">
            <a:avLst/>
          </a:prstGeom>
        </p:spPr>
      </p:pic>
      <p:grpSp>
        <p:nvGrpSpPr>
          <p:cNvPr id="22" name="Group 14">
            <a:extLst>
              <a:ext uri="{FF2B5EF4-FFF2-40B4-BE49-F238E27FC236}">
                <a16:creationId xmlns:a16="http://schemas.microsoft.com/office/drawing/2014/main" id="{91077B68-AD2D-5D21-E834-CEEC5D3CB41E}"/>
              </a:ext>
            </a:extLst>
          </p:cNvPr>
          <p:cNvGrpSpPr/>
          <p:nvPr/>
        </p:nvGrpSpPr>
        <p:grpSpPr>
          <a:xfrm rot="16200000">
            <a:off x="5588760" y="5591937"/>
            <a:ext cx="8071291" cy="109729"/>
            <a:chOff x="1" y="0"/>
            <a:chExt cx="10761722" cy="146306"/>
          </a:xfrm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D0A6D68-0A19-FAFB-CF4F-3772EF485468}"/>
                </a:ext>
              </a:extLst>
            </p:cNvPr>
            <p:cNvSpPr/>
            <p:nvPr/>
          </p:nvSpPr>
          <p:spPr>
            <a:xfrm>
              <a:off x="377168" y="1"/>
              <a:ext cx="10250158" cy="60959"/>
            </a:xfrm>
            <a:custGeom>
              <a:avLst/>
              <a:gdLst/>
              <a:ahLst/>
              <a:cxnLst/>
              <a:rect l="l" t="t" r="r" b="b"/>
              <a:pathLst>
                <a:path w="11216640" h="146304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0A3D37-A952-F6C9-7CBB-21F6167BA60A}"/>
                </a:ext>
              </a:extLst>
            </p:cNvPr>
            <p:cNvSpPr/>
            <p:nvPr/>
          </p:nvSpPr>
          <p:spPr>
            <a:xfrm>
              <a:off x="1" y="0"/>
              <a:ext cx="10761722" cy="146306"/>
            </a:xfrm>
            <a:custGeom>
              <a:avLst/>
              <a:gdLst/>
              <a:ahLst/>
              <a:cxnLst/>
              <a:rect l="l" t="t" r="r" b="b"/>
              <a:pathLst>
                <a:path w="11250422" h="180088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341120"/>
            </a:xfrm>
            <a:custGeom>
              <a:avLst/>
              <a:gdLst/>
              <a:ahLst/>
              <a:cxnLst/>
              <a:rect l="l" t="t" r="r" b="b"/>
              <a:pathLst>
                <a:path w="24383999" h="1341120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374902"/>
            </a:xfrm>
            <a:custGeom>
              <a:avLst/>
              <a:gdLst/>
              <a:ahLst/>
              <a:cxnLst/>
              <a:rect l="l" t="t" r="r" b="b"/>
              <a:pathLst>
                <a:path w="24417782" h="13749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09728"/>
            <a:ext cx="15544800" cy="768096"/>
            <a:chOff x="0" y="0"/>
            <a:chExt cx="2072640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024128"/>
            </a:xfrm>
            <a:custGeom>
              <a:avLst/>
              <a:gdLst/>
              <a:ahLst/>
              <a:cxnLst/>
              <a:rect l="l" t="t" r="r" b="b"/>
              <a:pathLst>
                <a:path w="20726400" h="1024128">
                  <a:moveTo>
                    <a:pt x="0" y="0"/>
                  </a:moveTo>
                  <a:lnTo>
                    <a:pt x="20726400" y="0"/>
                  </a:lnTo>
                  <a:lnTo>
                    <a:pt x="20726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40" b="-34434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07264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APPENDIX – CAD &amp; References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8823" y="1541783"/>
            <a:ext cx="8346443" cy="8255003"/>
            <a:chOff x="0" y="0"/>
            <a:chExt cx="11128591" cy="11006671"/>
          </a:xfrm>
        </p:grpSpPr>
        <p:sp>
          <p:nvSpPr>
            <p:cNvPr id="11" name="Freeform 11"/>
            <p:cNvSpPr/>
            <p:nvPr/>
          </p:nvSpPr>
          <p:spPr>
            <a:xfrm>
              <a:off x="16891" y="16891"/>
              <a:ext cx="11094720" cy="10972800"/>
            </a:xfrm>
            <a:custGeom>
              <a:avLst/>
              <a:gdLst/>
              <a:ahLst/>
              <a:cxnLst/>
              <a:rect l="l" t="t" r="r" b="b"/>
              <a:pathLst>
                <a:path w="11094720" h="1097280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1128501" cy="11006582"/>
            </a:xfrm>
            <a:custGeom>
              <a:avLst/>
              <a:gdLst/>
              <a:ahLst/>
              <a:cxnLst/>
              <a:rect l="l" t="t" r="r" b="b"/>
              <a:pathLst>
                <a:path w="11128501" h="11006582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989691"/>
                  </a:lnTo>
                  <a:cubicBezTo>
                    <a:pt x="11128501" y="10999089"/>
                    <a:pt x="11120882" y="11006582"/>
                    <a:pt x="1111161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11111611" y="10972800"/>
                  </a:lnTo>
                  <a:lnTo>
                    <a:pt x="11111611" y="10989691"/>
                  </a:lnTo>
                  <a:lnTo>
                    <a:pt x="11094720" y="109896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90600" y="1813560"/>
            <a:ext cx="7802880" cy="7711440"/>
            <a:chOff x="0" y="0"/>
            <a:chExt cx="10403840" cy="10281920"/>
          </a:xfrm>
        </p:grpSpPr>
        <p:sp>
          <p:nvSpPr>
            <p:cNvPr id="14" name="Freeform 14"/>
            <p:cNvSpPr/>
            <p:nvPr/>
          </p:nvSpPr>
          <p:spPr>
            <a:xfrm>
              <a:off x="20320" y="20320"/>
              <a:ext cx="10363200" cy="10241280"/>
            </a:xfrm>
            <a:custGeom>
              <a:avLst/>
              <a:gdLst/>
              <a:ahLst/>
              <a:cxnLst/>
              <a:rect l="l" t="t" r="r" b="b"/>
              <a:pathLst>
                <a:path w="10363200" h="1024128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403840" cy="10281920"/>
            </a:xfrm>
            <a:custGeom>
              <a:avLst/>
              <a:gdLst/>
              <a:ahLst/>
              <a:cxnLst/>
              <a:rect l="l" t="t" r="r" b="b"/>
              <a:pathLst>
                <a:path w="10403840" h="10281920">
                  <a:moveTo>
                    <a:pt x="20320" y="0"/>
                  </a:moveTo>
                  <a:lnTo>
                    <a:pt x="10383520" y="0"/>
                  </a:lnTo>
                  <a:cubicBezTo>
                    <a:pt x="10394696" y="0"/>
                    <a:pt x="10403840" y="9144"/>
                    <a:pt x="10403840" y="20320"/>
                  </a:cubicBezTo>
                  <a:lnTo>
                    <a:pt x="10403840" y="10261600"/>
                  </a:lnTo>
                  <a:cubicBezTo>
                    <a:pt x="10403840" y="10272776"/>
                    <a:pt x="10394696" y="10281920"/>
                    <a:pt x="10383520" y="10281920"/>
                  </a:cubicBezTo>
                  <a:lnTo>
                    <a:pt x="20320" y="10281920"/>
                  </a:lnTo>
                  <a:cubicBezTo>
                    <a:pt x="9144" y="10281920"/>
                    <a:pt x="0" y="10272776"/>
                    <a:pt x="0" y="10261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0261600"/>
                  </a:lnTo>
                  <a:lnTo>
                    <a:pt x="20320" y="10261600"/>
                  </a:lnTo>
                  <a:lnTo>
                    <a:pt x="20320" y="10241280"/>
                  </a:lnTo>
                  <a:lnTo>
                    <a:pt x="10383520" y="10241280"/>
                  </a:lnTo>
                  <a:lnTo>
                    <a:pt x="10383520" y="10261600"/>
                  </a:lnTo>
                  <a:lnTo>
                    <a:pt x="10363200" y="10261600"/>
                  </a:lnTo>
                  <a:lnTo>
                    <a:pt x="10363200" y="20320"/>
                  </a:lnTo>
                  <a:lnTo>
                    <a:pt x="10383520" y="20320"/>
                  </a:lnTo>
                  <a:lnTo>
                    <a:pt x="103835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405623" y="1541783"/>
            <a:ext cx="8346443" cy="8255003"/>
            <a:chOff x="0" y="0"/>
            <a:chExt cx="11128591" cy="11006671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1094720" cy="10972800"/>
            </a:xfrm>
            <a:custGeom>
              <a:avLst/>
              <a:gdLst/>
              <a:ahLst/>
              <a:cxnLst/>
              <a:rect l="l" t="t" r="r" b="b"/>
              <a:pathLst>
                <a:path w="11094720" h="1097280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1128501" cy="11006582"/>
            </a:xfrm>
            <a:custGeom>
              <a:avLst/>
              <a:gdLst/>
              <a:ahLst/>
              <a:cxnLst/>
              <a:rect l="l" t="t" r="r" b="b"/>
              <a:pathLst>
                <a:path w="11128501" h="11006582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989691"/>
                  </a:lnTo>
                  <a:cubicBezTo>
                    <a:pt x="11128501" y="10999089"/>
                    <a:pt x="11120882" y="11006582"/>
                    <a:pt x="1111161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11111611" y="10972800"/>
                  </a:lnTo>
                  <a:lnTo>
                    <a:pt x="11111611" y="10989691"/>
                  </a:lnTo>
                  <a:lnTo>
                    <a:pt x="11094720" y="109896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77400" y="1813560"/>
            <a:ext cx="7802880" cy="7711440"/>
            <a:chOff x="0" y="0"/>
            <a:chExt cx="10403840" cy="10281920"/>
          </a:xfrm>
        </p:grpSpPr>
        <p:sp>
          <p:nvSpPr>
            <p:cNvPr id="20" name="Freeform 20"/>
            <p:cNvSpPr/>
            <p:nvPr/>
          </p:nvSpPr>
          <p:spPr>
            <a:xfrm>
              <a:off x="20320" y="20320"/>
              <a:ext cx="10363200" cy="10241280"/>
            </a:xfrm>
            <a:custGeom>
              <a:avLst/>
              <a:gdLst/>
              <a:ahLst/>
              <a:cxnLst/>
              <a:rect l="l" t="t" r="r" b="b"/>
              <a:pathLst>
                <a:path w="10363200" h="1024128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0403840" cy="10281920"/>
            </a:xfrm>
            <a:custGeom>
              <a:avLst/>
              <a:gdLst/>
              <a:ahLst/>
              <a:cxnLst/>
              <a:rect l="l" t="t" r="r" b="b"/>
              <a:pathLst>
                <a:path w="10403840" h="10281920">
                  <a:moveTo>
                    <a:pt x="20320" y="0"/>
                  </a:moveTo>
                  <a:lnTo>
                    <a:pt x="10383520" y="0"/>
                  </a:lnTo>
                  <a:cubicBezTo>
                    <a:pt x="10394696" y="0"/>
                    <a:pt x="10403840" y="9144"/>
                    <a:pt x="10403840" y="20320"/>
                  </a:cubicBezTo>
                  <a:lnTo>
                    <a:pt x="10403840" y="10261600"/>
                  </a:lnTo>
                  <a:cubicBezTo>
                    <a:pt x="10403840" y="10272776"/>
                    <a:pt x="10394696" y="10281920"/>
                    <a:pt x="10383520" y="10281920"/>
                  </a:cubicBezTo>
                  <a:lnTo>
                    <a:pt x="20320" y="10281920"/>
                  </a:lnTo>
                  <a:cubicBezTo>
                    <a:pt x="9144" y="10281920"/>
                    <a:pt x="0" y="10272776"/>
                    <a:pt x="0" y="10261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0261600"/>
                  </a:lnTo>
                  <a:lnTo>
                    <a:pt x="20320" y="10261600"/>
                  </a:lnTo>
                  <a:lnTo>
                    <a:pt x="20320" y="10241280"/>
                  </a:lnTo>
                  <a:lnTo>
                    <a:pt x="10383520" y="10241280"/>
                  </a:lnTo>
                  <a:lnTo>
                    <a:pt x="10383520" y="10261600"/>
                  </a:lnTo>
                  <a:lnTo>
                    <a:pt x="10363200" y="10261600"/>
                  </a:lnTo>
                  <a:lnTo>
                    <a:pt x="10363200" y="20320"/>
                  </a:lnTo>
                  <a:lnTo>
                    <a:pt x="10383520" y="20320"/>
                  </a:lnTo>
                  <a:lnTo>
                    <a:pt x="103835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7137B0A-98B0-677A-0F34-CD6AE488D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813560"/>
            <a:ext cx="7809174" cy="59207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E50509-00D1-9ACD-F2AD-0D516C11A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779145"/>
            <a:ext cx="3185160" cy="37107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26F4F8-1697-E42D-1528-061414BF5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668" y="7746968"/>
            <a:ext cx="4574572" cy="14893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C10E26B-181D-93D9-0F0E-608CEBC99122}"/>
              </a:ext>
            </a:extLst>
          </p:cNvPr>
          <p:cNvSpPr txBox="1"/>
          <p:nvPr/>
        </p:nvSpPr>
        <p:spPr>
          <a:xfrm>
            <a:off x="9982200" y="1943100"/>
            <a:ext cx="7162800" cy="501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GB" sz="20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7"/>
              </a:rPr>
              <a:t>Mechanism of non contact ACL injuries</a:t>
            </a:r>
            <a:endParaRPr lang="en-GB" sz="2000" dirty="0">
              <a:solidFill>
                <a:srgbClr val="1155CC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i="1" dirty="0">
                <a:solidFill>
                  <a:srgbClr val="1B2A4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PMC · 2022</a:t>
            </a: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8"/>
              </a:rPr>
              <a:t>Tibial internal rotation</a:t>
            </a:r>
            <a:endParaRPr lang="en-GB" sz="2000" dirty="0">
              <a:solidFill>
                <a:srgbClr val="1155CC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i="1" dirty="0">
                <a:solidFill>
                  <a:srgbClr val="1B2A4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PMC · 2024</a:t>
            </a: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9"/>
              </a:rPr>
              <a:t>Relation of </a:t>
            </a:r>
            <a:r>
              <a:rPr lang="en-GB" sz="2000" dirty="0" err="1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9"/>
              </a:rPr>
              <a:t>Kneeflexion</a:t>
            </a:r>
            <a:r>
              <a:rPr lang="en-GB" sz="20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9"/>
              </a:rPr>
              <a:t> angles with ACL injuries</a:t>
            </a:r>
            <a:endParaRPr lang="en-GB" sz="2000" dirty="0">
              <a:solidFill>
                <a:srgbClr val="1155CC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i="1" dirty="0" err="1">
                <a:solidFill>
                  <a:srgbClr val="1B2A4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medRxiv</a:t>
            </a:r>
            <a:r>
              <a:rPr lang="en-US" sz="2000" i="1" dirty="0">
                <a:solidFill>
                  <a:srgbClr val="1B2A4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· 2025</a:t>
            </a: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10"/>
              </a:rPr>
              <a:t>Design and Development of a Real-time Monitoring System for ACL Injury Prevention</a:t>
            </a:r>
            <a:endParaRPr lang="en-GB" sz="2000" dirty="0">
              <a:solidFill>
                <a:srgbClr val="1155CC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i="1" dirty="0">
                <a:solidFill>
                  <a:srgbClr val="1B2A4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ResearchGate · 2024</a:t>
            </a: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20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11"/>
              </a:rPr>
              <a:t>ESP32 programming guide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2093</Words>
  <Application>Microsoft Office PowerPoint</Application>
  <PresentationFormat>Custom</PresentationFormat>
  <Paragraphs>373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 Bold</vt:lpstr>
      <vt:lpstr>Trebuchet MS</vt:lpstr>
      <vt:lpstr>Calibri (MS)</vt:lpstr>
      <vt:lpstr>Calibri (MS) Bold</vt:lpstr>
      <vt:lpstr>Trebuchet MS Bold</vt:lpstr>
      <vt:lpstr>Calibri</vt:lpstr>
      <vt:lpstr>Calibri (MS)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DynamicKneeAnkleSupport.pptx</dc:title>
  <cp:lastModifiedBy>user</cp:lastModifiedBy>
  <cp:revision>7</cp:revision>
  <dcterms:created xsi:type="dcterms:W3CDTF">2006-08-16T00:00:00Z</dcterms:created>
  <dcterms:modified xsi:type="dcterms:W3CDTF">2026-04-11T07:04:01Z</dcterms:modified>
  <dc:identifier>DAHGd5lL3dg</dc:identifier>
</cp:coreProperties>
</file>